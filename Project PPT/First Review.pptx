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8" r:id="rId3"/>
    <p:sldId id="259" r:id="rId4"/>
    <p:sldId id="260" r:id="rId5"/>
    <p:sldId id="263" r:id="rId6"/>
    <p:sldId id="267" r:id="rId7"/>
    <p:sldId id="268" r:id="rId8"/>
    <p:sldId id="269" r:id="rId9"/>
    <p:sldId id="270" r:id="rId10"/>
    <p:sldId id="271" r:id="rId11"/>
  </p:sldIdLst>
  <p:sldSz cx="9144000" cy="5143500" type="screen16x9"/>
  <p:notesSz cx="5143500" cy="9144000"/>
  <p:embeddedFontLst>
    <p:embeddedFont>
      <p:font typeface="Inter"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varScale="1">
        <p:scale>
          <a:sx n="122" d="100"/>
          <a:sy n="122" d="100"/>
        </p:scale>
        <p:origin x="23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35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600" y="2316956"/>
            <a:ext cx="5715000" cy="552450"/>
          </a:xfrm>
          <a:prstGeom prst="rect">
            <a:avLst/>
          </a:prstGeom>
          <a:noFill/>
          <a:ln/>
        </p:spPr>
      </p:sp>
      <p:sp>
        <p:nvSpPr>
          <p:cNvPr id="3" name="Text 1"/>
          <p:cNvSpPr/>
          <p:nvPr/>
        </p:nvSpPr>
        <p:spPr>
          <a:xfrm>
            <a:off x="609600" y="2316956"/>
            <a:ext cx="3605213" cy="552450"/>
          </a:xfrm>
          <a:prstGeom prst="rect">
            <a:avLst/>
          </a:prstGeom>
          <a:noFill/>
          <a:ln/>
        </p:spPr>
        <p:txBody>
          <a:bodyPr wrap="square" lIns="0" tIns="0" rIns="0" bIns="0" rtlCol="0" anchor="ctr"/>
          <a:lstStyle/>
          <a:p>
            <a:pPr marL="0" indent="0" algn="l">
              <a:lnSpc>
                <a:spcPts val="2052"/>
              </a:lnSpc>
              <a:buNone/>
            </a:pPr>
            <a:r>
              <a:rPr lang="en-US" sz="1710" b="1" kern="0" spc="-38">
                <a:solidFill>
                  <a:srgbClr val="00457E">
                    <a:alpha val="99000"/>
                  </a:srgbClr>
                </a:solidFill>
                <a:latin typeface="Inter" pitchFamily="34" charset="0"/>
                <a:ea typeface="Inter" pitchFamily="34" charset="-122"/>
                <a:cs typeface="Inter" pitchFamily="34" charset="-120"/>
              </a:rPr>
              <a:t>AI-Driven Multimodal Lecture Video Analysis and Intelligent Note Generation Platform</a:t>
            </a:r>
            <a:endParaRPr lang="en-US" sz="1710" dirty="0"/>
          </a:p>
        </p:txBody>
      </p:sp>
      <p:sp>
        <p:nvSpPr>
          <p:cNvPr id="4" name="Text 2"/>
          <p:cNvSpPr/>
          <p:nvPr/>
        </p:nvSpPr>
        <p:spPr>
          <a:xfrm>
            <a:off x="3800474" y="1643063"/>
            <a:ext cx="1673399" cy="340518"/>
          </a:xfrm>
          <a:prstGeom prst="rect">
            <a:avLst/>
          </a:prstGeom>
          <a:noFill/>
          <a:ln/>
        </p:spPr>
        <p:txBody>
          <a:bodyPr wrap="square" lIns="0" tIns="0" rIns="0" bIns="0" rtlCol="0" anchor="ctr"/>
          <a:lstStyle/>
          <a:p>
            <a:pPr marL="0" indent="0" algn="ctr">
              <a:lnSpc>
                <a:spcPts val="1197"/>
              </a:lnSpc>
              <a:buNone/>
            </a:pPr>
            <a:r>
              <a:rPr lang="en-US" sz="855" kern="0" spc="103">
                <a:solidFill>
                  <a:srgbClr val="000000">
                    <a:alpha val="99000"/>
                  </a:srgbClr>
                </a:solidFill>
                <a:latin typeface="Inter" pitchFamily="34" charset="0"/>
                <a:ea typeface="Inter" pitchFamily="34" charset="-122"/>
                <a:cs typeface="Inter" pitchFamily="34" charset="-120"/>
              </a:rPr>
              <a:t>PROJECT Phase 1 – First Review </a:t>
            </a:r>
            <a:endParaRPr lang="en-US" sz="855" dirty="0"/>
          </a:p>
        </p:txBody>
      </p:sp>
      <p:pic>
        <p:nvPicPr>
          <p:cNvPr id="5" name="Image 0" descr="preencoded.png"/>
          <p:cNvPicPr>
            <a:picLocks noChangeAspect="1"/>
          </p:cNvPicPr>
          <p:nvPr/>
        </p:nvPicPr>
        <p:blipFill>
          <a:blip r:embed="rId3"/>
          <a:srcRect/>
          <a:stretch/>
        </p:blipFill>
        <p:spPr>
          <a:xfrm>
            <a:off x="2643188" y="247650"/>
            <a:ext cx="3857625" cy="752475"/>
          </a:xfrm>
          <a:prstGeom prst="rect">
            <a:avLst/>
          </a:prstGeom>
        </p:spPr>
      </p:pic>
      <p:sp>
        <p:nvSpPr>
          <p:cNvPr id="6" name="Text 3"/>
          <p:cNvSpPr/>
          <p:nvPr/>
        </p:nvSpPr>
        <p:spPr>
          <a:xfrm>
            <a:off x="5391150" y="2314575"/>
            <a:ext cx="3543300" cy="1666875"/>
          </a:xfrm>
          <a:prstGeom prst="rect">
            <a:avLst/>
          </a:prstGeom>
          <a:noFill/>
          <a:ln/>
        </p:spPr>
        <p:txBody>
          <a:bodyPr wrap="square" lIns="0" tIns="0" rIns="0" bIns="0" rtlCol="0" anchor="ctr"/>
          <a:lstStyle/>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Team Members:</a:t>
            </a:r>
            <a:endParaRPr lang="en-US" sz="1283" dirty="0"/>
          </a:p>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1</a:t>
            </a:r>
            <a:r>
              <a:rPr lang="en-US" sz="1283" b="1" kern="0" spc="-13">
                <a:solidFill>
                  <a:srgbClr val="4682B4">
                    <a:alpha val="99000"/>
                  </a:srgbClr>
                </a:solidFill>
                <a:latin typeface="Inter" pitchFamily="34" charset="0"/>
                <a:ea typeface="Inter" pitchFamily="34" charset="-122"/>
                <a:cs typeface="Inter" pitchFamily="34" charset="-120"/>
              </a:rPr>
              <a:t>. Mohan B  	    -  23UCS102</a:t>
            </a:r>
            <a:endParaRPr lang="en-US" sz="1283" dirty="0"/>
          </a:p>
          <a:p>
            <a:pPr marL="0" indent="0" algn="l">
              <a:lnSpc>
                <a:spcPts val="1795"/>
              </a:lnSpc>
              <a:buNone/>
            </a:pPr>
            <a:r>
              <a:rPr lang="en-US" sz="1283" b="1" kern="0" spc="-13">
                <a:solidFill>
                  <a:srgbClr val="4682B4">
                    <a:alpha val="99000"/>
                  </a:srgbClr>
                </a:solidFill>
                <a:latin typeface="Inter" pitchFamily="34" charset="0"/>
                <a:ea typeface="Inter" pitchFamily="34" charset="-122"/>
                <a:cs typeface="Inter" pitchFamily="34" charset="-120"/>
              </a:rPr>
              <a:t>           </a:t>
            </a:r>
            <a:r>
              <a:rPr lang="en-US" sz="1283" b="1" kern="0" spc="-13" dirty="0">
                <a:solidFill>
                  <a:srgbClr val="4682B4">
                    <a:alpha val="99000"/>
                  </a:srgbClr>
                </a:solidFill>
                <a:latin typeface="Inter" pitchFamily="34" charset="0"/>
                <a:ea typeface="Inter" pitchFamily="34" charset="-122"/>
                <a:cs typeface="Inter" pitchFamily="34" charset="-120"/>
              </a:rPr>
              <a:t>2</a:t>
            </a:r>
            <a:r>
              <a:rPr lang="en-US" sz="1283" b="1" kern="0" spc="-13">
                <a:solidFill>
                  <a:srgbClr val="4682B4">
                    <a:alpha val="99000"/>
                  </a:srgbClr>
                </a:solidFill>
                <a:latin typeface="Inter" pitchFamily="34" charset="0"/>
                <a:ea typeface="Inter" pitchFamily="34" charset="-122"/>
                <a:cs typeface="Inter" pitchFamily="34" charset="-120"/>
              </a:rPr>
              <a:t>. Hemnath S            -  23UCS065</a:t>
            </a:r>
            <a:endParaRPr lang="en-US" sz="1283" dirty="0"/>
          </a:p>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3</a:t>
            </a:r>
            <a:r>
              <a:rPr lang="en-US" sz="1283" b="1" kern="0" spc="-13">
                <a:solidFill>
                  <a:srgbClr val="4682B4">
                    <a:alpha val="99000"/>
                  </a:srgbClr>
                </a:solidFill>
                <a:latin typeface="Inter" pitchFamily="34" charset="0"/>
                <a:ea typeface="Inter" pitchFamily="34" charset="-122"/>
                <a:cs typeface="Inter" pitchFamily="34" charset="-120"/>
              </a:rPr>
              <a:t>. Anas K                   -  23UCS013</a:t>
            </a:r>
            <a:endParaRPr lang="en-US" sz="1283" dirty="0"/>
          </a:p>
        </p:txBody>
      </p:sp>
      <p:sp>
        <p:nvSpPr>
          <p:cNvPr id="7" name="Text 4"/>
          <p:cNvSpPr/>
          <p:nvPr/>
        </p:nvSpPr>
        <p:spPr>
          <a:xfrm>
            <a:off x="609600" y="3200400"/>
            <a:ext cx="2033588" cy="390525"/>
          </a:xfrm>
          <a:prstGeom prst="rect">
            <a:avLst/>
          </a:prstGeom>
          <a:noFill/>
          <a:ln/>
        </p:spPr>
        <p:txBody>
          <a:bodyPr wrap="square" lIns="0" tIns="0" rIns="0" bIns="0" rtlCol="0" anchor="ctr"/>
          <a:lstStyle/>
          <a:p>
            <a:pPr marL="0" indent="0" algn="l">
              <a:lnSpc>
                <a:spcPts val="1453"/>
              </a:lnSpc>
              <a:buNone/>
            </a:pPr>
            <a:r>
              <a:rPr lang="en-US" sz="1069" b="1" kern="0" spc="-11" dirty="0">
                <a:solidFill>
                  <a:srgbClr val="4682B4">
                    <a:alpha val="99000"/>
                  </a:srgbClr>
                </a:solidFill>
                <a:latin typeface="Inter" pitchFamily="34" charset="0"/>
                <a:ea typeface="Inter" pitchFamily="34" charset="-122"/>
                <a:cs typeface="Inter" pitchFamily="34" charset="-120"/>
              </a:rPr>
              <a:t>Guide Name</a:t>
            </a:r>
            <a:r>
              <a:rPr lang="en-US" sz="1069" b="1" kern="0" spc="-11">
                <a:solidFill>
                  <a:srgbClr val="4682B4">
                    <a:alpha val="99000"/>
                  </a:srgbClr>
                </a:solidFill>
                <a:latin typeface="Inter" pitchFamily="34" charset="0"/>
                <a:ea typeface="Inter" pitchFamily="34" charset="-122"/>
                <a:cs typeface="Inter" pitchFamily="34" charset="-120"/>
              </a:rPr>
              <a:t>:  Dr.N.Shanmugam </a:t>
            </a:r>
            <a:endParaRPr lang="en-US" sz="1069" dirty="0"/>
          </a:p>
          <a:p>
            <a:pPr marL="0" indent="0" algn="l">
              <a:lnSpc>
                <a:spcPts val="1453"/>
              </a:lnSpc>
              <a:buNone/>
            </a:pPr>
            <a:r>
              <a:rPr lang="en-US" sz="1069" b="1" kern="0" spc="-11">
                <a:solidFill>
                  <a:srgbClr val="4682B4">
                    <a:alpha val="99000"/>
                  </a:srgbClr>
                </a:solidFill>
                <a:latin typeface="Inter" pitchFamily="34" charset="0"/>
                <a:ea typeface="Inter" pitchFamily="34" charset="-122"/>
                <a:cs typeface="Inter" pitchFamily="34" charset="-120"/>
              </a:rPr>
              <a:t>Associate </a:t>
            </a:r>
            <a:r>
              <a:rPr lang="en-US" sz="1069" b="1" kern="0" spc="-11" dirty="0">
                <a:solidFill>
                  <a:srgbClr val="4682B4">
                    <a:alpha val="99000"/>
                  </a:srgbClr>
                </a:solidFill>
                <a:latin typeface="Inter" pitchFamily="34" charset="0"/>
                <a:ea typeface="Inter" pitchFamily="34" charset="-122"/>
                <a:cs typeface="Inter" pitchFamily="34" charset="-120"/>
              </a:rPr>
              <a:t>Professor</a:t>
            </a:r>
            <a:endParaRPr lang="en-US" sz="1069" dirty="0"/>
          </a:p>
        </p:txBody>
      </p:sp>
      <p:sp>
        <p:nvSpPr>
          <p:cNvPr id="8" name="Text 5"/>
          <p:cNvSpPr/>
          <p:nvPr/>
        </p:nvSpPr>
        <p:spPr>
          <a:xfrm>
            <a:off x="2781300" y="1114425"/>
            <a:ext cx="3576638" cy="152400"/>
          </a:xfrm>
          <a:prstGeom prst="rect">
            <a:avLst/>
          </a:prstGeom>
          <a:noFill/>
          <a:ln/>
        </p:spPr>
        <p:txBody>
          <a:bodyPr wrap="square" lIns="0" tIns="0" rIns="0" bIns="0" rtlCol="0" anchor="ctr"/>
          <a:lstStyle/>
          <a:p>
            <a:pPr marL="0" indent="0" algn="l">
              <a:lnSpc>
                <a:spcPts val="1129"/>
              </a:lnSpc>
              <a:buNone/>
            </a:pPr>
            <a:r>
              <a:rPr lang="en-US" sz="855" b="1" kern="0" spc="51" dirty="0">
                <a:solidFill>
                  <a:srgbClr val="000000">
                    <a:alpha val="99000"/>
                  </a:srgbClr>
                </a:solidFill>
                <a:latin typeface="Inter" pitchFamily="34" charset="0"/>
                <a:ea typeface="Inter" pitchFamily="34" charset="-122"/>
                <a:cs typeface="Inter" pitchFamily="34" charset="-120"/>
              </a:rPr>
              <a:t>DEPARTMENT OF COMPUTER SCIENCE AND ENGINEERING</a:t>
            </a:r>
            <a:endParaRPr lang="en-US" sz="85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1975" y="2252663"/>
            <a:ext cx="1557338" cy="638175"/>
          </a:xfrm>
          <a:prstGeom prst="roundRect">
            <a:avLst>
              <a:gd name="adj" fmla="val 22925"/>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2767013" cy="5143500"/>
          </a:xfrm>
          <a:prstGeom prst="rect">
            <a:avLst/>
          </a:prstGeom>
          <a:solidFill>
            <a:srgbClr val="009AE7">
              <a:alpha val="30000"/>
            </a:srgbClr>
          </a:solidFill>
          <a:ln/>
        </p:spPr>
        <p:txBody>
          <a:bodyPr wrap="square" rtlCol="0" anchor="ctr"/>
          <a:lstStyle/>
          <a:p>
            <a:pPr marL="0" indent="0">
              <a:buNone/>
            </a:pPr>
            <a:endParaRPr lang="en-US" dirty="0"/>
          </a:p>
        </p:txBody>
      </p:sp>
      <p:sp>
        <p:nvSpPr>
          <p:cNvPr id="4" name="Text 2"/>
          <p:cNvSpPr/>
          <p:nvPr/>
        </p:nvSpPr>
        <p:spPr>
          <a:xfrm>
            <a:off x="747713" y="2400300"/>
            <a:ext cx="1866900"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Abstract</a:t>
            </a:r>
            <a:endParaRPr lang="en-US" sz="2138" dirty="0"/>
          </a:p>
        </p:txBody>
      </p:sp>
      <p:sp>
        <p:nvSpPr>
          <p:cNvPr id="5" name="Text 3"/>
          <p:cNvSpPr/>
          <p:nvPr/>
        </p:nvSpPr>
        <p:spPr>
          <a:xfrm>
            <a:off x="3067050" y="719138"/>
            <a:ext cx="5662613" cy="952500"/>
          </a:xfrm>
          <a:prstGeom prst="rect">
            <a:avLst/>
          </a:prstGeom>
          <a:noFill/>
          <a:ln/>
        </p:spPr>
        <p:txBody>
          <a:bodyPr wrap="square" lIns="0" tIns="0" rIns="0" bIns="0" rtlCol="0" anchor="ctr"/>
          <a:lstStyle/>
          <a:p>
            <a:pPr marL="0" indent="0">
              <a:lnSpc>
                <a:spcPts val="1432"/>
              </a:lnSpc>
              <a:buNone/>
            </a:pPr>
            <a:r>
              <a:rPr lang="en-US" sz="1069" kern="0" spc="-5" dirty="0">
                <a:solidFill>
                  <a:srgbClr val="000000">
                    <a:alpha val="99000"/>
                  </a:srgbClr>
                </a:solidFill>
                <a:latin typeface="Inter" pitchFamily="34" charset="0"/>
                <a:ea typeface="Inter" pitchFamily="34" charset="-122"/>
                <a:cs typeface="Inter" pitchFamily="34" charset="-120"/>
              </a:rPr>
              <a:t>Modern lectures involve multiple information sources such as spoken explanations, slides, and handwritten board content. Manually capturing all these simultaneously is difficult and often leads to incomplete and unstructured notes. This project is based on the idea of automatically generating accurate, structured lecture notes by leveraging AI-driven multi-modal processing of audio and visual inputs.</a:t>
            </a:r>
            <a:endParaRPr lang="en-US" sz="1069" dirty="0"/>
          </a:p>
        </p:txBody>
      </p:sp>
      <p:sp>
        <p:nvSpPr>
          <p:cNvPr id="6" name="Text 4"/>
          <p:cNvSpPr/>
          <p:nvPr/>
        </p:nvSpPr>
        <p:spPr>
          <a:xfrm>
            <a:off x="3067050" y="381000"/>
            <a:ext cx="552450"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Our Idea</a:t>
            </a:r>
            <a:endParaRPr lang="en-US" sz="998" dirty="0"/>
          </a:p>
        </p:txBody>
      </p:sp>
      <p:sp>
        <p:nvSpPr>
          <p:cNvPr id="7" name="Text 5"/>
          <p:cNvSpPr/>
          <p:nvPr/>
        </p:nvSpPr>
        <p:spPr>
          <a:xfrm>
            <a:off x="3067050" y="2357438"/>
            <a:ext cx="5662613" cy="762000"/>
          </a:xfrm>
          <a:prstGeom prst="rect">
            <a:avLst/>
          </a:prstGeom>
          <a:noFill/>
          <a:ln/>
        </p:spPr>
        <p:txBody>
          <a:bodyPr wrap="square" lIns="0" tIns="0" rIns="0" bIns="0" rtlCol="0" anchor="ctr"/>
          <a:lstStyle/>
          <a:p>
            <a:pPr marL="0" indent="0">
              <a:lnSpc>
                <a:spcPts val="1432"/>
              </a:lnSpc>
              <a:buNone/>
            </a:pPr>
            <a:r>
              <a:rPr lang="en-US" sz="1069" kern="0" spc="-5" dirty="0">
                <a:solidFill>
                  <a:srgbClr val="000000">
                    <a:alpha val="99000"/>
                  </a:srgbClr>
                </a:solidFill>
                <a:latin typeface="Inter" pitchFamily="34" charset="0"/>
                <a:ea typeface="Inter" pitchFamily="34" charset="-122"/>
                <a:cs typeface="Inter" pitchFamily="34" charset="-120"/>
              </a:rPr>
              <a:t>Current note-taking and lecture transcription systems typically focus on a single modality, such as speech-to-text or slide-based extraction. These fragmented approaches fail to align spoken explanations with visual content and often produce disconnected or incomplete notes, especially in fast-paced or technical lectures.</a:t>
            </a:r>
            <a:endParaRPr lang="en-US" sz="1069" dirty="0"/>
          </a:p>
        </p:txBody>
      </p:sp>
      <p:sp>
        <p:nvSpPr>
          <p:cNvPr id="8" name="Text 6"/>
          <p:cNvSpPr/>
          <p:nvPr/>
        </p:nvSpPr>
        <p:spPr>
          <a:xfrm>
            <a:off x="3067050" y="1924050"/>
            <a:ext cx="1176338"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Existing Solutions</a:t>
            </a:r>
            <a:endParaRPr lang="en-US" sz="998" dirty="0"/>
          </a:p>
        </p:txBody>
      </p:sp>
      <p:sp>
        <p:nvSpPr>
          <p:cNvPr id="9" name="Text 7"/>
          <p:cNvSpPr/>
          <p:nvPr/>
        </p:nvSpPr>
        <p:spPr>
          <a:xfrm>
            <a:off x="3067050" y="3709988"/>
            <a:ext cx="5662613" cy="952500"/>
          </a:xfrm>
          <a:prstGeom prst="rect">
            <a:avLst/>
          </a:prstGeom>
          <a:noFill/>
          <a:ln/>
        </p:spPr>
        <p:txBody>
          <a:bodyPr wrap="square" lIns="0" tIns="0" rIns="0" bIns="0" rtlCol="0" anchor="ctr"/>
          <a:lstStyle/>
          <a:p>
            <a:pPr marL="0" indent="0">
              <a:lnSpc>
                <a:spcPts val="1432"/>
              </a:lnSpc>
              <a:buNone/>
            </a:pPr>
            <a:r>
              <a:rPr lang="en-US" sz="1069" kern="0" spc="-5" dirty="0">
                <a:solidFill>
                  <a:srgbClr val="000000">
                    <a:alpha val="99000"/>
                  </a:srgbClr>
                </a:solidFill>
                <a:latin typeface="Inter" pitchFamily="34" charset="0"/>
                <a:ea typeface="Inter" pitchFamily="34" charset="-122"/>
                <a:cs typeface="Inter" pitchFamily="34" charset="-120"/>
              </a:rPr>
              <a:t>The proposed AI-Powered Multi-Modal Lecture Note Generator integrates Automatic Speech Recognition, Optical Character Recognition, Computer Vision, and Natural Language Processing into a unified system. By temporally aligning audio and visual data and applying intelligent summarization, the system generates coherent, structured, and searchable lecture notes in real time.</a:t>
            </a:r>
            <a:endParaRPr lang="en-US" sz="1069" dirty="0"/>
          </a:p>
        </p:txBody>
      </p:sp>
      <p:sp>
        <p:nvSpPr>
          <p:cNvPr id="10" name="Text 8"/>
          <p:cNvSpPr/>
          <p:nvPr/>
        </p:nvSpPr>
        <p:spPr>
          <a:xfrm>
            <a:off x="3067050" y="3371850"/>
            <a:ext cx="1376363"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Proposed Solution</a:t>
            </a:r>
            <a:endParaRPr lang="en-US" sz="99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732724"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90550" y="2214563"/>
            <a:ext cx="2052781" cy="495300"/>
          </a:xfrm>
          <a:prstGeom prst="rect">
            <a:avLst/>
          </a:prstGeom>
          <a:noFill/>
          <a:ln/>
        </p:spPr>
        <p:txBody>
          <a:bodyPr wrap="square" lIns="0" tIns="0" rIns="0" bIns="0" rtlCol="0" anchor="ctr"/>
          <a:lstStyle/>
          <a:p>
            <a:pPr marL="0" indent="0" algn="l">
              <a:lnSpc>
                <a:spcPts val="1847"/>
              </a:lnSpc>
              <a:buNone/>
            </a:pPr>
            <a:r>
              <a:rPr lang="en-US" sz="1924" b="1" kern="0" spc="-42" dirty="0">
                <a:solidFill>
                  <a:srgbClr val="00457E">
                    <a:alpha val="99000"/>
                  </a:srgbClr>
                </a:solidFill>
                <a:latin typeface="Inter" pitchFamily="34" charset="0"/>
                <a:ea typeface="Inter" pitchFamily="34" charset="-122"/>
                <a:cs typeface="Inter" pitchFamily="34" charset="-120"/>
              </a:rPr>
              <a:t>Drawbacks of Existing Work</a:t>
            </a:r>
            <a:endParaRPr lang="en-US" sz="1924"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Single-Modality Focus   </a:t>
            </a:r>
            <a:r>
              <a:rPr lang="en-US" sz="1140" kern="0" spc="-6" dirty="0">
                <a:solidFill>
                  <a:srgbClr val="000000">
                    <a:alpha val="99000"/>
                  </a:srgbClr>
                </a:solidFill>
                <a:latin typeface="Inter" pitchFamily="34" charset="0"/>
                <a:ea typeface="Inter" pitchFamily="34" charset="-122"/>
                <a:cs typeface="Inter" pitchFamily="34" charset="-120"/>
              </a:rPr>
              <a:t>Most existing systems handle only one input type such as speech, slides, or images, leading to incomplete and disconnected lecture notes.</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Accuracy Issues in Real Environments  </a:t>
            </a:r>
            <a:r>
              <a:rPr lang="en-US" sz="1140" kern="0" spc="-6" dirty="0">
                <a:solidFill>
                  <a:srgbClr val="000000">
                    <a:alpha val="99000"/>
                  </a:srgbClr>
                </a:solidFill>
                <a:latin typeface="Inter" pitchFamily="34" charset="0"/>
                <a:ea typeface="Inter" pitchFamily="34" charset="-122"/>
                <a:cs typeface="Inter" pitchFamily="34" charset="-120"/>
              </a:rPr>
              <a:t>Speech recognition performance drops in noisy classrooms, with diverse accents, fast delivery, and domain-specific terminology, resulting in transcription errors.</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Poor Visual Text Extraction  </a:t>
            </a:r>
            <a:r>
              <a:rPr lang="en-US" sz="1140" kern="0" spc="-6" dirty="0">
                <a:solidFill>
                  <a:srgbClr val="000000">
                    <a:alpha val="99000"/>
                  </a:srgbClr>
                </a:solidFill>
                <a:latin typeface="Inter" pitchFamily="34" charset="0"/>
                <a:ea typeface="Inter" pitchFamily="34" charset="-122"/>
                <a:cs typeface="Inter" pitchFamily="34" charset="-120"/>
              </a:rPr>
              <a:t>OCR struggles with low-quality images, glare, handwritten board content, mixed layouts, and varying lighting conditions, reducing reliability.</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Lack of Temporal Alignment  </a:t>
            </a:r>
            <a:r>
              <a:rPr lang="en-US" sz="1140" kern="0" spc="-6" dirty="0">
                <a:solidFill>
                  <a:srgbClr val="000000">
                    <a:alpha val="99000"/>
                  </a:srgbClr>
                </a:solidFill>
                <a:latin typeface="Inter" pitchFamily="34" charset="0"/>
                <a:ea typeface="Inter" pitchFamily="34" charset="-122"/>
                <a:cs typeface="Inter" pitchFamily="34" charset="-120"/>
              </a:rPr>
              <a:t>Existing solutions fail to correctly align spoken explanations with corresponding slides or board content, causing loss of context and meaning.</a:t>
            </a:r>
            <a:endParaRPr lang="en-US" sz="1140" dirty="0"/>
          </a:p>
        </p:txBody>
      </p:sp>
      <p:sp>
        <p:nvSpPr>
          <p:cNvPr id="5" name="Text 3"/>
          <p:cNvSpPr/>
          <p:nvPr/>
        </p:nvSpPr>
        <p:spPr>
          <a:xfrm>
            <a:off x="590550" y="2938463"/>
            <a:ext cx="1795463" cy="323850"/>
          </a:xfrm>
          <a:prstGeom prst="rect">
            <a:avLst/>
          </a:prstGeom>
          <a:noFill/>
          <a:ln/>
        </p:spPr>
        <p:txBody>
          <a:bodyPr wrap="square" lIns="0" tIns="0" rIns="0" bIns="0" rtlCol="0" anchor="ctr"/>
          <a:lstStyle/>
          <a:p>
            <a:pPr marL="0" indent="0" algn="l">
              <a:lnSpc>
                <a:spcPts val="1197"/>
              </a:lnSpc>
              <a:buNone/>
            </a:pPr>
            <a:r>
              <a:rPr lang="en-US" sz="855" b="1" dirty="0">
                <a:solidFill>
                  <a:srgbClr val="4682B4">
                    <a:alpha val="99000"/>
                  </a:srgbClr>
                </a:solidFill>
                <a:latin typeface="Inter" pitchFamily="34" charset="0"/>
                <a:ea typeface="Inter" pitchFamily="34" charset="-122"/>
                <a:cs typeface="Inter" pitchFamily="34" charset="-120"/>
              </a:rPr>
              <a:t>AI-Powered Multi-Modal Lecture Note Generator</a:t>
            </a:r>
            <a:endParaRPr lang="en-US" sz="855" dirty="0"/>
          </a:p>
        </p:txBody>
      </p:sp>
      <p:sp>
        <p:nvSpPr>
          <p:cNvPr id="6" name="Text 4"/>
          <p:cNvSpPr/>
          <p:nvPr/>
        </p:nvSpPr>
        <p:spPr>
          <a:xfrm>
            <a:off x="0" y="4763"/>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058991"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06127" y="2157413"/>
            <a:ext cx="1546683" cy="552450"/>
          </a:xfrm>
          <a:prstGeom prst="rect">
            <a:avLst/>
          </a:prstGeom>
          <a:noFill/>
          <a:ln/>
        </p:spPr>
        <p:txBody>
          <a:bodyPr wrap="square" lIns="0" tIns="0" rIns="0" bIns="0" rtlCol="0" anchor="ctr"/>
          <a:lstStyle/>
          <a:p>
            <a:pPr marL="0" indent="0" algn="ctr">
              <a:lnSpc>
                <a:spcPts val="2052"/>
              </a:lnSpc>
              <a:buNone/>
            </a:pPr>
            <a:r>
              <a:rPr lang="en-US" sz="2138" b="1" kern="0" spc="-47" dirty="0">
                <a:solidFill>
                  <a:srgbClr val="00457E">
                    <a:alpha val="99000"/>
                  </a:srgbClr>
                </a:solidFill>
                <a:latin typeface="Inter" pitchFamily="34" charset="0"/>
                <a:ea typeface="Inter" pitchFamily="34" charset="-122"/>
                <a:cs typeface="Inter" pitchFamily="34" charset="-120"/>
              </a:rPr>
              <a:t>Proposed Solution</a:t>
            </a:r>
            <a:endParaRPr lang="en-US" sz="2138"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Multi-Modal Data Capture   </a:t>
            </a:r>
            <a:r>
              <a:rPr lang="en-US" sz="1140" kern="0" spc="-6" dirty="0">
                <a:solidFill>
                  <a:srgbClr val="000000">
                    <a:alpha val="99000"/>
                  </a:srgbClr>
                </a:solidFill>
                <a:latin typeface="Inter" pitchFamily="34" charset="0"/>
                <a:ea typeface="Inter" pitchFamily="34" charset="-122"/>
                <a:cs typeface="Inter" pitchFamily="34" charset="-120"/>
              </a:rPr>
              <a:t>The system captures lecture audio and visual content simultaneously, including spoken explanations, slides, and handwritten or printed board content.</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Integrated AI Processing  </a:t>
            </a:r>
            <a:r>
              <a:rPr lang="en-US" sz="1140" kern="0" spc="-6" dirty="0">
                <a:solidFill>
                  <a:srgbClr val="000000">
                    <a:alpha val="99000"/>
                  </a:srgbClr>
                </a:solidFill>
                <a:latin typeface="Inter" pitchFamily="34" charset="0"/>
                <a:ea typeface="Inter" pitchFamily="34" charset="-122"/>
                <a:cs typeface="Inter" pitchFamily="34" charset="-120"/>
              </a:rPr>
              <a:t>Speech recognition performance drops in noisy classrooms, with diverse accents, fast delivery, and domain-specific terminology, resulting in transcription errors.</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Temporal Alignment and Fusion  </a:t>
            </a:r>
            <a:r>
              <a:rPr lang="en-US" sz="1140" kern="0" spc="-6" dirty="0">
                <a:solidFill>
                  <a:srgbClr val="000000">
                    <a:alpha val="99000"/>
                  </a:srgbClr>
                </a:solidFill>
                <a:latin typeface="Inter" pitchFamily="34" charset="0"/>
                <a:ea typeface="Inter" pitchFamily="34" charset="-122"/>
                <a:cs typeface="Inter" pitchFamily="34" charset="-120"/>
              </a:rPr>
              <a:t>Outputs from multiple modalities are synchronized along a unified timeline to preserve context between spoken explanations and visual content.</a:t>
            </a:r>
            <a:endParaRPr lang="en-US" sz="1140" dirty="0"/>
          </a:p>
          <a:p>
            <a:pPr marL="342900" indent="-342900" algn="l">
              <a:lnSpc>
                <a:spcPts val="1528"/>
              </a:lnSpc>
              <a:buSzPct val="100000"/>
              <a:buChar char="•"/>
            </a:pPr>
            <a:r>
              <a:rPr lang="en-US" sz="1140" b="1" kern="0" spc="-6" dirty="0">
                <a:solidFill>
                  <a:srgbClr val="00457E">
                    <a:alpha val="99000"/>
                  </a:srgbClr>
                </a:solidFill>
                <a:latin typeface="Inter" pitchFamily="34" charset="0"/>
                <a:ea typeface="Inter" pitchFamily="34" charset="-122"/>
                <a:cs typeface="Inter" pitchFamily="34" charset="-120"/>
              </a:rPr>
              <a:t>Content Understanding and Structuring  </a:t>
            </a:r>
            <a:r>
              <a:rPr lang="en-US" sz="1140" kern="0" spc="-6" dirty="0">
                <a:solidFill>
                  <a:srgbClr val="000000">
                    <a:alpha val="99000"/>
                  </a:srgbClr>
                </a:solidFill>
                <a:latin typeface="Inter" pitchFamily="34" charset="0"/>
                <a:ea typeface="Inter" pitchFamily="34" charset="-122"/>
                <a:cs typeface="Inter" pitchFamily="34" charset="-120"/>
              </a:rPr>
              <a:t>Natural Language Processing is applied to clean raw transcripts, remove redundancies, and organize information while preserving semantic meaning.</a:t>
            </a:r>
            <a:endParaRPr lang="en-US" sz="1140" dirty="0"/>
          </a:p>
        </p:txBody>
      </p:sp>
      <p:sp>
        <p:nvSpPr>
          <p:cNvPr id="5" name="Text 3"/>
          <p:cNvSpPr/>
          <p:nvPr/>
        </p:nvSpPr>
        <p:spPr>
          <a:xfrm>
            <a:off x="590550" y="2938463"/>
            <a:ext cx="1795463" cy="323850"/>
          </a:xfrm>
          <a:prstGeom prst="rect">
            <a:avLst/>
          </a:prstGeom>
          <a:noFill/>
          <a:ln/>
        </p:spPr>
        <p:txBody>
          <a:bodyPr wrap="square" lIns="0" tIns="0" rIns="0" bIns="0" rtlCol="0" anchor="ctr"/>
          <a:lstStyle/>
          <a:p>
            <a:pPr marL="0" indent="0" algn="l">
              <a:lnSpc>
                <a:spcPts val="1197"/>
              </a:lnSpc>
              <a:buNone/>
            </a:pPr>
            <a:r>
              <a:rPr lang="en-US" sz="855" b="1" dirty="0">
                <a:solidFill>
                  <a:srgbClr val="4682B4">
                    <a:alpha val="99000"/>
                  </a:srgbClr>
                </a:solidFill>
                <a:latin typeface="Inter" pitchFamily="34" charset="0"/>
                <a:ea typeface="Inter" pitchFamily="34" charset="-122"/>
                <a:cs typeface="Inter" pitchFamily="34" charset="-120"/>
              </a:rPr>
              <a:t>AI-Powered Multi-Modal Lecture Note Generator</a:t>
            </a:r>
            <a:endParaRPr lang="en-US" sz="855" dirty="0"/>
          </a:p>
        </p:txBody>
      </p:sp>
      <p:sp>
        <p:nvSpPr>
          <p:cNvPr id="6" name="Text 4"/>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6225" y="985838"/>
          <a:ext cx="8591550" cy="3781425"/>
        </p:xfrm>
        <a:graphic>
          <a:graphicData uri="http://schemas.openxmlformats.org/drawingml/2006/table">
            <a:tbl>
              <a:tblPr/>
              <a:tblGrid>
                <a:gridCol w="502048">
                  <a:extLst>
                    <a:ext uri="{9D8B030D-6E8A-4147-A177-3AD203B41FA5}">
                      <a16:colId xmlns:a16="http://schemas.microsoft.com/office/drawing/2014/main" val="20000"/>
                    </a:ext>
                  </a:extLst>
                </a:gridCol>
                <a:gridCol w="1955402">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gridCol w="2686050">
                  <a:extLst>
                    <a:ext uri="{9D8B030D-6E8A-4147-A177-3AD203B41FA5}">
                      <a16:colId xmlns:a16="http://schemas.microsoft.com/office/drawing/2014/main" val="20004"/>
                    </a:ext>
                  </a:extLst>
                </a:gridCol>
              </a:tblGrid>
              <a:tr h="647700">
                <a:tc>
                  <a:txBody>
                    <a:bodyPr/>
                    <a:lstStyle/>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Sl.</a:t>
                      </a:r>
                      <a:endParaRPr lang="en-US" sz="1200" dirty="0"/>
                    </a:p>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No.</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Sub Domains                                                   </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Papers Count</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Advantages</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marL="0" indent="0" algn="ctr">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Disadvantages</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extLst>
                  <a:ext uri="{0D108BD9-81ED-4DB2-BD59-A6C34878D82A}">
                    <a16:rowId xmlns:a16="http://schemas.microsoft.com/office/drawing/2014/main" val="10000"/>
                  </a:ext>
                </a:extLst>
              </a:tr>
              <a:tr h="523875">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1</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23"/>
                        </a:lnSpc>
                        <a:buNone/>
                      </a:pPr>
                      <a:r>
                        <a:rPr lang="en-US" sz="926" kern="0" spc="-19" dirty="0">
                          <a:solidFill>
                            <a:srgbClr val="000000">
                              <a:alpha val="99000"/>
                            </a:srgbClr>
                          </a:solidFill>
                          <a:latin typeface="Inter" pitchFamily="34" charset="0"/>
                          <a:ea typeface="Inter" pitchFamily="34" charset="-122"/>
                          <a:cs typeface="Inter" pitchFamily="34" charset="-120"/>
                        </a:rPr>
                        <a:t>Automatic Speech Recognition (ASR)</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3</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Slide-based LM adaptation improves ASR accuracy</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Adaptation adds processing complexity and latency</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2</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23"/>
                        </a:lnSpc>
                        <a:buNone/>
                      </a:pPr>
                      <a:r>
                        <a:rPr lang="en-US" sz="926" kern="0" spc="-19" dirty="0">
                          <a:solidFill>
                            <a:srgbClr val="000000">
                              <a:alpha val="99000"/>
                            </a:srgbClr>
                          </a:solidFill>
                          <a:latin typeface="Inter" pitchFamily="34" charset="0"/>
                          <a:ea typeface="Inter" pitchFamily="34" charset="-122"/>
                          <a:cs typeface="Inter" pitchFamily="34" charset="-120"/>
                        </a:rPr>
                        <a:t>Optical Character Recognition (OCR)</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4</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Multi-scale recognition improves accuracy</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More complex and resource-intensive</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3875">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3</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23"/>
                        </a:lnSpc>
                        <a:buNone/>
                      </a:pPr>
                      <a:r>
                        <a:rPr lang="en-US" sz="926" kern="0" spc="-19" dirty="0">
                          <a:solidFill>
                            <a:srgbClr val="000000">
                              <a:alpha val="99000"/>
                            </a:srgbClr>
                          </a:solidFill>
                          <a:latin typeface="Inter" pitchFamily="34" charset="0"/>
                          <a:ea typeface="Inter" pitchFamily="34" charset="-122"/>
                          <a:cs typeface="Inter" pitchFamily="34" charset="-120"/>
                        </a:rPr>
                        <a:t>Computer Vision (CV)</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4</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Details how YOLO models achieve real-time object detection.</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Notes the trade-off between model recall and precision.</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875">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4</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23"/>
                        </a:lnSpc>
                        <a:buNone/>
                      </a:pPr>
                      <a:r>
                        <a:rPr lang="en-US" sz="926" kern="0" spc="-19" dirty="0">
                          <a:solidFill>
                            <a:srgbClr val="000000">
                              <a:alpha val="99000"/>
                            </a:srgbClr>
                          </a:solidFill>
                          <a:latin typeface="Inter" pitchFamily="34" charset="0"/>
                          <a:ea typeface="Inter" pitchFamily="34" charset="-122"/>
                          <a:cs typeface="Inter" pitchFamily="34" charset="-120"/>
                        </a:rPr>
                        <a:t>Natural Language Processing (NLP)</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4</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Explores different machine learning methods for solving NLP problems</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Highlights the challenge of data bias and the lack of model explainability</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3875">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5</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23"/>
                        </a:lnSpc>
                        <a:buNone/>
                      </a:pPr>
                      <a:r>
                        <a:rPr lang="en-US" sz="926" kern="0" spc="-19" dirty="0">
                          <a:solidFill>
                            <a:srgbClr val="000000">
                              <a:alpha val="99000"/>
                            </a:srgbClr>
                          </a:solidFill>
                          <a:latin typeface="Inter" pitchFamily="34" charset="0"/>
                          <a:ea typeface="Inter" pitchFamily="34" charset="-122"/>
                          <a:cs typeface="Inter" pitchFamily="34" charset="-120"/>
                        </a:rPr>
                        <a:t>Multi-Modal Information Fusion</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2</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Improves classification accuracy with multiple data types.</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Limited by a small number of modalities and static data.</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3875">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6</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Temporal Alignment</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60"/>
                        </a:lnSpc>
                        <a:buNone/>
                      </a:pPr>
                      <a:r>
                        <a:rPr lang="en-US" sz="926" kern="0" spc="-9" dirty="0">
                          <a:solidFill>
                            <a:srgbClr val="000000">
                              <a:alpha val="99000"/>
                            </a:srgbClr>
                          </a:solidFill>
                          <a:latin typeface="Inter" pitchFamily="34" charset="0"/>
                          <a:ea typeface="Inter" pitchFamily="34" charset="-122"/>
                          <a:cs typeface="Inter" pitchFamily="34" charset="-120"/>
                        </a:rPr>
                        <a:t>2</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Proposes an efficient way to align video frames.</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marL="0" indent="0" algn="ctr">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The method focuses on coarse, not fine-grained, alignment.</a:t>
                      </a:r>
                      <a:endParaRPr lang="en-US" sz="1200" dirty="0"/>
                    </a:p>
                  </a:txBody>
                  <a:tcP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Text 0"/>
          <p:cNvSpPr/>
          <p:nvPr/>
        </p:nvSpPr>
        <p:spPr>
          <a:xfrm>
            <a:off x="3543300" y="266700"/>
            <a:ext cx="2405063"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Literature Survey</a:t>
            </a:r>
            <a:endParaRPr lang="en-US" sz="21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9575" y="2290763"/>
            <a:ext cx="1381125" cy="561975"/>
          </a:xfrm>
          <a:prstGeom prst="roundRect">
            <a:avLst>
              <a:gd name="adj" fmla="val 26034"/>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433638"/>
            <a:ext cx="22860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Modules</a:t>
            </a:r>
            <a:endParaRPr lang="en-US" sz="1710" dirty="0"/>
          </a:p>
        </p:txBody>
      </p:sp>
      <p:sp>
        <p:nvSpPr>
          <p:cNvPr id="4" name="Shape 2"/>
          <p:cNvSpPr/>
          <p:nvPr/>
        </p:nvSpPr>
        <p:spPr>
          <a:xfrm>
            <a:off x="2405063" y="1495425"/>
            <a:ext cx="3371850" cy="1085850"/>
          </a:xfrm>
          <a:prstGeom prst="rect">
            <a:avLst/>
          </a:prstGeom>
          <a:noFill/>
          <a:ln/>
        </p:spPr>
      </p:sp>
      <p:sp>
        <p:nvSpPr>
          <p:cNvPr id="5" name="Text 3"/>
          <p:cNvSpPr/>
          <p:nvPr/>
        </p:nvSpPr>
        <p:spPr>
          <a:xfrm>
            <a:off x="2405063" y="1495425"/>
            <a:ext cx="337185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Input Processing Module</a:t>
            </a:r>
            <a:endParaRPr lang="en-US" sz="1283" dirty="0"/>
          </a:p>
        </p:txBody>
      </p:sp>
      <p:sp>
        <p:nvSpPr>
          <p:cNvPr id="6" name="Text 4"/>
          <p:cNvSpPr/>
          <p:nvPr/>
        </p:nvSpPr>
        <p:spPr>
          <a:xfrm>
            <a:off x="2405063" y="1800225"/>
            <a:ext cx="3048000"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Captures audio (lectures) and images.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Converts speech to text using ASR.</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Extracts text from handwritten/printed notes using OCR.</a:t>
            </a:r>
            <a:endParaRPr lang="en-US" sz="1069" dirty="0"/>
          </a:p>
        </p:txBody>
      </p:sp>
      <p:sp>
        <p:nvSpPr>
          <p:cNvPr id="7" name="Shape 5"/>
          <p:cNvSpPr/>
          <p:nvPr/>
        </p:nvSpPr>
        <p:spPr>
          <a:xfrm>
            <a:off x="2405063" y="2805113"/>
            <a:ext cx="3033713" cy="1085850"/>
          </a:xfrm>
          <a:prstGeom prst="rect">
            <a:avLst/>
          </a:prstGeom>
          <a:noFill/>
          <a:ln/>
        </p:spPr>
      </p:sp>
      <p:sp>
        <p:nvSpPr>
          <p:cNvPr id="8" name="Text 6"/>
          <p:cNvSpPr/>
          <p:nvPr/>
        </p:nvSpPr>
        <p:spPr>
          <a:xfrm>
            <a:off x="2405063" y="2805113"/>
            <a:ext cx="3033713"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 Fusion &amp; Alignment Module</a:t>
            </a:r>
            <a:endParaRPr lang="en-US" sz="1283" dirty="0"/>
          </a:p>
        </p:txBody>
      </p:sp>
      <p:sp>
        <p:nvSpPr>
          <p:cNvPr id="9" name="Text 7"/>
          <p:cNvSpPr/>
          <p:nvPr/>
        </p:nvSpPr>
        <p:spPr>
          <a:xfrm>
            <a:off x="2405063" y="3109913"/>
            <a:ext cx="3033713"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Integrates ASR, OCR, and CV outputs into a unified timeline.</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Performs temporal alignment of lecture audio with visual notes.</a:t>
            </a:r>
            <a:endParaRPr lang="en-US" sz="1069" dirty="0"/>
          </a:p>
        </p:txBody>
      </p:sp>
      <p:sp>
        <p:nvSpPr>
          <p:cNvPr id="10" name="Shape 8"/>
          <p:cNvSpPr/>
          <p:nvPr/>
        </p:nvSpPr>
        <p:spPr>
          <a:xfrm>
            <a:off x="5943600" y="1447800"/>
            <a:ext cx="2676525" cy="1085850"/>
          </a:xfrm>
          <a:prstGeom prst="rect">
            <a:avLst/>
          </a:prstGeom>
          <a:noFill/>
          <a:ln/>
        </p:spPr>
      </p:sp>
      <p:sp>
        <p:nvSpPr>
          <p:cNvPr id="11" name="Text 9"/>
          <p:cNvSpPr/>
          <p:nvPr/>
        </p:nvSpPr>
        <p:spPr>
          <a:xfrm>
            <a:off x="5943600" y="1447800"/>
            <a:ext cx="2676525"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Content Understanding Module</a:t>
            </a:r>
            <a:endParaRPr lang="en-US" sz="1283" dirty="0"/>
          </a:p>
        </p:txBody>
      </p:sp>
      <p:sp>
        <p:nvSpPr>
          <p:cNvPr id="12" name="Text 10"/>
          <p:cNvSpPr/>
          <p:nvPr/>
        </p:nvSpPr>
        <p:spPr>
          <a:xfrm>
            <a:off x="5943600" y="1752600"/>
            <a:ext cx="2676525" cy="781050"/>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Applies NLP to clean, summarize, and structure raw text.</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Identifies key concepts, topics, and context.</a:t>
            </a:r>
            <a:endParaRPr lang="en-US" sz="1069" dirty="0"/>
          </a:p>
        </p:txBody>
      </p:sp>
      <p:sp>
        <p:nvSpPr>
          <p:cNvPr id="13" name="Shape 11"/>
          <p:cNvSpPr/>
          <p:nvPr/>
        </p:nvSpPr>
        <p:spPr>
          <a:xfrm>
            <a:off x="5943600" y="2805113"/>
            <a:ext cx="2819400" cy="1281113"/>
          </a:xfrm>
          <a:prstGeom prst="rect">
            <a:avLst/>
          </a:prstGeom>
          <a:noFill/>
          <a:ln/>
        </p:spPr>
      </p:sp>
      <p:sp>
        <p:nvSpPr>
          <p:cNvPr id="14" name="Text 12"/>
          <p:cNvSpPr/>
          <p:nvPr/>
        </p:nvSpPr>
        <p:spPr>
          <a:xfrm>
            <a:off x="5943600" y="2805113"/>
            <a:ext cx="281940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4682B4">
                    <a:alpha val="99000"/>
                  </a:srgbClr>
                </a:solidFill>
                <a:latin typeface="Inter" pitchFamily="34" charset="0"/>
                <a:ea typeface="Inter" pitchFamily="34" charset="-122"/>
                <a:cs typeface="Inter" pitchFamily="34" charset="-120"/>
              </a:rPr>
              <a:t>Notes Generation Module</a:t>
            </a:r>
            <a:endParaRPr lang="en-US" sz="1283" dirty="0"/>
          </a:p>
        </p:txBody>
      </p:sp>
      <p:sp>
        <p:nvSpPr>
          <p:cNvPr id="15" name="Text 13"/>
          <p:cNvSpPr/>
          <p:nvPr/>
        </p:nvSpPr>
        <p:spPr>
          <a:xfrm>
            <a:off x="5943600" y="3109913"/>
            <a:ext cx="2819400" cy="976312"/>
          </a:xfrm>
          <a:prstGeom prst="rect">
            <a:avLst/>
          </a:prstGeom>
          <a:noFill/>
          <a:ln/>
        </p:spPr>
        <p:txBody>
          <a:bodyPr wrap="square" lIns="0" tIns="0" rIns="0" bIns="0" rtlCol="0" anchor="ctr"/>
          <a:lstStyle/>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Produces coherent, structured notes.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Highlights key takeaways and important concepts.</a:t>
            </a:r>
            <a:endParaRPr lang="en-US" sz="1069" dirty="0"/>
          </a:p>
          <a:p>
            <a:pPr marL="342900" indent="-342900">
              <a:lnSpc>
                <a:spcPts val="1453"/>
              </a:lnSpc>
              <a:buSzPct val="100000"/>
              <a:buChar char="•"/>
            </a:pPr>
            <a:r>
              <a:rPr lang="en-US" sz="1069" kern="0" spc="-11" dirty="0">
                <a:solidFill>
                  <a:srgbClr val="000000">
                    <a:alpha val="99000"/>
                  </a:srgbClr>
                </a:solidFill>
                <a:latin typeface="Inter" pitchFamily="34" charset="0"/>
                <a:ea typeface="Inter" pitchFamily="34" charset="-122"/>
                <a:cs typeface="Inter" pitchFamily="34" charset="-120"/>
              </a:rPr>
              <a:t>Exports notes in multiple formats (PDF, DOCX, etc.).</a:t>
            </a:r>
            <a:endParaRPr lang="en-US" sz="1069" dirty="0"/>
          </a:p>
        </p:txBody>
      </p:sp>
      <p:sp>
        <p:nvSpPr>
          <p:cNvPr id="16" name="Text 14"/>
          <p:cNvSpPr/>
          <p:nvPr/>
        </p:nvSpPr>
        <p:spPr>
          <a:xfrm>
            <a:off x="4763" y="0"/>
            <a:ext cx="21288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 y="2152650"/>
            <a:ext cx="2209800"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19113" y="2295525"/>
            <a:ext cx="2286000" cy="552450"/>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Architectural</a:t>
            </a:r>
            <a:endParaRPr lang="en-US" sz="1710" dirty="0"/>
          </a:p>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diagram</a:t>
            </a:r>
            <a:endParaRPr lang="en-US" sz="1710" dirty="0"/>
          </a:p>
        </p:txBody>
      </p:sp>
      <p:sp>
        <p:nvSpPr>
          <p:cNvPr id="4" name="Text 2"/>
          <p:cNvSpPr/>
          <p:nvPr/>
        </p:nvSpPr>
        <p:spPr>
          <a:xfrm>
            <a:off x="0" y="0"/>
            <a:ext cx="2495550" cy="5143500"/>
          </a:xfrm>
          <a:prstGeom prst="rect">
            <a:avLst/>
          </a:prstGeom>
          <a:solidFill>
            <a:srgbClr val="009AE7">
              <a:alpha val="30000"/>
            </a:srgbClr>
          </a:solidFill>
          <a:ln/>
        </p:spPr>
        <p:txBody>
          <a:bodyPr wrap="square" rtlCol="0" anchor="ctr"/>
          <a:lstStyle/>
          <a:p>
            <a:pPr marL="0" indent="0">
              <a:buNone/>
            </a:pPr>
            <a:endParaRPr lang="en-US" dirty="0"/>
          </a:p>
        </p:txBody>
      </p:sp>
      <p:pic>
        <p:nvPicPr>
          <p:cNvPr id="5" name="Image 0" descr="preencoded.png"/>
          <p:cNvPicPr>
            <a:picLocks noChangeAspect="1"/>
          </p:cNvPicPr>
          <p:nvPr/>
        </p:nvPicPr>
        <p:blipFill>
          <a:blip r:embed="rId3"/>
          <a:srcRect/>
          <a:stretch/>
        </p:blipFill>
        <p:spPr>
          <a:xfrm>
            <a:off x="2805113" y="981075"/>
            <a:ext cx="5872163" cy="3181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61963" y="442913"/>
            <a:ext cx="2033588" cy="561975"/>
          </a:xfrm>
          <a:prstGeom prst="roundRect">
            <a:avLst>
              <a:gd name="adj" fmla="val 26034"/>
            </a:avLst>
          </a:prstGeom>
          <a:solidFill>
            <a:srgbClr val="FFFFFF"/>
          </a:solidFill>
          <a:ln/>
        </p:spPr>
        <p:txBody>
          <a:bodyPr wrap="square" rtlCol="0" anchor="ctr"/>
          <a:lstStyle/>
          <a:p>
            <a:pPr marL="0" indent="0">
              <a:buNone/>
            </a:pPr>
            <a:endParaRPr lang="en-US" dirty="0"/>
          </a:p>
        </p:txBody>
      </p:sp>
      <p:sp>
        <p:nvSpPr>
          <p:cNvPr id="3" name="Shape 1"/>
          <p:cNvSpPr/>
          <p:nvPr/>
        </p:nvSpPr>
        <p:spPr>
          <a:xfrm>
            <a:off x="2190750" y="2266950"/>
            <a:ext cx="1600200" cy="657225"/>
          </a:xfrm>
          <a:prstGeom prst="rect">
            <a:avLst/>
          </a:prstGeom>
          <a:noFill/>
          <a:ln/>
        </p:spPr>
      </p:sp>
      <p:sp>
        <p:nvSpPr>
          <p:cNvPr id="4" name="Text 2"/>
          <p:cNvSpPr/>
          <p:nvPr/>
        </p:nvSpPr>
        <p:spPr>
          <a:xfrm>
            <a:off x="2190750" y="2266950"/>
            <a:ext cx="1600200" cy="333375"/>
          </a:xfrm>
          <a:prstGeom prst="rect">
            <a:avLst/>
          </a:prstGeom>
          <a:noFill/>
          <a:ln/>
        </p:spPr>
        <p:txBody>
          <a:bodyPr wrap="square" lIns="0" tIns="0" rIns="0" bIns="0" rtlCol="0" anchor="ctr"/>
          <a:lstStyle/>
          <a:p>
            <a:pPr marL="0" indent="0" algn="l">
              <a:lnSpc>
                <a:spcPts val="1241"/>
              </a:lnSpc>
              <a:buNone/>
            </a:pPr>
            <a:r>
              <a:rPr lang="en-US" sz="926" b="1" kern="0" spc="-5" dirty="0">
                <a:solidFill>
                  <a:srgbClr val="4682B4">
                    <a:alpha val="99000"/>
                  </a:srgbClr>
                </a:solidFill>
                <a:latin typeface="Inter" pitchFamily="34" charset="0"/>
                <a:ea typeface="Inter" pitchFamily="34" charset="-122"/>
                <a:cs typeface="Inter" pitchFamily="34" charset="-120"/>
              </a:rPr>
              <a:t>Real-time Collaboration and Highlights</a:t>
            </a:r>
            <a:endParaRPr lang="en-US" sz="926" dirty="0"/>
          </a:p>
        </p:txBody>
      </p:sp>
      <p:pic>
        <p:nvPicPr>
          <p:cNvPr id="5" name="Image 0" descr="preencoded.png"/>
          <p:cNvPicPr>
            <a:picLocks noChangeAspect="1"/>
          </p:cNvPicPr>
          <p:nvPr/>
        </p:nvPicPr>
        <p:blipFill>
          <a:blip r:embed="rId3"/>
          <a:srcRect/>
          <a:stretch/>
        </p:blipFill>
        <p:spPr>
          <a:xfrm>
            <a:off x="2190750" y="2657475"/>
            <a:ext cx="9525" cy="276225"/>
          </a:xfrm>
          <a:prstGeom prst="rect">
            <a:avLst/>
          </a:prstGeom>
        </p:spPr>
      </p:pic>
      <p:sp>
        <p:nvSpPr>
          <p:cNvPr id="6" name="Shape 3"/>
          <p:cNvSpPr/>
          <p:nvPr/>
        </p:nvSpPr>
        <p:spPr>
          <a:xfrm>
            <a:off x="5353050" y="2266950"/>
            <a:ext cx="1600200" cy="657225"/>
          </a:xfrm>
          <a:prstGeom prst="rect">
            <a:avLst/>
          </a:prstGeom>
          <a:noFill/>
          <a:ln/>
        </p:spPr>
      </p:sp>
      <p:sp>
        <p:nvSpPr>
          <p:cNvPr id="7" name="Text 4"/>
          <p:cNvSpPr/>
          <p:nvPr/>
        </p:nvSpPr>
        <p:spPr>
          <a:xfrm>
            <a:off x="5353050" y="2266950"/>
            <a:ext cx="1600200" cy="333375"/>
          </a:xfrm>
          <a:prstGeom prst="rect">
            <a:avLst/>
          </a:prstGeom>
          <a:noFill/>
          <a:ln/>
        </p:spPr>
        <p:txBody>
          <a:bodyPr wrap="square" lIns="0" tIns="0" rIns="0" bIns="0" rtlCol="0" anchor="ctr"/>
          <a:lstStyle/>
          <a:p>
            <a:pPr marL="0" indent="0" algn="l">
              <a:lnSpc>
                <a:spcPts val="1241"/>
              </a:lnSpc>
              <a:buNone/>
            </a:pPr>
            <a:r>
              <a:rPr lang="en-US" sz="926" b="1" kern="0" spc="-5" dirty="0">
                <a:solidFill>
                  <a:srgbClr val="4682B4">
                    <a:alpha val="99000"/>
                  </a:srgbClr>
                </a:solidFill>
                <a:latin typeface="Inter" pitchFamily="34" charset="0"/>
                <a:ea typeface="Inter" pitchFamily="34" charset="-122"/>
                <a:cs typeface="Inter" pitchFamily="34" charset="-120"/>
              </a:rPr>
              <a:t>Integration with Knowledge Graphs</a:t>
            </a:r>
            <a:endParaRPr lang="en-US" sz="926" dirty="0"/>
          </a:p>
        </p:txBody>
      </p:sp>
      <p:pic>
        <p:nvPicPr>
          <p:cNvPr id="8" name="Image 1" descr="preencoded.png"/>
          <p:cNvPicPr>
            <a:picLocks noChangeAspect="1"/>
          </p:cNvPicPr>
          <p:nvPr/>
        </p:nvPicPr>
        <p:blipFill>
          <a:blip r:embed="rId3"/>
          <a:srcRect/>
          <a:stretch/>
        </p:blipFill>
        <p:spPr>
          <a:xfrm>
            <a:off x="5353050" y="2657475"/>
            <a:ext cx="9525" cy="276225"/>
          </a:xfrm>
          <a:prstGeom prst="rect">
            <a:avLst/>
          </a:prstGeom>
        </p:spPr>
      </p:pic>
      <p:sp>
        <p:nvSpPr>
          <p:cNvPr id="9" name="Shape 5"/>
          <p:cNvSpPr/>
          <p:nvPr/>
        </p:nvSpPr>
        <p:spPr>
          <a:xfrm>
            <a:off x="3771900" y="2924175"/>
            <a:ext cx="1600200" cy="657225"/>
          </a:xfrm>
          <a:prstGeom prst="rect">
            <a:avLst/>
          </a:prstGeom>
          <a:noFill/>
          <a:ln/>
        </p:spPr>
      </p:sp>
      <p:pic>
        <p:nvPicPr>
          <p:cNvPr id="10" name="Image 2" descr="preencoded.png"/>
          <p:cNvPicPr>
            <a:picLocks noChangeAspect="1"/>
          </p:cNvPicPr>
          <p:nvPr/>
        </p:nvPicPr>
        <p:blipFill>
          <a:blip r:embed="rId3"/>
          <a:srcRect/>
          <a:stretch/>
        </p:blipFill>
        <p:spPr>
          <a:xfrm>
            <a:off x="3771900" y="2924175"/>
            <a:ext cx="9525" cy="276225"/>
          </a:xfrm>
          <a:prstGeom prst="rect">
            <a:avLst/>
          </a:prstGeom>
        </p:spPr>
      </p:pic>
      <p:sp>
        <p:nvSpPr>
          <p:cNvPr id="11" name="Text 6"/>
          <p:cNvSpPr/>
          <p:nvPr/>
        </p:nvSpPr>
        <p:spPr>
          <a:xfrm>
            <a:off x="3771900" y="3248025"/>
            <a:ext cx="1600200" cy="333375"/>
          </a:xfrm>
          <a:prstGeom prst="rect">
            <a:avLst/>
          </a:prstGeom>
          <a:noFill/>
          <a:ln/>
        </p:spPr>
        <p:txBody>
          <a:bodyPr wrap="square" lIns="0" tIns="0" rIns="0" bIns="0" rtlCol="0" anchor="ctr"/>
          <a:lstStyle/>
          <a:p>
            <a:pPr marL="0" indent="0" algn="l">
              <a:lnSpc>
                <a:spcPts val="1241"/>
              </a:lnSpc>
              <a:buNone/>
            </a:pPr>
            <a:r>
              <a:rPr lang="en-US" sz="926" b="1" kern="0" spc="-5" dirty="0">
                <a:solidFill>
                  <a:srgbClr val="4682B4">
                    <a:alpha val="99000"/>
                  </a:srgbClr>
                </a:solidFill>
                <a:latin typeface="Inter" pitchFamily="34" charset="0"/>
                <a:ea typeface="Inter" pitchFamily="34" charset="-122"/>
                <a:cs typeface="Inter" pitchFamily="34" charset="-120"/>
              </a:rPr>
              <a:t>Sentiment and Emotion Analysis</a:t>
            </a:r>
            <a:endParaRPr lang="en-US" sz="926" dirty="0"/>
          </a:p>
        </p:txBody>
      </p:sp>
      <p:sp>
        <p:nvSpPr>
          <p:cNvPr id="12" name="Shape 7"/>
          <p:cNvSpPr/>
          <p:nvPr/>
        </p:nvSpPr>
        <p:spPr>
          <a:xfrm>
            <a:off x="6934200" y="2924175"/>
            <a:ext cx="1600200" cy="490538"/>
          </a:xfrm>
          <a:prstGeom prst="rect">
            <a:avLst/>
          </a:prstGeom>
          <a:noFill/>
          <a:ln/>
        </p:spPr>
      </p:sp>
      <p:pic>
        <p:nvPicPr>
          <p:cNvPr id="13" name="Image 3" descr="preencoded.png"/>
          <p:cNvPicPr>
            <a:picLocks noChangeAspect="1"/>
          </p:cNvPicPr>
          <p:nvPr/>
        </p:nvPicPr>
        <p:blipFill>
          <a:blip r:embed="rId3"/>
          <a:srcRect/>
          <a:stretch/>
        </p:blipFill>
        <p:spPr>
          <a:xfrm>
            <a:off x="6934200" y="2924175"/>
            <a:ext cx="9525" cy="276225"/>
          </a:xfrm>
          <a:prstGeom prst="rect">
            <a:avLst/>
          </a:prstGeom>
        </p:spPr>
      </p:pic>
      <p:sp>
        <p:nvSpPr>
          <p:cNvPr id="14" name="Text 8"/>
          <p:cNvSpPr/>
          <p:nvPr/>
        </p:nvSpPr>
        <p:spPr>
          <a:xfrm>
            <a:off x="6934200" y="3248025"/>
            <a:ext cx="1600200" cy="166688"/>
          </a:xfrm>
          <a:prstGeom prst="rect">
            <a:avLst/>
          </a:prstGeom>
          <a:noFill/>
          <a:ln/>
        </p:spPr>
        <p:txBody>
          <a:bodyPr wrap="square" lIns="0" tIns="0" rIns="0" bIns="0" rtlCol="0" anchor="ctr"/>
          <a:lstStyle/>
          <a:p>
            <a:pPr marL="0" indent="0" algn="l">
              <a:lnSpc>
                <a:spcPts val="1241"/>
              </a:lnSpc>
              <a:buNone/>
            </a:pPr>
            <a:r>
              <a:rPr lang="en-US" sz="926" b="1" kern="0" spc="-5" dirty="0">
                <a:solidFill>
                  <a:srgbClr val="4682B4">
                    <a:alpha val="99000"/>
                  </a:srgbClr>
                </a:solidFill>
                <a:latin typeface="Inter" pitchFamily="34" charset="0"/>
                <a:ea typeface="Inter" pitchFamily="34" charset="-122"/>
                <a:cs typeface="Inter" pitchFamily="34" charset="-120"/>
              </a:rPr>
              <a:t>Multi-Lingual Support</a:t>
            </a:r>
            <a:endParaRPr lang="en-US" sz="926" dirty="0"/>
          </a:p>
        </p:txBody>
      </p:sp>
      <p:sp>
        <p:nvSpPr>
          <p:cNvPr id="15" name="Shape 9"/>
          <p:cNvSpPr/>
          <p:nvPr/>
        </p:nvSpPr>
        <p:spPr>
          <a:xfrm>
            <a:off x="609600" y="2924175"/>
            <a:ext cx="1600200" cy="657225"/>
          </a:xfrm>
          <a:prstGeom prst="rect">
            <a:avLst/>
          </a:prstGeom>
          <a:noFill/>
          <a:ln/>
        </p:spPr>
      </p:sp>
      <p:pic>
        <p:nvPicPr>
          <p:cNvPr id="16" name="Image 4" descr="preencoded.png"/>
          <p:cNvPicPr>
            <a:picLocks noChangeAspect="1"/>
          </p:cNvPicPr>
          <p:nvPr/>
        </p:nvPicPr>
        <p:blipFill>
          <a:blip r:embed="rId3"/>
          <a:srcRect/>
          <a:stretch/>
        </p:blipFill>
        <p:spPr>
          <a:xfrm>
            <a:off x="609600" y="2924175"/>
            <a:ext cx="9525" cy="276225"/>
          </a:xfrm>
          <a:prstGeom prst="rect">
            <a:avLst/>
          </a:prstGeom>
        </p:spPr>
      </p:pic>
      <p:sp>
        <p:nvSpPr>
          <p:cNvPr id="17" name="Text 10"/>
          <p:cNvSpPr/>
          <p:nvPr/>
        </p:nvSpPr>
        <p:spPr>
          <a:xfrm>
            <a:off x="609600" y="3248025"/>
            <a:ext cx="1600200" cy="333375"/>
          </a:xfrm>
          <a:prstGeom prst="rect">
            <a:avLst/>
          </a:prstGeom>
          <a:noFill/>
          <a:ln/>
        </p:spPr>
        <p:txBody>
          <a:bodyPr wrap="square" lIns="0" tIns="0" rIns="0" bIns="0" rtlCol="0" anchor="ctr"/>
          <a:lstStyle/>
          <a:p>
            <a:pPr marL="0" indent="0" algn="l">
              <a:lnSpc>
                <a:spcPts val="1241"/>
              </a:lnSpc>
              <a:buNone/>
            </a:pPr>
            <a:r>
              <a:rPr lang="en-US" sz="926" b="1" kern="0" spc="-5" dirty="0">
                <a:solidFill>
                  <a:srgbClr val="4682B4">
                    <a:alpha val="99000"/>
                  </a:srgbClr>
                </a:solidFill>
                <a:latin typeface="Inter" pitchFamily="34" charset="0"/>
                <a:ea typeface="Inter" pitchFamily="34" charset="-122"/>
                <a:cs typeface="Inter" pitchFamily="34" charset="-120"/>
              </a:rPr>
              <a:t>Personalized Learning Paths</a:t>
            </a:r>
            <a:endParaRPr lang="en-US" sz="926" dirty="0"/>
          </a:p>
        </p:txBody>
      </p:sp>
      <p:sp>
        <p:nvSpPr>
          <p:cNvPr id="18" name="Text 11"/>
          <p:cNvSpPr/>
          <p:nvPr/>
        </p:nvSpPr>
        <p:spPr>
          <a:xfrm>
            <a:off x="609600" y="609600"/>
            <a:ext cx="792480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457E">
                    <a:alpha val="99000"/>
                  </a:srgbClr>
                </a:solidFill>
                <a:latin typeface="Inter" pitchFamily="34" charset="0"/>
                <a:ea typeface="Inter" pitchFamily="34" charset="-122"/>
                <a:cs typeface="Inter" pitchFamily="34" charset="-120"/>
              </a:rPr>
              <a:t>Future Enhancements</a:t>
            </a:r>
            <a:endParaRPr lang="en-US" sz="1283" dirty="0"/>
          </a:p>
        </p:txBody>
      </p:sp>
      <p:pic>
        <p:nvPicPr>
          <p:cNvPr id="19" name="Image 5" descr="preencoded.png"/>
          <p:cNvPicPr>
            <a:picLocks noChangeAspect="1"/>
          </p:cNvPicPr>
          <p:nvPr/>
        </p:nvPicPr>
        <p:blipFill>
          <a:blip r:embed="rId4"/>
          <a:srcRect/>
          <a:stretch/>
        </p:blipFill>
        <p:spPr>
          <a:xfrm>
            <a:off x="614363" y="2924175"/>
            <a:ext cx="7939087" cy="19050"/>
          </a:xfrm>
          <a:prstGeom prst="rect">
            <a:avLst/>
          </a:prstGeom>
        </p:spPr>
      </p:pic>
      <p:sp>
        <p:nvSpPr>
          <p:cNvPr id="20" name="Text 12"/>
          <p:cNvSpPr/>
          <p:nvPr/>
        </p:nvSpPr>
        <p:spPr>
          <a:xfrm>
            <a:off x="609600" y="3771900"/>
            <a:ext cx="1600200" cy="833438"/>
          </a:xfrm>
          <a:prstGeom prst="rect">
            <a:avLst/>
          </a:prstGeom>
          <a:noFill/>
          <a:ln/>
        </p:spPr>
        <p:txBody>
          <a:bodyPr wrap="square" lIns="0" tIns="0" rIns="0" bIns="0" rtlCol="0" anchor="ctr"/>
          <a:lstStyle/>
          <a:p>
            <a:pPr marL="0" indent="0" algn="l">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The system could adapt its notes and quizzes to a user's performance, providing a customized learning experience.</a:t>
            </a:r>
            <a:endParaRPr lang="en-US" sz="926" dirty="0"/>
          </a:p>
        </p:txBody>
      </p:sp>
      <p:sp>
        <p:nvSpPr>
          <p:cNvPr id="21" name="Text 13"/>
          <p:cNvSpPr/>
          <p:nvPr/>
        </p:nvSpPr>
        <p:spPr>
          <a:xfrm>
            <a:off x="2190750" y="1333500"/>
            <a:ext cx="1504950" cy="833438"/>
          </a:xfrm>
          <a:prstGeom prst="rect">
            <a:avLst/>
          </a:prstGeom>
          <a:noFill/>
          <a:ln/>
        </p:spPr>
        <p:txBody>
          <a:bodyPr wrap="square" lIns="0" tIns="0" rIns="0" bIns="0" rtlCol="0" anchor="ctr"/>
          <a:lstStyle/>
          <a:p>
            <a:pPr marL="0" indent="0" algn="l">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Users could highlight and add comments to notes in a shared environment to identify key points of group interest.</a:t>
            </a:r>
            <a:endParaRPr lang="en-US" sz="926" dirty="0"/>
          </a:p>
        </p:txBody>
      </p:sp>
      <p:sp>
        <p:nvSpPr>
          <p:cNvPr id="22" name="Text 14"/>
          <p:cNvSpPr/>
          <p:nvPr/>
        </p:nvSpPr>
        <p:spPr>
          <a:xfrm>
            <a:off x="3771900" y="3771900"/>
            <a:ext cx="1504950" cy="666750"/>
          </a:xfrm>
          <a:prstGeom prst="rect">
            <a:avLst/>
          </a:prstGeom>
          <a:noFill/>
          <a:ln/>
        </p:spPr>
        <p:txBody>
          <a:bodyPr wrap="square" lIns="0" tIns="0" rIns="0" bIns="0" rtlCol="0" anchor="ctr"/>
          <a:lstStyle/>
          <a:p>
            <a:pPr marL="0" indent="0" algn="l">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The AI could analyze the tone of voice to flag moments of confusion or emphasis in the lecture.</a:t>
            </a:r>
            <a:endParaRPr lang="en-US" sz="926" dirty="0"/>
          </a:p>
        </p:txBody>
      </p:sp>
      <p:sp>
        <p:nvSpPr>
          <p:cNvPr id="23" name="Text 15"/>
          <p:cNvSpPr/>
          <p:nvPr/>
        </p:nvSpPr>
        <p:spPr>
          <a:xfrm>
            <a:off x="5353050" y="1290638"/>
            <a:ext cx="1600200" cy="833438"/>
          </a:xfrm>
          <a:prstGeom prst="rect">
            <a:avLst/>
          </a:prstGeom>
          <a:noFill/>
          <a:ln/>
        </p:spPr>
        <p:txBody>
          <a:bodyPr wrap="square" lIns="0" tIns="0" rIns="0" bIns="0" rtlCol="0" anchor="ctr"/>
          <a:lstStyle/>
          <a:p>
            <a:pPr marL="0" indent="0" algn="l">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The system could connect related concepts from multiple lectures, building a comprehensive knowledge map.</a:t>
            </a:r>
            <a:endParaRPr lang="en-US" sz="926" dirty="0"/>
          </a:p>
        </p:txBody>
      </p:sp>
      <p:sp>
        <p:nvSpPr>
          <p:cNvPr id="24" name="Text 16"/>
          <p:cNvSpPr/>
          <p:nvPr/>
        </p:nvSpPr>
        <p:spPr>
          <a:xfrm>
            <a:off x="6934200" y="3771900"/>
            <a:ext cx="1624013" cy="833438"/>
          </a:xfrm>
          <a:prstGeom prst="rect">
            <a:avLst/>
          </a:prstGeom>
          <a:noFill/>
          <a:ln/>
        </p:spPr>
        <p:txBody>
          <a:bodyPr wrap="square" lIns="0" tIns="0" rIns="0" bIns="0" rtlCol="0" anchor="ctr"/>
          <a:lstStyle/>
          <a:p>
            <a:pPr marL="0" indent="0" algn="l">
              <a:lnSpc>
                <a:spcPts val="1241"/>
              </a:lnSpc>
              <a:buNone/>
            </a:pPr>
            <a:r>
              <a:rPr lang="en-US" sz="926" kern="0" spc="-5" dirty="0">
                <a:solidFill>
                  <a:srgbClr val="000000">
                    <a:alpha val="99000"/>
                  </a:srgbClr>
                </a:solidFill>
                <a:latin typeface="Inter" pitchFamily="34" charset="0"/>
                <a:ea typeface="Inter" pitchFamily="34" charset="-122"/>
                <a:cs typeface="Inter" pitchFamily="34" charset="-120"/>
              </a:rPr>
              <a:t>Notes could be automatically translated in real-time, making the tool accessible to a global audience.</a:t>
            </a:r>
            <a:endParaRPr lang="en-US" sz="92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4800" y="2152650"/>
            <a:ext cx="2209800"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400300"/>
            <a:ext cx="3143250"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Conclusion</a:t>
            </a:r>
            <a:endParaRPr lang="en-US" sz="2138" dirty="0"/>
          </a:p>
        </p:txBody>
      </p:sp>
      <p:sp>
        <p:nvSpPr>
          <p:cNvPr id="4" name="Text 2"/>
          <p:cNvSpPr/>
          <p:nvPr/>
        </p:nvSpPr>
        <p:spPr>
          <a:xfrm>
            <a:off x="3400425" y="1681163"/>
            <a:ext cx="5281613" cy="1885950"/>
          </a:xfrm>
          <a:prstGeom prst="rect">
            <a:avLst/>
          </a:prstGeom>
          <a:noFill/>
          <a:ln/>
        </p:spPr>
        <p:txBody>
          <a:bodyPr wrap="square" lIns="0" tIns="0" rIns="0" bIns="0" rtlCol="0" anchor="ctr"/>
          <a:lstStyle/>
          <a:p>
            <a:pPr marL="0" indent="0">
              <a:lnSpc>
                <a:spcPts val="1550"/>
              </a:lnSpc>
              <a:buNone/>
            </a:pPr>
            <a:r>
              <a:rPr lang="en-US" sz="1140" kern="0" spc="-11" dirty="0">
                <a:solidFill>
                  <a:srgbClr val="000000">
                    <a:alpha val="99000"/>
                  </a:srgbClr>
                </a:solidFill>
                <a:latin typeface="Inter" pitchFamily="34" charset="0"/>
                <a:ea typeface="Inter" pitchFamily="34" charset="-122"/>
                <a:cs typeface="Inter" pitchFamily="34" charset="-120"/>
              </a:rPr>
              <a:t>The "AI-Powered Multi-Modal Lecture Note Generator" is a significant step forward in using AI to enhance learning. By seamlessly fusing live audio and visual content, the system acts as an intelligent assistant that automatically creates a structured, searchable record of any lecture or meeting. </a:t>
            </a:r>
            <a:endParaRPr lang="en-US" sz="1140" dirty="0"/>
          </a:p>
          <a:p>
            <a:pPr marL="0" indent="0">
              <a:lnSpc>
                <a:spcPts val="1550"/>
              </a:lnSpc>
              <a:buNone/>
            </a:pPr>
            <a:r>
              <a:rPr lang="en-US" sz="1140" kern="0" spc="-11" dirty="0">
                <a:solidFill>
                  <a:srgbClr val="000000">
                    <a:alpha val="99000"/>
                  </a:srgbClr>
                </a:solidFill>
                <a:latin typeface="Inter" pitchFamily="34" charset="0"/>
                <a:ea typeface="Inter" pitchFamily="34" charset="-122"/>
                <a:cs typeface="Inter" pitchFamily="34" charset="-120"/>
              </a:rPr>
              <a:t>Ultimately, this technology empowers users by reducing information overload and providing a foundation for improved comprehension and long-term knowledge retention.</a:t>
            </a:r>
            <a:endParaRPr lang="en-US" sz="1140" dirty="0"/>
          </a:p>
        </p:txBody>
      </p:sp>
      <p:sp>
        <p:nvSpPr>
          <p:cNvPr id="5" name="Text 3"/>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1012" y="2043113"/>
            <a:ext cx="2562225" cy="1062038"/>
          </a:xfrm>
          <a:prstGeom prst="roundRect">
            <a:avLst>
              <a:gd name="adj" fmla="val 13776"/>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300288"/>
            <a:ext cx="5715000" cy="547688"/>
          </a:xfrm>
          <a:prstGeom prst="rect">
            <a:avLst/>
          </a:prstGeom>
          <a:noFill/>
          <a:ln/>
        </p:spPr>
        <p:txBody>
          <a:bodyPr wrap="square" lIns="0" tIns="0" rIns="0" bIns="0" rtlCol="0" anchor="ctr"/>
          <a:lstStyle/>
          <a:p>
            <a:pPr marL="0" indent="0" algn="l">
              <a:lnSpc>
                <a:spcPts val="4104"/>
              </a:lnSpc>
              <a:buNone/>
            </a:pPr>
            <a:r>
              <a:rPr lang="en-US" sz="3420" b="1" kern="0" spc="-68" dirty="0">
                <a:solidFill>
                  <a:srgbClr val="00457E">
                    <a:alpha val="99000"/>
                  </a:srgbClr>
                </a:solidFill>
                <a:latin typeface="Inter" pitchFamily="34" charset="0"/>
                <a:ea typeface="Inter" pitchFamily="34" charset="-122"/>
                <a:cs typeface="Inter" pitchFamily="34" charset="-120"/>
              </a:rPr>
              <a:t>Thank You</a:t>
            </a:r>
            <a:endParaRPr lang="en-US" sz="3420" dirty="0"/>
          </a:p>
        </p:txBody>
      </p:sp>
      <p:sp>
        <p:nvSpPr>
          <p:cNvPr id="4" name="Text 2"/>
          <p:cNvSpPr/>
          <p:nvPr/>
        </p:nvSpPr>
        <p:spPr>
          <a:xfrm>
            <a:off x="-109537" y="4763"/>
            <a:ext cx="35766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910</Words>
  <Application>Microsoft Office PowerPoint</Application>
  <PresentationFormat>On-screen Show (16:9)</PresentationFormat>
  <Paragraphs>107</Paragraphs>
  <Slides>10</Slides>
  <Notes>10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Mohan Sarady</cp:lastModifiedBy>
  <cp:revision>9</cp:revision>
  <dcterms:created xsi:type="dcterms:W3CDTF">2026-03-30T17:33:26Z</dcterms:created>
  <dcterms:modified xsi:type="dcterms:W3CDTF">2026-09-23T08:06:10Z</dcterms:modified>
</cp:coreProperties>
</file>