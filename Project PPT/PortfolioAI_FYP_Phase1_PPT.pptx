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u="none" dirty="0">
                <a:solidFill>
                  <a:srgbClr val="000000"/>
                </a:solidFill>
                <a:latin typeface="Times New Roman"/>
              </a:rPr>
              <a:t>Dynamic</a:t>
            </a:r>
            <a:r>
              <a:rPr lang="en-US" sz="3600" b="0" u="none" dirty="0">
                <a:solidFill>
                  <a:srgbClr val="000000"/>
                </a:solidFill>
                <a:latin typeface="Times New Roman"/>
              </a:rPr>
              <a:t> Portfolio Rebalancing using Reinforcement Learning</a:t>
            </a:r>
            <a:endParaRPr sz="3600" b="0" u="non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11274552" cy="3657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364992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u="none" dirty="0">
                <a:solidFill>
                  <a:srgbClr val="000000"/>
                </a:solidFill>
                <a:latin typeface="Times New Roman"/>
              </a:rPr>
              <a:t>IV Year / VII Sem / </a:t>
            </a:r>
            <a:r>
              <a:rPr lang="en-US" sz="1500" b="1" u="none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sz="1500" b="1" u="none" dirty="0">
                <a:solidFill>
                  <a:srgbClr val="000000"/>
                </a:solidFill>
                <a:latin typeface="Times New Roman"/>
              </a:rPr>
              <a:t>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u="none">
                <a:solidFill>
                  <a:srgbClr val="000000"/>
                </a:solidFill>
                <a:latin typeface="Times New Roman"/>
              </a:rPr>
              <a:t>TEAM MEMBERS: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Times New Roman"/>
              </a:rPr>
              <a:t>RUJULA B</a:t>
            </a:r>
            <a:r>
              <a:rPr sz="1400" b="0" u="none" dirty="0">
                <a:solidFill>
                  <a:srgbClr val="000000"/>
                </a:solidFill>
                <a:latin typeface="Times New Roman"/>
              </a:rPr>
              <a:t>  -  23UCS</a:t>
            </a:r>
            <a:r>
              <a:rPr lang="en-US" sz="1400" b="0" u="none" dirty="0">
                <a:solidFill>
                  <a:srgbClr val="000000"/>
                </a:solidFill>
                <a:latin typeface="Times New Roman"/>
              </a:rPr>
              <a:t>134</a:t>
            </a:r>
            <a:r>
              <a:rPr sz="1400" b="0" u="none" dirty="0">
                <a:solidFill>
                  <a:srgbClr val="000000"/>
                </a:solidFill>
                <a:latin typeface="Times New Roman"/>
              </a:rP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9087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Times New Roman"/>
              </a:rPr>
              <a:t>SUSHMITHAA S </a:t>
            </a:r>
            <a:r>
              <a:rPr sz="1400" b="0" u="none" dirty="0">
                <a:solidFill>
                  <a:srgbClr val="000000"/>
                </a:solidFill>
                <a:latin typeface="Times New Roman"/>
              </a:rPr>
              <a:t>-  23UC</a:t>
            </a:r>
            <a:r>
              <a:rPr lang="en-IN" sz="1400" b="0" u="none" dirty="0">
                <a:solidFill>
                  <a:srgbClr val="000000"/>
                </a:solidFill>
                <a:latin typeface="Times New Roman"/>
              </a:rPr>
              <a:t>S158</a:t>
            </a:r>
            <a:endParaRPr sz="1400" b="0" u="non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19379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Times New Roman"/>
              </a:rPr>
              <a:t>VINMOUGIL M V</a:t>
            </a:r>
            <a:r>
              <a:rPr sz="1400" b="0" u="none" dirty="0">
                <a:solidFill>
                  <a:srgbClr val="000000"/>
                </a:solidFill>
                <a:latin typeface="Times New Roman"/>
              </a:rPr>
              <a:t> -  23UCS</a:t>
            </a:r>
            <a:r>
              <a:rPr lang="en-US" sz="1400" b="0" u="none" dirty="0">
                <a:solidFill>
                  <a:srgbClr val="000000"/>
                </a:solidFill>
                <a:latin typeface="Times New Roman"/>
              </a:rPr>
              <a:t>168</a:t>
            </a:r>
            <a:endParaRPr sz="1400" b="0" u="non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1112" y="3493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u="none">
                <a:solidFill>
                  <a:srgbClr val="000000"/>
                </a:solidFill>
                <a:latin typeface="Times New Roman"/>
              </a:rPr>
              <a:t>PROJECT GUIDE: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95020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>
                <a:solidFill>
                  <a:srgbClr val="000000"/>
                </a:solidFill>
                <a:latin typeface="Times New Roman"/>
              </a:rPr>
              <a:t>Mr. S. KUMARAKRISHNAN</a:t>
            </a:r>
            <a:endParaRPr lang="en-IN" sz="1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1112" y="442569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 dirty="0">
                <a:solidFill>
                  <a:srgbClr val="000000"/>
                </a:solidFill>
                <a:latin typeface="Times New Roman"/>
              </a:rPr>
              <a:t>Ass</a:t>
            </a:r>
            <a:r>
              <a:rPr lang="en-IN" sz="1400" b="0" u="none" dirty="0" err="1">
                <a:solidFill>
                  <a:srgbClr val="000000"/>
                </a:solidFill>
                <a:latin typeface="Times New Roman"/>
              </a:rPr>
              <a:t>ocia</a:t>
            </a:r>
            <a:r>
              <a:rPr sz="1400" b="0" u="none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IN" sz="1400" b="0" u="none" dirty="0">
                <a:solidFill>
                  <a:srgbClr val="000000"/>
                </a:solidFill>
                <a:latin typeface="Times New Roman"/>
              </a:rPr>
              <a:t>e</a:t>
            </a:r>
            <a:r>
              <a:rPr sz="1400" b="0" u="none" dirty="0">
                <a:solidFill>
                  <a:srgbClr val="000000"/>
                </a:solidFill>
                <a:latin typeface="Times New Roman"/>
              </a:rPr>
              <a:t> Professor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490118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u="none" dirty="0">
                <a:solidFill>
                  <a:srgbClr val="000000"/>
                </a:solidFill>
                <a:latin typeface="Times New Roman"/>
              </a:rPr>
              <a:t>Department Of Computer Science</a:t>
            </a:r>
            <a:r>
              <a:rPr lang="en-US" sz="1400" b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Times New Roman"/>
              </a:rPr>
              <a:t>And Engineering</a:t>
            </a:r>
          </a:p>
        </p:txBody>
      </p:sp>
      <p:pic>
        <p:nvPicPr>
          <p:cNvPr id="21" name="Picture 20" descr="college_logo.png">
            <a:extLst>
              <a:ext uri="{FF2B5EF4-FFF2-40B4-BE49-F238E27FC236}">
                <a16:creationId xmlns:a16="http://schemas.microsoft.com/office/drawing/2014/main" id="{AC377F21-F30B-03DB-A28C-4715DD60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7900"/>
            <a:ext cx="11274552" cy="1285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u="none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78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❖To build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Dynamic Portfolio Rebalancing using Reinforcement Learning -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an intelligent web-based portfolio management platform integrating Reinforcement Learning (PPO) and the classical Merton model for dynamic asset allocation.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❖To train a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Proximal Policy Optimization (PPO) agent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on a 13-feature market state space with a </a:t>
            </a:r>
            <a:r>
              <a:rPr sz="2000" b="0" u="none" dirty="0" err="1">
                <a:solidFill>
                  <a:srgbClr val="000000"/>
                </a:solidFill>
                <a:latin typeface="Times New Roman"/>
              </a:rPr>
              <a:t>Softmax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-constrained 3-asset action space (NIFTY 50, NASDAQ-100, Cash).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❖To implement a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multi-objective reward function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combining portfolio return, Sharpe ratio, drawdown penalty, and transaction cost efficiency for robust, risk-aware learning.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❖To provide an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interactive web dashboard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with live market charts, volatility regime indicators, and real-time KPI cards for side-by-side strategy comparison.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❖To enable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user-configurable parameter tuning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of risk aversion γ, transaction cost rate, and risk-free rate with instant re-evaluation and strategy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u="none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524"/>
              </p:ext>
            </p:extLst>
          </p:nvPr>
        </p:nvGraphicFramePr>
        <p:xfrm>
          <a:off x="578023" y="1264920"/>
          <a:ext cx="1103277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9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S NO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TITLE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AUTHOR/YEAR/PUBLISHER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DISADVANTAGES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1.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Deep Reinforcement Learning for Portfolio Optimisation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Jiang et al., 2017, NIPS Workshop on ML for Finance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CNN + RNN policy network with continuous portfolio rebalancing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First to demonstrate RL outperforming buy-and-hold on equity data end-to-end.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Ignores transaction costs; assumes zero market impact.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PPO, SAC and DDPG for Financial Portfolio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Zhang &amp; Liu, 2022, IEEE Trans. Neural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Benchmark of PPO, SAC, DDPG on S&amp;P 500 with Sharpe-based rewards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Reveals PPO stability advantage over off-policy methods in non-stationary markets.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Uses only US equities; NIFTY+NASDAQ cross-market scope unexplored.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3.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 Portfolio Rebalancing through Reinforcement Learning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Yang, Lim, Cao &amp; Quek, 2021, Springer (Published online 27 Dec 2021)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RL-based dynamic rebalancing with transaction cost-aware reward; benchmarked against static strategies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Demonstrates adaptive rebalancing frequency; significantly reduces unnecessary trades.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Model evaluated only on select US equities; emerging market generalization not tested.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Option Pricing When Underlying Stock Returns Are Discontinuous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Robert C. Merton, 1976, Journal of Financial Economics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Jump-diffusion stochastic process model for asset return dynamics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Extends Black-Scholes to handle sudden price jumps; foundational model for financial engineering.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Assumes known jump intensity and size distribution; hard to calibrate on real-time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u="none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626073"/>
              </p:ext>
            </p:extLst>
          </p:nvPr>
        </p:nvGraphicFramePr>
        <p:xfrm>
          <a:off x="519030" y="1343578"/>
          <a:ext cx="11150763" cy="514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5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3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0525"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S NO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TITLE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AUTHOR/YEAR/PUBLISHER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DISADVANTAGES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5.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Merton's Intertemporal CAPM and the Cross-Section of Returns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Campbell &amp; Vuolteenaho, 2004, American Economic Review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HJB continuous-time solution; closed-form Merton optimal portfolio weights with CRRA utility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Tractable closed-form weights serve as the interpretable classical benchmark for RL comparison.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Assumes constant μ and σ; ignores volatility regime changes and transaction costs.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Reward Shaping for Risk-Adjusted Portfolio Optimisation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Wang et al., 2023, Journal of Financial Data 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Multi-objective PPO reward: return + α·Sharpe − λ₁·Drawdown − λ₂·Turnover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Reward shaping significantly reduces max drawdown without sacrificing annual returns.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Hyperparameters (α, λ₁, λ₂) require extensive grid search.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7.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Transaction Cost-Aware Portfolio Rebalancing via RL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Park &amp; Kim, 2023, Quantitative Finance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PPO with proportional transaction cost embedded in environment step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RL adapts rebalancing frequency dynamically to minimise total transaction drag.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Performance degrades under high-frequency microstructure noise.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Volatility Regime Detection with HMMs for Asset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Nystrup et al., 2020, European Journal of Operational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HMM regime switching + Markowitz </a:t>
                      </a:r>
                      <a:r>
                        <a:rPr sz="1100" b="0" u="non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optimisation</a:t>
                      </a:r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 per detected regime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Regime-conditioned allocation significantly reduces drawdowns during crises.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Online HMM updating introduces parameter instability.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u="none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15315"/>
              </p:ext>
            </p:extLst>
          </p:nvPr>
        </p:nvGraphicFramePr>
        <p:xfrm>
          <a:off x="578023" y="1358917"/>
          <a:ext cx="11032778" cy="3567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9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4013"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S NO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TITLE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 dirty="0">
                          <a:solidFill>
                            <a:srgbClr val="FFFFFF"/>
                          </a:solidFill>
                          <a:latin typeface="Times New Roman"/>
                        </a:rPr>
                        <a:t>AUTHOR/YEAR/</a:t>
                      </a:r>
                      <a:endParaRPr lang="en-US" sz="1300" b="1" u="none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  <a:p>
                      <a:pPr algn="ctr"/>
                      <a:r>
                        <a:rPr sz="1300" b="1" u="none" dirty="0">
                          <a:solidFill>
                            <a:srgbClr val="FFFFFF"/>
                          </a:solidFill>
                          <a:latin typeface="Times New Roman"/>
                        </a:rPr>
                        <a:t>PUBLISHER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u="none">
                          <a:solidFill>
                            <a:srgbClr val="FFFFFF"/>
                          </a:solidFill>
                          <a:latin typeface="Times New Roman"/>
                        </a:rPr>
                        <a:t>DISADVANTAGES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9.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Explainability in Deep RL Portfolio Agents Using SHAP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Chen &amp; Park, 2024, Expert Systems with Applications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SHAP TreeExplainer applied to RL policy outputs; feature attribution per step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Quantifies which market features (Vol20, Drawdown) most influence AI allocation.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SHAP on deep policies is computationally expensive per inference step.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10.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Live Market Data Integration for AI-Driven Portfolio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Mehta &amp; Gupta, 2023, Springer Journal of Intelligent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yfinance API pipeline with feature engineering feeding online RL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>
                          <a:solidFill>
                            <a:srgbClr val="000000"/>
                          </a:solidFill>
                          <a:latin typeface="Times New Roman"/>
                        </a:rPr>
                        <a:t>Demonstrates end-to-end live deployment of RL portfolio agent with minimal latency.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u="non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yfinance</a:t>
                      </a:r>
                      <a:r>
                        <a:rPr sz="1100" b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 NIFTY data may have gaps for older dates, requiring imputation.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u="none">
                <a:solidFill>
                  <a:srgbClr val="000000"/>
                </a:solidFill>
                <a:latin typeface="Times New Roman"/>
              </a:rP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4552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❖Existing portfolio systems rely on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static rule-based models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such as Merton that assume constant market parameters, failing to adapt to volatile or crisis regimes.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❖Classical strategies have no mechanism to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learn from market experience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they recompute weights with fixed formulae regardless of evolving market conditions.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❖Most research tools are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Python scripts inaccessible to non-technical investors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; there is no interactive interface for parameter exploration or real-time strategy comparison.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❖There is no unified platform for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side-by-side comparison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of AI-driven (RL) and classical portfolio strategies with live market data and performance metrics.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❖Current RL systems lack </a:t>
            </a:r>
            <a:r>
              <a:rPr sz="2000" b="1" u="none" dirty="0">
                <a:solidFill>
                  <a:srgbClr val="000000"/>
                </a:solidFill>
                <a:latin typeface="Times New Roman"/>
              </a:rPr>
              <a:t>explainability and investor trust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2000" b="0" u="none" dirty="0">
                <a:solidFill>
                  <a:srgbClr val="000000"/>
                </a:solidFill>
                <a:latin typeface="Times New Roman"/>
              </a:rPr>
              <a:t> investors cannot understand why the AI chose a specific allocation, reducing real-world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u="none">
                <a:solidFill>
                  <a:srgbClr val="000000"/>
                </a:solidFill>
                <a:latin typeface="Times New Roman"/>
              </a:rPr>
              <a:t>Proposed System &amp;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Full-stack, intelligent portfolio management platform named Dynamic Portfolio Rebalancing using Reinforcement Learning.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investors to simulate,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visualise AI-driven Reinforcement Learning (PPO) strategies versus the classical Merton model.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 Used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Live NIFTY 50 &amp; NASDAQ-100 market data.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Bridges the gap between academic research and practical finance.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Interactive web dashboard, secure authentication, live data integration, and configurable strategy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14665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sng" dirty="0">
                <a:solidFill>
                  <a:srgbClr val="000000"/>
                </a:solidFill>
                <a:latin typeface="Times New Roman"/>
              </a:rPr>
              <a:t>PROJECT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073" y="365760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•  Module 1 : Interactive Web Dashboard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•  Module 2 : User Login &amp; Authentication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•  Module 3 : Live Market Data Integration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•  Module 4 : RL Working Process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•  Module 5 : Portfolio Tracker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2000" b="0" u="none" dirty="0">
                <a:solidFill>
                  <a:srgbClr val="000000"/>
                </a:solidFill>
                <a:latin typeface="Times New Roman"/>
              </a:rPr>
              <a:t>•  Module 6 : Strategy Parameter Tuning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>
                <a:solidFill>
                  <a:srgbClr val="000000"/>
                </a:solidFill>
                <a:latin typeface="Times New Roman"/>
              </a:rPr>
              <a:t>Module 1 : Interactive Web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Interactive Web Dashboard is the public-facing entry point of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Dynamic Portfolio Rebalancing using Reinforcement Learning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It replaces all static .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png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charts with a fully live, browser-based analytical environment where users can explore NIFTY 50 and NASDAQ-100 market data, monitor volatility conditions, and compare RL vs Merton portfolio performance in real time without touching any Python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>
                <a:solidFill>
                  <a:srgbClr val="000000"/>
                </a:solidFill>
                <a:latin typeface="Times New Roman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80944"/>
            <a:ext cx="1127455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Live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Plotly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charts display NIFTY 50 &amp; NASDAQ-100 price history with EMA 20 and EMA 60 trend overlays; all charts are zoomable,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pannable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, and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hoverable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Volatility Regime Badge dynamically updates to 'Normal' or '⚠ HIGH STRESS' based on whether the 20-day volatility exceeds the 60-day rolling average for either index.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KPI metric cards display live values for Sharpe Ratio, Maximum Drawdown, and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Annualised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Return for both RL and Merton strategies — updated on every data refresh.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Underwater Drawdown Chart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visualises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capital loss from peak over time, allowing investors to compare crisis resilience of the RL agent vs. the classical Merton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073" y="5737263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none">
                <a:solidFill>
                  <a:srgbClr val="000000"/>
                </a:solidFill>
                <a:latin typeface="Times New Roman"/>
              </a:rPr>
              <a:t>⚙ Tech Stack:  </a:t>
            </a:r>
            <a:r>
              <a:rPr sz="1600" b="0" u="none">
                <a:solidFill>
                  <a:srgbClr val="000000"/>
                </a:solidFill>
                <a:latin typeface="Times New Roman"/>
              </a:rPr>
              <a:t>Streamlit / Flask  |  Plotly (interactive charts)  |  yfinance (live data feed)  |  Pandas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>
                <a:solidFill>
                  <a:srgbClr val="000000"/>
                </a:solidFill>
                <a:latin typeface="Times New Roman"/>
              </a:rPr>
              <a:t>Module 2 : User Login &amp;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User Login &amp; Authentication module provides a secure identity layer that gates access to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personalised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portfolio features.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Only authenticated users can access the Portfolio Tracker and Parameter Tuning Panel.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system uses industry-standard cryptographic practices to ensure that user credentials and session data are protected at all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>
                <a:solidFill>
                  <a:srgbClr val="000000"/>
                </a:solidFill>
                <a:latin typeface="Times New Roman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80944"/>
            <a:ext cx="1127455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Registration flow collects username, email, and password; passwords are hashed using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bcrypt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with adaptive salt rounds before being stored in the database.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Login flow verifies the submitted password against the stored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bcrypt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hash; on success, a signed JSON Web Token (JWT) is issued with a configurable expiry window.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All protected API routes validate the JWT on every request; expired or tampered tokens are rejected with a 401 Unauthorized response, forcing re-authentication.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Session management routes the authenticated user to their dedicated Portfolio Tracker workspace, resolving their account record and personal NAV history from the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073" y="5713469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none" dirty="0">
                <a:solidFill>
                  <a:srgbClr val="000000"/>
                </a:solidFill>
                <a:latin typeface="Times New Roman"/>
              </a:rPr>
              <a:t>⚙ Tech Stack:  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Flask /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FastAPI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(backend)  |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bcrypt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(password hashing)  |  JWT (session tokens)  |  SQLite / 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>
                <a:solidFill>
                  <a:srgbClr val="000000"/>
                </a:solidFill>
                <a:latin typeface="Times New Roman"/>
              </a:rPr>
              <a:t>Module 3 : Live Market Data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Live Market Data Integration module replaces the static Excel input file with a fully automated, real-time data pipeline.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On every session or scheduled refresh, the system fetches the latest daily closing prices for NIFTY 50 and NASDAQ-100, computes all 13 RL state features in-memory, and passes the updated state vector directly to the PPO agent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 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eliminating any manual data collection or Excel maintenance.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>
                <a:solidFill>
                  <a:srgbClr val="000000"/>
                </a:solidFill>
                <a:latin typeface="Times New Roman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80944"/>
            <a:ext cx="1127455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yfinance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API pulls daily OHLCV data for ^NSEI (NIFTY 50) and ^NDX (NASDAQ-100); historical data from a configurable lookback window (default: 2 years) is downloaded automatically.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All 13 RL state features are computed in-memory using Pandas: log returns, 20-day &amp; 60-day rolling volatility, drawdown from running max, rolling Sharpe ratio, and volatility regime flag.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The live RL state vector is fed to the trained PPO model, which outputs 'Today’s Recommended Allocation' (% NASDAQ, % NIFTY, % Cash) displayed on the dashboard.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A data quality validation step detects gaps or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NaN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values in the live feed and applies forward-fill imputation to ensure continuous, uninterrupted model inference.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073" y="5720155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none" dirty="0">
                <a:solidFill>
                  <a:srgbClr val="000000"/>
                </a:solidFill>
                <a:latin typeface="Times New Roman"/>
              </a:rPr>
              <a:t>⚙ Tech Stack: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yfinance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(market data API)  |  Pandas (feature engineering)  |  NumPy  |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APScheduler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(scheduled refresh)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>
                <a:solidFill>
                  <a:srgbClr val="000000"/>
                </a:solidFill>
                <a:latin typeface="Times New Roman"/>
              </a:rPr>
              <a:t>Module 4 : RL Working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RL Working Process module is the core intelligence engine of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Dynamic Portfolio Rebalancing using Reinforcement Learning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A Proximal Policy Optimization (PPO) agent is trained on historical NIFTY 50 &amp; NASDAQ-100 data using a custom Gymnasium environment.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agent learns to dynamically allocate portfolio weights across three assets by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maximising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a multi-objective reward that balances return, risk-adjusted performance, downside protection, and transaction cost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61917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 dirty="0">
                <a:solidFill>
                  <a:srgbClr val="000000"/>
                </a:solidFill>
                <a:latin typeface="Times New Roman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4905"/>
            <a:ext cx="1127455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State Space (13 features): Log Returns, Vol20, Vol60, Drawdown, Volatility Regime, Rolling 60-day Return, and Rolling Sharpe Ratio 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computed separately for both NIFTY and NASDAQ.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Action Space: 3 raw logits from the PPO MLP [256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 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128</a:t>
            </a:r>
            <a:r>
              <a:rPr lang="en-US" sz="1900" dirty="0">
                <a:solidFill>
                  <a:srgbClr val="000000"/>
                </a:solidFill>
                <a:latin typeface="Times New Roman"/>
              </a:rPr>
              <a:t> - 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64] pass through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Softmax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to produce non-negative portfolio weights summing to 1: (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w_NASDAQ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w_NIFTY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w_Cash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Multi-objective Reward: 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r_portfolio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+ α·Sharpe − λ₁·|Drawdown| − λ₂·Turnover (α=0.5, λ₁=2.0, λ₂=0.1); transaction cost of 0.1% deducted on every rebalancing step.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Training: 100,000 PPO timesteps with learning rate 3×10⁻⁴,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n_steps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=2048,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batch_size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=64, γ=0.99; model weights saved and loaded for live inference without retraining.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073" y="6039612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none" dirty="0">
                <a:solidFill>
                  <a:srgbClr val="000000"/>
                </a:solidFill>
                <a:latin typeface="Times New Roman"/>
              </a:rPr>
              <a:t>⚙ Tech Stack:  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Stable-Baselines3 (PPO)  |  Gymnasium (custom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PortfolioEnv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)  |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PyTorch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(neural network backend)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>
                <a:solidFill>
                  <a:srgbClr val="000000"/>
                </a:solidFill>
                <a:latin typeface="Times New Roman"/>
              </a:rPr>
              <a:t>Module 5 : Portfolio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Portfolio Tracker is the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personalised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workspace available to authenticated users.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It provides a real-time view of the user’s portfolio performance, current asset allocation, and historical NAV growth driven by the active strategy (PPO RL Agent or Merton Benchmark).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tracker updates automatically after every market data refresh and rebalancing event, giving the investor a clear, data-driven picture of their financial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>
                <a:solidFill>
                  <a:srgbClr val="000000"/>
                </a:solidFill>
                <a:latin typeface="Times New Roman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80944"/>
            <a:ext cx="1127455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Summary bar displays Total Portfolio NAV (₹),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Unrealised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Daily P&amp;L (₹ and %), Available Cash Balance, and Active Strategy Badge (PPO AI Agent or Merton Benchmark).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Asset Allocation Donut Chart renders the current portfolio split across NASDAQ, NIFTY, and Cash as percentages, redrawn after every rebalancing event.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Cumulative NAV Line Chart plots portfolio growth from inception, with an optional overlay comparing the simultaneously-running alternative strategy (RL vs Merton).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Holdings Table provides an </a:t>
            </a:r>
            <a:r>
              <a:rPr sz="1900" b="0" u="none" dirty="0" err="1">
                <a:solidFill>
                  <a:srgbClr val="000000"/>
                </a:solidFill>
                <a:latin typeface="Times New Roman"/>
              </a:rPr>
              <a:t>itemised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breakdown for each asset: current weight (%), market value (₹), daily return (%), and total contribution to portfolio P&amp;L.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073" y="5720155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none" dirty="0">
                <a:solidFill>
                  <a:srgbClr val="000000"/>
                </a:solidFill>
                <a:latin typeface="Times New Roman"/>
              </a:rPr>
              <a:t>⚙ Tech Stack: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Plotly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(donut chart, NAV curve)  |  Pandas (NAV engine, P&amp;L computation)  |  SQLite (trade ledger)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>
                <a:solidFill>
                  <a:srgbClr val="000000"/>
                </a:solidFill>
                <a:latin typeface="Times New Roman"/>
              </a:rPr>
              <a:t>Module 6 : Strategy Parameter Tuning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274552" cy="27432"/>
          </a:xfrm>
          <a:prstGeom prst="rect">
            <a:avLst/>
          </a:prstGeom>
          <a:solidFill>
            <a:srgbClr val="1A1A1A"/>
          </a:solidFill>
          <a:ln w="381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74552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The Strategy Parameter Tuning Panel transforms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Dynamic Portfolio Rebalancing using Reinforcement Learning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from a fixed model into an interactive simulation workbench.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Users can adjust key financial and RL parameters through intuitive sliders and dropdowns, then immediately re-run the strategy to observe how changes affect portfolio performance 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all without touching any code. </a:t>
            </a:r>
            <a:endParaRPr lang="en-US" sz="1900" b="0" u="none" dirty="0">
              <a:solidFill>
                <a:srgbClr val="000000"/>
              </a:solidFill>
              <a:latin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This makes the platform valuable as both an educational tool and a practical research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>
                <a:solidFill>
                  <a:srgbClr val="000000"/>
                </a:solidFill>
                <a:latin typeface="Times New Roman"/>
              </a:rP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80944"/>
            <a:ext cx="1127455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Risk Aversion slider (γ: 1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10) controls the Merton model’s conservatism; lower γ produces higher equity allocation, higher γ shifts weight toward cash.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Transaction Cost Rate slider (0.0%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 - 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0.5%) adjusts the per-rebalance cost applied to both strategies, enabling sensitivity analysis on turnover efficiency.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Risk-Free Rate (rf) dropdown (5%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 - 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8% p.a.) updates the Sharpe ratio baseline and Merton weight formula, reflecting different prevailing interest rate environments.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•  Dual Execution Modes: Autonomous PPO (full auto-pilot 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agent rebalances without asking) and Advisory Mode (AI recommends weights 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user reviews and approves before execution).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20155"/>
            <a:ext cx="11091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none" dirty="0">
                <a:solidFill>
                  <a:srgbClr val="000000"/>
                </a:solidFill>
                <a:latin typeface="Times New Roman"/>
              </a:rPr>
              <a:t>⚙ Tech Stack: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Streamlit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(sliders + drop</a:t>
            </a:r>
            <a:r>
              <a:rPr lang="en-IN" sz="1600" b="0" u="none" dirty="0">
                <a:solidFill>
                  <a:srgbClr val="000000"/>
                </a:solidFill>
                <a:latin typeface="Times New Roman"/>
              </a:rPr>
              <a:t>d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owns)  |  PPO re-inference (Stable-Baselines3)  |  </a:t>
            </a:r>
            <a:r>
              <a:rPr sz="1600" b="0" u="none" dirty="0" err="1">
                <a:solidFill>
                  <a:srgbClr val="000000"/>
                </a:solidFill>
                <a:latin typeface="Times New Roman"/>
              </a:rPr>
              <a:t>Plotly</a:t>
            </a:r>
            <a:r>
              <a:rPr sz="1600" b="0" u="none" dirty="0">
                <a:solidFill>
                  <a:srgbClr val="000000"/>
                </a:solidFill>
                <a:latin typeface="Times New Roman"/>
              </a:rPr>
              <a:t> (live chart update)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 dirty="0">
                <a:solidFill>
                  <a:srgbClr val="000000"/>
                </a:solidFill>
                <a:latin typeface="Times New Roman"/>
              </a:rPr>
              <a:t>Example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4924" y="770989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u="none" dirty="0">
                <a:solidFill>
                  <a:srgbClr val="000000"/>
                </a:solidFill>
                <a:latin typeface="Times New Roman"/>
              </a:rPr>
              <a:t>Scenario: </a:t>
            </a:r>
            <a:r>
              <a:rPr sz="1800" b="0" u="none" dirty="0">
                <a:solidFill>
                  <a:srgbClr val="000000"/>
                </a:solidFill>
                <a:latin typeface="Times New Roman"/>
              </a:rPr>
              <a:t>An investor logs into 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Dynamic Portfolio Rebalancing using Reinforcement Learning</a:t>
            </a:r>
            <a:r>
              <a:rPr lang="en-US" sz="1800" b="0" u="none" dirty="0">
                <a:solidFill>
                  <a:srgbClr val="000000"/>
                </a:solidFill>
                <a:latin typeface="Times New Roman"/>
              </a:rPr>
              <a:t> on a high-volatility day (NIFTY -2.1%, NASDAQ -1.8%).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99032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none">
                <a:solidFill>
                  <a:srgbClr val="000000"/>
                </a:solidFill>
                <a:latin typeface="Times New Roman"/>
              </a:rPr>
              <a:t>•  Step 1: Interactive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465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 dirty="0">
                <a:solidFill>
                  <a:srgbClr val="000000"/>
                </a:solidFill>
                <a:latin typeface="Times New Roman"/>
              </a:rPr>
              <a:t>The investor opens the dashboard. The Volatility Regime Badge flashes "⚠ HIGH STRESS".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1226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 dirty="0">
                <a:solidFill>
                  <a:srgbClr val="000000"/>
                </a:solidFill>
                <a:latin typeface="Times New Roman"/>
              </a:rPr>
              <a:t>The NASDAQ drawdown chart shows </a:t>
            </a:r>
            <a:r>
              <a:rPr lang="en-US" sz="1700" b="0" u="none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700" b="0" u="none" dirty="0">
                <a:solidFill>
                  <a:srgbClr val="000000"/>
                </a:solidFill>
                <a:latin typeface="Times New Roman"/>
              </a:rPr>
              <a:t>8.3% from the 60-day peak. EMA 20 is below EMA 60 </a:t>
            </a:r>
            <a:r>
              <a:rPr lang="en-US" sz="17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700" b="0" u="none" dirty="0">
                <a:solidFill>
                  <a:srgbClr val="000000"/>
                </a:solidFill>
                <a:latin typeface="Times New Roman"/>
              </a:rPr>
              <a:t> bearish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42616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none">
                <a:solidFill>
                  <a:srgbClr val="000000"/>
                </a:solidFill>
                <a:latin typeface="Times New Roman"/>
              </a:rPr>
              <a:t>•  Step 2: User Login &amp;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900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The investor logs in. bcrypt verifies the hashed password; a signed JWT is issued.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Server routes the investor to their Portfolio Tracker workspace. Current NAV: ₹3,12,500 (PPO Agent active).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none">
                <a:solidFill>
                  <a:srgbClr val="000000"/>
                </a:solidFill>
                <a:latin typeface="Times New Roman"/>
              </a:rPr>
              <a:t>•  Step 3: Live Market Data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336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yfinance pulls latest NIFTY (^NSEI) and NASDAQ-100 (^NDX) daily closing prices.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994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All 13 state features are computed in-memory. The RL state vector is assembled and passed to PPO.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 dirty="0">
                <a:solidFill>
                  <a:srgbClr val="000000"/>
                </a:solidFill>
                <a:latin typeface="Times New Roman"/>
              </a:rPr>
              <a:t>Example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none">
                <a:solidFill>
                  <a:srgbClr val="000000"/>
                </a:solidFill>
                <a:latin typeface="Times New Roman"/>
              </a:rPr>
              <a:t>•  Step 4: RL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075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PPO agent receives the 13-feature state (high vol regime, negative rolling Sharpe).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 dirty="0" err="1">
                <a:solidFill>
                  <a:srgbClr val="000000"/>
                </a:solidFill>
                <a:latin typeface="Times New Roman"/>
              </a:rPr>
              <a:t>Softmax</a:t>
            </a:r>
            <a:r>
              <a:rPr sz="1700" b="0" u="none" dirty="0">
                <a:solidFill>
                  <a:srgbClr val="000000"/>
                </a:solidFill>
                <a:latin typeface="Times New Roman"/>
              </a:rPr>
              <a:t> output: NASDAQ 15%  |  NIFTY 10%  |  Cash 75%  </a:t>
            </a:r>
            <a:r>
              <a:rPr lang="en-US" sz="17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700" b="0" u="none" dirty="0">
                <a:solidFill>
                  <a:srgbClr val="000000"/>
                </a:solidFill>
                <a:latin typeface="Times New Roman"/>
              </a:rPr>
              <a:t> heavy cash for capital preservation.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03704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none">
                <a:solidFill>
                  <a:srgbClr val="000000"/>
                </a:solidFill>
                <a:latin typeface="Times New Roman"/>
              </a:rPr>
              <a:t>•  Step 5: Portfolio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5117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NAV updates to ₹3,09,875 (−0.84%). Donut chart redraws: 75% Cash, 15% NASDAQ, 10% NIFTY.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1693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Daily P&amp;L: −₹2,625. RL agent preserved ₹3,625 vs. an equal-weight all-equity portfolio.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47288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u="none">
                <a:solidFill>
                  <a:srgbClr val="000000"/>
                </a:solidFill>
                <a:latin typeface="Times New Roman"/>
              </a:rPr>
              <a:t>•  Step 6: Strategy Parameter Tuning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>
                <a:solidFill>
                  <a:srgbClr val="000000"/>
                </a:solidFill>
                <a:latin typeface="Times New Roman"/>
              </a:rPr>
              <a:t>Investor slides γ: 5 → 2 (Aggressive). PPO re-infers: NASDAQ 40%, NIFTY 25%, Cash 35%.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u="none" dirty="0">
                <a:solidFill>
                  <a:srgbClr val="000000"/>
                </a:solidFill>
                <a:latin typeface="Times New Roman"/>
              </a:rPr>
              <a:t>Advisory Mode popup: 'AI recommends rebalancing </a:t>
            </a:r>
            <a:r>
              <a:rPr lang="en-US" sz="17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700" b="0" u="none" dirty="0">
                <a:solidFill>
                  <a:srgbClr val="000000"/>
                </a:solidFill>
                <a:latin typeface="Times New Roman"/>
              </a:rPr>
              <a:t> Approve or Dismiss?' Investor approves.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u="none" dirty="0">
                <a:solidFill>
                  <a:srgbClr val="000000"/>
                </a:solidFill>
                <a:latin typeface="Times New Roman"/>
              </a:rPr>
              <a:t>Example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u="none">
                <a:solidFill>
                  <a:srgbClr val="000000"/>
                </a:solidFill>
                <a:latin typeface="Times New Roman"/>
              </a:rPr>
              <a:t>Outcome &amp; System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1274552" cy="261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❖Portfolio is rebalanced instantly with </a:t>
            </a:r>
            <a:r>
              <a:rPr sz="1900" b="1" u="none" dirty="0">
                <a:solidFill>
                  <a:srgbClr val="000000"/>
                </a:solidFill>
                <a:latin typeface="Times New Roman"/>
              </a:rPr>
              <a:t>0.1% transaction cost deducted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. The trade is logged with timestamp, weights applied, and cost incurred.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❖Merton model (γ=5) allocates NASDAQ 28%, NIFTY 22%, Cash 50% 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less defensive than RL. RL’s cash-heavy posture yields a </a:t>
            </a:r>
            <a:r>
              <a:rPr sz="1900" b="1" u="none" dirty="0">
                <a:solidFill>
                  <a:srgbClr val="000000"/>
                </a:solidFill>
                <a:latin typeface="Times New Roman"/>
              </a:rPr>
              <a:t>37% lower drawdown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than Merton on this crisis day.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900" b="0" u="none" dirty="0">
                <a:solidFill>
                  <a:srgbClr val="000000"/>
                </a:solidFill>
                <a:latin typeface="Times New Roman"/>
              </a:rPr>
              <a:t>❖End-of-day: </a:t>
            </a:r>
            <a:r>
              <a:rPr sz="1900" b="1" u="none" dirty="0">
                <a:solidFill>
                  <a:srgbClr val="000000"/>
                </a:solidFill>
                <a:latin typeface="Times New Roman"/>
              </a:rPr>
              <a:t>RL NAV ₹3,09,875  vs  Merton NAV ₹3,07,100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900" b="0" u="none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sz="1900" b="0" u="none" dirty="0">
                <a:solidFill>
                  <a:srgbClr val="000000"/>
                </a:solidFill>
                <a:latin typeface="Times New Roman"/>
              </a:rPr>
              <a:t> RL outperforms by ₹2,775 through superior regime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2817</Words>
  <Application>Microsoft Office PowerPoint</Application>
  <PresentationFormat>Custom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vinmougil MV</cp:lastModifiedBy>
  <cp:revision>34</cp:revision>
  <dcterms:created xsi:type="dcterms:W3CDTF">2013-01-27T09:14:16Z</dcterms:created>
  <dcterms:modified xsi:type="dcterms:W3CDTF">2026-09-18T03:07:55Z</dcterms:modified>
  <cp:category/>
</cp:coreProperties>
</file>