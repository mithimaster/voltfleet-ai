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latin typeface="Times New Roman" panose="02020603050405020304"/>
              </a:defRPr>
            </a:pPr>
            <a:r>
              <a:t>VoltFleet AI: Intelligent EV Fleet Management, Predictive Battery Analytics &amp; Route Optimization</a:t>
            </a:r>
            <a:endParaRPr sz="36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latin typeface="Times New Roman" panose="02020603050405020304"/>
              </a:defRPr>
            </a:pPr>
            <a:r>
              <a:t>IV Year / VII Sem / Final Year Project (Phase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u="none">
                <a:solidFill>
                  <a:srgbClr val="000000"/>
                </a:solidFill>
                <a:latin typeface="Times New Roman" panose="02020603050405020304"/>
              </a:rPr>
              <a:t>TEAM MEMBERS:</a:t>
            </a:r>
            <a:endParaRPr sz="1500" b="1" u="non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u="none" dirty="0">
                <a:solidFill>
                  <a:srgbClr val="000000"/>
                </a:solidFill>
                <a:latin typeface="Times New Roman" panose="02020603050405020304"/>
              </a:rPr>
              <a:t>MITHILESH S</a:t>
            </a:r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  -  23UCS</a:t>
            </a:r>
            <a:r>
              <a:rPr lang="en-US" sz="1400" b="0" u="none" dirty="0">
                <a:solidFill>
                  <a:srgbClr val="000000"/>
                </a:solidFill>
                <a:latin typeface="Times New Roman" panose="02020603050405020304"/>
              </a:rPr>
              <a:t>100</a:t>
            </a:r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  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690872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1400" dirty="0">
                <a:solidFill>
                  <a:srgbClr val="000000"/>
                </a:solidFill>
                <a:latin typeface="Times New Roman" panose="02020603050405020304"/>
              </a:rPr>
              <a:t>MATHIVANAN M</a:t>
            </a:r>
            <a:r>
              <a:rPr lang="en-IN" sz="140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-  23UC</a:t>
            </a:r>
            <a:r>
              <a:rPr lang="en-IN" sz="1400" b="0" u="none" dirty="0">
                <a:solidFill>
                  <a:srgbClr val="000000"/>
                </a:solidFill>
                <a:latin typeface="Times New Roman" panose="02020603050405020304"/>
              </a:rPr>
              <a:t>S</a:t>
            </a:r>
            <a:r>
              <a:rPr lang="en-US" altLang="en-IN" sz="1400" b="0" u="none" dirty="0">
                <a:solidFill>
                  <a:srgbClr val="000000"/>
                </a:solidFill>
                <a:latin typeface="Times New Roman" panose="02020603050405020304"/>
              </a:rPr>
              <a:t>099</a:t>
            </a:r>
            <a:endParaRPr lang="en-US" altLang="en-IN"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146167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u="none" dirty="0">
                <a:solidFill>
                  <a:srgbClr val="000000"/>
                </a:solidFill>
                <a:latin typeface="Times New Roman" panose="02020603050405020304"/>
              </a:rPr>
              <a:t>VISHNU K N</a:t>
            </a:r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 -  23UCS</a:t>
            </a:r>
            <a:r>
              <a:rPr lang="en-US" sz="1400" b="0" u="none" dirty="0">
                <a:solidFill>
                  <a:srgbClr val="000000"/>
                </a:solidFill>
                <a:latin typeface="Times New Roman" panose="02020603050405020304"/>
              </a:rPr>
              <a:t>079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1112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u="none">
                <a:solidFill>
                  <a:srgbClr val="000000"/>
                </a:solidFill>
                <a:latin typeface="Times New Roman" panose="02020603050405020304"/>
              </a:rPr>
              <a:t>PROJECT GUIDE:</a:t>
            </a:r>
            <a:endParaRPr sz="1500" b="1" u="non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11112" y="3950208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solidFill>
                  <a:srgbClr val="000000"/>
                </a:solidFill>
                <a:latin typeface="Times New Roman" panose="02020603050405020304"/>
              </a:rPr>
              <a:t>Mr</a:t>
            </a:r>
            <a:r>
              <a:rPr lang="en-US" altLang="en-IN" sz="1400">
                <a:solidFill>
                  <a:srgbClr val="000000"/>
                </a:solidFill>
                <a:latin typeface="Times New Roman" panose="02020603050405020304"/>
              </a:rPr>
              <a:t>s</a:t>
            </a:r>
            <a:r>
              <a:rPr lang="en-IN" sz="1400">
                <a:solidFill>
                  <a:srgbClr val="000000"/>
                </a:solidFill>
                <a:latin typeface="Times New Roman" panose="02020603050405020304"/>
              </a:rPr>
              <a:t>. </a:t>
            </a:r>
            <a:r>
              <a:rPr lang="en-US" altLang="en-IN" sz="1400">
                <a:solidFill>
                  <a:srgbClr val="000000"/>
                </a:solidFill>
                <a:latin typeface="Times New Roman" panose="02020603050405020304"/>
              </a:rPr>
              <a:t>P</a:t>
            </a:r>
            <a:r>
              <a:rPr lang="en-IN" sz="1400">
                <a:solidFill>
                  <a:srgbClr val="000000"/>
                </a:solidFill>
                <a:latin typeface="Times New Roman" panose="02020603050405020304"/>
              </a:rPr>
              <a:t>.</a:t>
            </a:r>
            <a:r>
              <a:rPr lang="en-US" altLang="en-IN" sz="1400">
                <a:solidFill>
                  <a:srgbClr val="000000"/>
                </a:solidFill>
                <a:latin typeface="Times New Roman" panose="02020603050405020304"/>
              </a:rPr>
              <a:t> NIRMALADEVI</a:t>
            </a:r>
            <a:r>
              <a:rPr lang="en-IN" sz="1400">
                <a:solidFill>
                  <a:srgbClr val="000000"/>
                </a:solidFill>
                <a:latin typeface="Times New Roman" panose="02020603050405020304"/>
              </a:rPr>
              <a:t> </a:t>
            </a:r>
            <a:endParaRPr lang="en-IN" sz="14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4425696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Ass</a:t>
            </a:r>
            <a:r>
              <a:rPr lang="en-IN" sz="1400" b="0" u="none" dirty="0">
                <a:solidFill>
                  <a:srgbClr val="000000"/>
                </a:solidFill>
                <a:latin typeface="Times New Roman" panose="02020603050405020304"/>
              </a:rPr>
              <a:t>istant</a:t>
            </a:r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 Professor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490118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u="none" dirty="0">
                <a:solidFill>
                  <a:srgbClr val="000000"/>
                </a:solidFill>
                <a:latin typeface="Times New Roman" panose="02020603050405020304"/>
              </a:rPr>
              <a:t>Department Of Computer Science</a:t>
            </a:r>
            <a:r>
              <a:rPr lang="en-US" sz="1400" b="0" u="none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Times New Roman" panose="02020603050405020304"/>
              </a:rPr>
              <a:t>And Engineering</a:t>
            </a:r>
            <a:endParaRPr lang="en-IN" sz="14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1" name="Picture 20" descr="college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1" y="27900"/>
            <a:ext cx="11274552" cy="128571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48640" y="5600700"/>
            <a:ext cx="360108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NISHAN </a:t>
            </a:r>
            <a:r>
              <a:rPr lang="en-US" sz="1400"/>
              <a:t>S - 23UCS0108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b="0"/>
              <a:t>Objectives</a:t>
            </a:r>
            <a:endParaRPr b="0"/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425" cy="5465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>
                <a:latin typeface="Times New Roman" panose="02020603050405020304"/>
              </a:defRPr>
            </a:pPr>
            <a:r>
              <a:rPr sz="1900"/>
              <a:t>❖ To build VoltFleet AI — a comprehensive, full-stack intelligent electric vehicle fleet management platform integrating physics-informed machine learning for dynamic range estimation, battery State of Health (SOH) degradation analytics, and AI driver scoring.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 dirty="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To train and deploy high-accuracy Machine Learning models (HistGradientBoosting and Multiple Linear Regression) for real-time EV driving range prediction factoring battery SOC, vehicle velocity, ambient temperature, elevation gradients, HVAC load, and route topography.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To implement an AI-powered Driver Performance Evaluation engine that assesses multi-dimensional CAN-bus telemetry (regenerative braking ratio, harsh deceleration, rapid throttle jerk, overspeeding, and route adherence) with personalized coaching feedback.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To provide a global dynamic multi-stop Route Optimizer integrated with OpenStreetMap and world cities database, featuring automated charging stop recommendation and digital elevation consumption modeling.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To develop an interactive real-time Fleet Command Center with live Leaflet map visualization, battery degradation tracking, predictive maintenance alerts, and automated off-peak charging scheduling.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b="0"/>
              <a:t>Literature Survey</a:t>
            </a:r>
            <a:endParaRPr b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8023" y="1264920"/>
          <a:ext cx="1103277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41"/>
                <a:gridCol w="2013997"/>
                <a:gridCol w="2493645"/>
                <a:gridCol w="1632595"/>
                <a:gridCol w="2063120"/>
                <a:gridCol w="22890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AUTHOR/YEAR/PUBLISHER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1.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Machine Learning for Electric Vehicle Remaining Driving Range Prediction under Real-World Conditions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Zhao et al., 2021, IEEE Transactions on Vehicular Technology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XGBoost and Random Forest regression on multi-dimensional telemetry (speed, gradient, HVAC, ambient temp).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Demonstrates superior prediction accuracy (RMSE &lt; 4.2%) compared to traditional Coulomb counting.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Evaluated primarily on single EV model; does not provide real-time dynamic route elevation integration.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Physics-Informed Neural Networks for Lithium-ion Battery State of Health and Degradation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Martinez &amp; Wang, 2022, Applied Energy, Elsevier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Hybrid physics-informed neural network combining electrochemical degradation kinetics with data-driven telemetry.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Accurately predicts remaining useful life (RUL) and battery capacity fade across diverse temperature cycles.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High computational overhead for online embedded devices; requires pre-computed model inference.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3.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Dynamic Eco-Routing and Charging Station Scheduling for Commercial EV Fleets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Al-Kanj et al., 2020, Transportation Research Part B: Methodological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Mixed-Integer Linear Programming (MILP) combined with A* graph search for optimal routing with charging stops.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Minimizes fleet operational cost and charging wait times while ensuring zero en-route vehicle stranding.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Assumes fixed deterministic traffic and static charging queues without real-time API mapping integration.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Telematics-Based Driving Behavior Profiling and Energy Efficiency Scoring for Electric Vehicles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Kumar &amp; Singh, 2023, IEEE Transactions on Intelligent Transportation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Unsupervised clustering and regression modeling on CAN-bus telemetry (regenerative braking ratio, throttle jerk).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Establishes empirical correlation between driver throttle habits and EV energy consumption (up to 28% variance).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Lacks automated real-time coaching feedback loops for active commercial fleet operators.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b="0"/>
              <a:t>Literature Survey</a:t>
            </a:r>
            <a:endParaRPr b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9030" y="1343578"/>
          <a:ext cx="11150763" cy="514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19"/>
                <a:gridCol w="2035535"/>
                <a:gridCol w="2085183"/>
                <a:gridCol w="2085183"/>
                <a:gridCol w="2085183"/>
                <a:gridCol w="2313560"/>
              </a:tblGrid>
              <a:tr h="760525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AUTHOR/YEAR/PUBLISHER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5.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Multi-Objective Route Planning for Electric Commercial Vehicles with Elevation Dynamics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Basso et al., 2021, Computers &amp; Operations Research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Topological energy model incorporating gravitational potential energy, rolling resistance, and aerodynamics.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Accounts for regenerative braking gains on downhill segments, avoiding false range anxiety in hilly terrain.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High sensitivity to digital elevation model (DEM) noise; requires global elevation smoothing.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Smart Charging Infrastructure Optimization and Peak-Load Tariff Management for EV Fleets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Nour et al., 2020, Renewable and Sustainable Energy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Dynamic programming for fleet overnight and opportunity charging under Time-of-Use (ToU) electricity tariffs.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Achieves 32-45% reduction in electricity charging expenditure for medium-to-large delivery fleets.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Does not incorporate real-time vehicle dispatch schedules or urgent ad-hoc delivery tasks.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7.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Predictive Maintenance of Electric Vehicle Powertrains Using Telemetry-Driven Machine Learning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Surucu et al., 2023, Reliability Engineering &amp; System Safety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Isolation Forests and supervised classification on motor vibration, inverter thermal logs, and cell delta-voltages.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Identifies cell imbalance and cooling degradation 7-14 days prior to critical component failure.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Requires extensive continuous historical sensor streams and fine-grained telemetry polling.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50" b="0">
                          <a:latin typeface="Times New Roman" panose="02020603050405020304"/>
                        </a:defRPr>
                      </a:pPr>
                      <a:r>
                        <a:t>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IoT-Enabled Telematics Architecture for Real-Time Commercial Fleet Health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Choudhary et al., 2024, Springer Journal of Ambient Intelligence &amp; Humanized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Microservice telemetry ingestion engine with WebSockets, MQTT broker, and edge data compression.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Achieves sub-second telemetry synchronization across distributed mobile vehicle units with low bandwidth.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latin typeface="Times New Roman" panose="02020603050405020304"/>
                        </a:defRPr>
                      </a:pPr>
                      <a:r>
                        <a:t>Edge device connection dropouts in remote non-coverage zones require robust offline fallback queuing.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b="0"/>
              <a:t>Literature Survey</a:t>
            </a:r>
            <a:endParaRPr b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8023" y="1358917"/>
          <a:ext cx="11032778" cy="356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41"/>
                <a:gridCol w="2013997"/>
                <a:gridCol w="2063120"/>
                <a:gridCol w="2063120"/>
                <a:gridCol w="2063120"/>
                <a:gridCol w="2289080"/>
              </a:tblGrid>
              <a:tr h="814013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AUTHOR/YEAR/ PUBLISHER</a:t>
                      </a:r>
                      <a:endParaRPr lang="en-US" sz="1300" b="1" u="none" dirty="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Times New Roman" panose="02020603050405020304"/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924232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Times New Roman" panose="02020603050405020304"/>
                        </a:defRPr>
                      </a:pPr>
                      <a:r>
                        <a:t>9.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Explainable AI for Fleet Safety Scoring and Eco-Driving Guidance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Tselentis et al., 2024, Accident Analysis &amp; Prevention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SHAP and feature attribution on driving event telemetry to explain driver risk scores and energy penalties.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Increases driver acceptance and union trust by providing clear, actionable explanations for scoring deductions.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Real-time SHAP computation introduces latency during continuous high-frequency telemetry scoring.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Times New Roman" panose="02020603050405020304"/>
                        </a:defRPr>
                      </a:pPr>
                      <a:r>
                        <a:t>10.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Deep Reinforcement Learning for Dynamic Commercial Fleet Dispatch and Recharging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Guo et al., 2023, Transportation Research Part C: Emerging Technologies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Multi-agent PPO reinforcement learning agent coordinating multi-vehicle delivery missions and charging reservations.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Dynamically adapts to traffic congestion and variable electricity pricing in real-time city logistics.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latin typeface="Times New Roman" panose="02020603050405020304"/>
                        </a:defRPr>
                      </a:pPr>
                      <a:r>
                        <a:t>Training stability challenges in high-dimensional vehicle-state spaces; requires verified simulator environment.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b="0"/>
              <a:t>Problem Identification</a:t>
            </a:r>
            <a:endParaRPr b="0"/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564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latin typeface="Times New Roman" panose="02020603050405020304"/>
              </a:defRPr>
            </a:pPr>
            <a:r>
              <a:rPr sz="1900"/>
              <a:t>❖ </a:t>
            </a:r>
            <a:r>
              <a:rPr sz="1900" b="1"/>
              <a:t>EV Range Anxiety &amp; Flawed Static Estimation</a:t>
            </a:r>
            <a:r>
              <a:rPr sz="1900"/>
              <a:t>: Conventional EV onboard range estimators use naive static averages that fail to consider topographic elevation, ambient temperature, cabin climate control, or payload, resulting in unexpected mid-route stranding.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 dirty="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</a:t>
            </a:r>
            <a:r>
              <a:rPr sz="1900" b="1"/>
              <a:t>Unoptimized Fleet Routing Without Battery Awareness</a:t>
            </a:r>
            <a:r>
              <a:rPr sz="1900"/>
              <a:t>: Standard commercial routing engines plan routes based solely on distance or transit time, neglecting battery SOC depletion curves, elevation gradients, regenerative braking recovery, and necessary charging waypoints.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</a:t>
            </a:r>
            <a:r>
              <a:rPr sz="1900" b="1"/>
              <a:t> Lack of EV-Specific Driver Performance Analytics</a:t>
            </a:r>
            <a:r>
              <a:rPr sz="1900"/>
              <a:t>: Existing telematics tools evaluate drivers using ICE (internal combustion engine) metrics, completely ignoring EV-critical factors like regenerative braking utilization, battery thermal stress, and high-discharge acceleration.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</a:t>
            </a:r>
            <a:r>
              <a:rPr sz="1900" b="1"/>
              <a:t> Siloed and Fragmented Fleet Software Tools</a:t>
            </a:r>
            <a:r>
              <a:rPr sz="1900"/>
              <a:t>: Fleet managers are forced to juggle disconnected tools for GPS tracking, maintenance logs, charging station management, and driver payroll, creating severe operational friction and data latency.</a:t>
            </a:r>
            <a:endParaRPr sz="1900"/>
          </a:p>
          <a:p>
            <a:pPr>
              <a:defRPr sz="1450">
                <a:latin typeface="Times New Roman" panose="02020603050405020304"/>
              </a:defRPr>
            </a:pPr>
            <a:endParaRPr sz="1900"/>
          </a:p>
          <a:p>
            <a:pPr>
              <a:defRPr sz="1450">
                <a:latin typeface="Times New Roman" panose="02020603050405020304"/>
              </a:defRPr>
            </a:pPr>
            <a:r>
              <a:rPr sz="1900"/>
              <a:t>❖ </a:t>
            </a:r>
            <a:r>
              <a:rPr sz="1900" b="1"/>
              <a:t>Accelerated Battery Degradation &amp; Uncontrolled Charging Costs</a:t>
            </a:r>
            <a:r>
              <a:rPr sz="1900"/>
              <a:t>: Unmanaged charging during peak electricity tariff windows and frequent high-C-rate fast charging accelerate battery State of Health (SOH) degradation and inflate fleet operating expenses.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203"/>
            <a:ext cx="11274552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sz="4000" b="0"/>
              <a:t>Proposed System &amp; Modules</a:t>
            </a:r>
            <a:endParaRPr sz="4000" b="0"/>
          </a:p>
        </p:txBody>
      </p:sp>
      <p:sp>
        <p:nvSpPr>
          <p:cNvPr id="3" name="TextBox 2"/>
          <p:cNvSpPr txBox="1"/>
          <p:nvPr/>
        </p:nvSpPr>
        <p:spPr>
          <a:xfrm>
            <a:off x="457200" y="807085"/>
            <a:ext cx="11274552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350">
                <a:latin typeface="Times New Roman" panose="02020603050405020304"/>
              </a:defRPr>
            </a:pPr>
            <a:r>
              <a:rPr sz="2000" b="1"/>
              <a:t>Platform Type</a:t>
            </a:r>
            <a:r>
              <a:rPr sz="2000"/>
              <a:t>: Full-stack, intelligent EV fleet management, telematics, and route optimization platform named VoltFleet AI.</a:t>
            </a: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 b="1"/>
              <a:t>Core Function</a:t>
            </a:r>
            <a:r>
              <a:rPr sz="2000"/>
              <a:t>: Provides real-time fleet telematics tracking, physics-informed ML range estimation, dynamic global route optimization, AI driver performance scoring, and automated predictive maintenance.</a:t>
            </a: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 b="1"/>
              <a:t>Telematics &amp; Data Used</a:t>
            </a:r>
            <a:r>
              <a:rPr sz="2000"/>
              <a:t>: Real-time CAN-bus/IoT telematics (GPS coordinates, Speed, Battery SOC/SOH, Cell Voltage, Inverter Temp, Odometer, Elevation profiles, Global City coordinates).</a:t>
            </a: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 b="1"/>
              <a:t>Primary Objective</a:t>
            </a:r>
            <a:r>
              <a:rPr sz="2000"/>
              <a:t>: Maximizes EV fleet uptime, eliminates range anxiety, extends battery lifespan, reduces operational energy expenditure, and promotes safe driving through AI coaching.</a:t>
            </a: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 b="1"/>
              <a:t>Platform Features</a:t>
            </a:r>
            <a:r>
              <a:rPr sz="2000"/>
              <a:t>: Interactive Leaflet dark-mode world map, multi-stop elevation route planner, ML range estimator, driver AI coaching dashboard, charging scheduler, and automated fault alert center.</a:t>
            </a:r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57200" y="4076640"/>
            <a:ext cx="271145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Times New Roman" panose="02020603050405020304"/>
              </a:defRPr>
            </a:pPr>
            <a:r>
              <a:rPr u="sng"/>
              <a:t>PROJECT MODULES</a:t>
            </a:r>
            <a:endParaRPr u="sng"/>
          </a:p>
        </p:txBody>
      </p:sp>
      <p:sp>
        <p:nvSpPr>
          <p:cNvPr id="5" name="TextBox 4"/>
          <p:cNvSpPr txBox="1"/>
          <p:nvPr/>
        </p:nvSpPr>
        <p:spPr>
          <a:xfrm>
            <a:off x="457073" y="4485640"/>
            <a:ext cx="11274552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1 : Live Interactive Fleet Command Center </a:t>
            </a:r>
            <a:endParaRPr sz="2000" b="0" dirty="0"/>
          </a:p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2 : Role-Based Authentication &amp; Secure Telematics Ingestion</a:t>
            </a:r>
            <a:endParaRPr sz="2000" b="0"/>
          </a:p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3 : Dynamic Multi-Stop Route Optimizer &amp; Global Elevation Engine</a:t>
            </a:r>
            <a:endParaRPr sz="2000" b="0"/>
          </a:p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4 : ML AI Driver Performance Scoring</a:t>
            </a:r>
            <a:endParaRPr sz="2000" b="0"/>
          </a:p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5 : Physics-Informed ML Battery Range Predictor &amp; Health Analytics</a:t>
            </a:r>
            <a:endParaRPr sz="2000" b="0"/>
          </a:p>
          <a:p>
            <a:pPr>
              <a:defRPr sz="1400" b="1">
                <a:latin typeface="Times New Roman" panose="02020603050405020304"/>
              </a:defRPr>
            </a:pPr>
            <a:r>
              <a:rPr sz="2000" b="0"/>
              <a:t>•  Module 6 : Smart Charging Scheduler &amp; Predictive Maintenance Planner</a:t>
            </a:r>
            <a:endParaRPr sz="2000"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sz="3600" b="0"/>
              <a:t>Module 1 : Live Interactive Fleet Command Center </a:t>
            </a:r>
            <a:endParaRPr sz="3600" b="0"/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7455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Live Interactive Fleet Command Center is the centralized operational interface of VoltFleet AI.</a:t>
            </a:r>
            <a:endParaRPr lang="en-US" sz="2000" b="0" u="none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defRPr sz="1400">
                <a:latin typeface="Times New Roman" panose="02020603050405020304"/>
              </a:defRPr>
            </a:pPr>
            <a:r>
              <a:rPr sz="2000"/>
              <a:t>It replaces static tabular monitoring with a high-performance, Leaflet-powered geospatial command map, visualizing live vehicle positions, velocities, battery levels, and telemetry diagnostics in real time.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120138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</a:t>
            </a:r>
            <a:r>
              <a:rPr sz="2000" u="sng"/>
              <a:t>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2519299"/>
            <a:ext cx="11274552" cy="318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Zero-API-Key Leaflet Map Engine renders global OpenStreetMap tiles with a custom high-contrast night-highway visual filter, enabling seamless global map exploration without external billing dependencies.</a:t>
            </a:r>
            <a:endParaRPr sz="2000"/>
          </a:p>
          <a:p>
            <a:pPr>
              <a:lnSpc>
                <a:spcPct val="3000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Real-Time Vehicle Telemetry Pins display live state (Active, In Transit, Charging, Idle), battery SOC %, State of Health (SOH %), current velocity, and inverter temperature with interactive popup inspections.</a:t>
            </a:r>
            <a:endParaRPr sz="2000"/>
          </a:p>
          <a:p>
            <a:pPr>
              <a:lnSpc>
                <a:spcPct val="7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Fleet Vehicle Selector and Filter Strip allows dispatchers to instantly isolate vehicles by model (Tata Punch EV, Curvv EV, MG ZS EV, Mahindra BE 6) or operational status.</a:t>
            </a:r>
            <a:endParaRPr sz="2000"/>
          </a:p>
          <a:p>
            <a:pPr>
              <a:lnSpc>
                <a:spcPct val="6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Dynamic Fleet KPI Strip aggregates total fleet mileage, average battery health index, active deployed vehicles, and fleet-wide energy efficiency in real time.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073" y="5737263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React (TanStack Router)  |  Leaflet.js  |  Tailwind CSS  |  FastAPI  |  SQLAlchemy  |  OpenStreetMap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56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sz="3100" b="0"/>
              <a:t>Module 2 : Role-Based Authentication &amp; Secure Telematics Ingestion</a:t>
            </a:r>
            <a:endParaRPr sz="3100" b="0"/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Role-Based Authentication &amp; Secure Telematics Ingestion module provides a zero-trust security architecture for fleet operations.</a:t>
            </a:r>
            <a:endParaRPr sz="2000"/>
          </a:p>
          <a:p>
            <a:pPr indent="0" algn="just">
              <a:lnSpc>
                <a:spcPct val="40000"/>
              </a:lnSpc>
              <a:buFont typeface="Arial" panose="020B0604020202020204" pitchFamily="34" charset="0"/>
              <a:buNone/>
              <a:defRPr sz="1400">
                <a:latin typeface="Times New Roman" panose="02020603050405020304"/>
              </a:defRPr>
            </a:pPr>
            <a:endParaRPr sz="2000"/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 It isolates managerial oversight from driver operations, ensuring sensitive telematics, vehicle controls, and financial revenue logs are strictly protected via enterprise cryptographic standards.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469388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2868549"/>
            <a:ext cx="11274552" cy="303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Dual Role-Based Access Control (RBAC) separates Fleet Managers (fleet dispatch, predictive maintenance, analytics) from Commercial Drivers (personal routes, shift revenue, vehicle inspection).</a:t>
            </a:r>
            <a:endParaRPr sz="2000"/>
          </a:p>
          <a:p>
            <a:pPr>
              <a:lnSpc>
                <a:spcPct val="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Cryptographic Security with bcrypt password hashing (12 adaptive salt rounds) and signed JSON Web Tokens (JWT) with configurable expiry and automatic token renewal.</a:t>
            </a:r>
            <a:endParaRPr sz="2000"/>
          </a:p>
          <a:p>
            <a:pPr>
              <a:lnSpc>
                <a:spcPct val="2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lnSpc>
                <a:spcPct val="4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Asynchronous Telematics Ingestion Pipeline handles high-throughput vehicle sensor payloads (GPS, speed, cell voltage, temperature) with transactional integrity in SQLite / PostgreSQL.</a:t>
            </a:r>
            <a:endParaRPr sz="2000"/>
          </a:p>
          <a:p>
            <a:pPr>
              <a:lnSpc>
                <a:spcPct val="5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Dedicated Driver Portal (/app/driver-dashboard) allows operators to review assigned EV specs, daily trip earnings, upcoming maintenance bookings, and personalized safety scores.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073" y="6184639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FastAPI (Python 3.11)  |  PyJWT  |  passlib (bcrypt)  |  SQLAlchemy ORM  |  Pydantic v2  |  SQLite/Postgres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b="0"/>
              <a:t>Module 3 : Dynamic Multi-Stop Route Optimizer &amp; Global Elevation Engine</a:t>
            </a:r>
            <a:endParaRPr b="0"/>
          </a:p>
        </p:txBody>
      </p:sp>
      <p:sp>
        <p:nvSpPr>
          <p:cNvPr id="3" name="Rectangle 2"/>
          <p:cNvSpPr/>
          <p:nvPr/>
        </p:nvSpPr>
        <p:spPr>
          <a:xfrm>
            <a:off x="457200" y="81864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Dynamic Multi-Stop Route Optimizer is the core navigation intelligence engine of VoltFleet AI.</a:t>
            </a:r>
            <a:endParaRPr sz="2000"/>
          </a:p>
          <a:p>
            <a:pPr indent="0" algn="just">
              <a:lnSpc>
                <a:spcPct val="50000"/>
              </a:lnSpc>
              <a:buFont typeface="Arial" panose="020B0604020202020204" pitchFamily="34" charset="0"/>
              <a:buNone/>
              <a:defRPr sz="1400">
                <a:latin typeface="Times New Roman" panose="02020603050405020304"/>
              </a:defRPr>
            </a:pPr>
            <a:endParaRPr sz="2000"/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 It computes energy-optimal commercial delivery paths across worldwide cities, integrating 3D terrain elevation models and automated fast-charging stop recommendations to eliminate range anxiety.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2723769"/>
            <a:ext cx="11274552" cy="315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Global World Cities Database covers major metropolitan hubs across all countries with instant fuzzy search, precise geographic coordinates, and automatic route waypoints.</a:t>
            </a:r>
            <a:endParaRPr sz="2000"/>
          </a:p>
          <a:p>
            <a:pPr>
              <a:lnSpc>
                <a:spcPct val="3000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Digital Elevation Modeling integrates topographical altitude profiles to calculate climbing power penalties and downhill regenerative braking energy recovery along the route.</a:t>
            </a:r>
            <a:endParaRPr sz="2000"/>
          </a:p>
          <a:p>
            <a:pPr>
              <a:lnSpc>
                <a:spcPct val="6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Automated Fast-Charging Stop Insertion evaluates projected battery discharge curves and inserts optimal 150 kW DC charging waypoints whenever battery SOC drops below safe threshold (20%).</a:t>
            </a:r>
            <a:endParaRPr sz="2000"/>
          </a:p>
          <a:p>
            <a:pPr>
              <a:lnSpc>
                <a:spcPct val="6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Interactive Route Summary &amp; Elevation Profile Chart visualizes gradient climb (m), estimated transit time, total energy consumption (kWh), and arrival SOC %.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073" y="604019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Leaflet.js  |  Open-Meteo Elevation API  |  Haversine Geometry  |  Recharts AreaChart  |  FastAPI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sz="3600" b="0"/>
              <a:t>Module 4 : ML AI Driver Performance Scoring </a:t>
            </a:r>
            <a:endParaRPr sz="3600" b="0"/>
          </a:p>
        </p:txBody>
      </p:sp>
      <p:sp>
        <p:nvSpPr>
          <p:cNvPr id="3" name="Rectangle 2"/>
          <p:cNvSpPr/>
          <p:nvPr/>
        </p:nvSpPr>
        <p:spPr>
          <a:xfrm>
            <a:off x="457200" y="85928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ML AI Driver Performance Scoring module transforms raw telematics into actionable operator intelligence.</a:t>
            </a:r>
            <a:endParaRPr sz="2000"/>
          </a:p>
          <a:p>
            <a:pPr indent="0" algn="just">
              <a:lnSpc>
                <a:spcPct val="20000"/>
              </a:lnSpc>
              <a:buFont typeface="Arial" panose="020B0604020202020204" pitchFamily="34" charset="0"/>
              <a:buNone/>
              <a:defRPr sz="1400">
                <a:latin typeface="Times New Roman" panose="02020603050405020304"/>
              </a:defRPr>
            </a:pPr>
            <a:endParaRPr sz="2000"/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Using a trained Multiple Linear Regression model, it evaluates driver behavior across 4 key pillars — Safety, Efficiency, Battery Care, and Route Compliance — delivering automated coaching feedback to drivers.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645382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3156470"/>
            <a:ext cx="1127455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Multi-Feature ML Scoring Model evaluates daily distance, average speed, harsh braking count, rapid acceleration instances, end-of-day charge %, daily revenue, and maintenance impact.</a:t>
            </a:r>
            <a:endParaRPr sz="2000"/>
          </a:p>
          <a:p>
            <a:pPr>
              <a:lnSpc>
                <a:spcPct val="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4-Pillar Performance Radar assesses Safety Index (low incident rate), Energy Efficiency (Wh/km optimization), Battery Care (thermal/SOC preservation), and Route Adherence.</a:t>
            </a:r>
            <a:endParaRPr sz="2000"/>
          </a:p>
          <a:p>
            <a:pPr>
              <a:lnSpc>
                <a:spcPct val="4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Personalized AI Coaching Recommendations automatically generated per operator (e.g., smooth deceleration to save brake maintenance, optimal highway speeds to avoid thermal stress).</a:t>
            </a:r>
            <a:endParaRPr sz="2000"/>
          </a:p>
          <a:p>
            <a:pPr>
              <a:lnSpc>
                <a:spcPct val="5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Interactive Multi-Dimensional Telemetry Stream compares real-time speed (km/h) vs energy efficiency (%) vs motor power draw (kW) with customized operator sparklines.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073" y="6275197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Scikit-Learn (LinearRegression)  |  Pandas  |  NumPy  |  Recharts Dual-Line  |  FastAPI ML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sz="3000" b="0"/>
              <a:t>Module 5 : Physics-Informed M</a:t>
            </a:r>
            <a:r>
              <a:rPr lang="en-US" sz="3000" b="0"/>
              <a:t>L </a:t>
            </a:r>
            <a:r>
              <a:rPr sz="3000" b="0"/>
              <a:t>Range Predictor &amp; Health Analytics</a:t>
            </a:r>
            <a:endParaRPr sz="3000" b="0"/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414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Physics-Informed ML Battery Range Predictor &amp; Health Analytics module is the core battery intelligence unit of VoltFleet AI.</a:t>
            </a:r>
            <a:endParaRPr sz="2000"/>
          </a:p>
          <a:p>
            <a:pPr indent="0" algn="just">
              <a:lnSpc>
                <a:spcPct val="30000"/>
              </a:lnSpc>
              <a:buFont typeface="Arial" panose="020B0604020202020204" pitchFamily="34" charset="0"/>
              <a:buNone/>
              <a:defRPr sz="1400">
                <a:latin typeface="Times New Roman" panose="02020603050405020304"/>
              </a:defRPr>
            </a:pPr>
            <a:endParaRPr sz="2000"/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It deploys an advanced HistGradientBoosting regression model to forecast real-world available driving range and track battery State of Health (SOH) degradation across operational duty cycles.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438908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2838069"/>
            <a:ext cx="11274552" cy="300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Multi-Variable Gradient Boosting Model trained on battery capacity (kWh), current SOC %, vehicle velocity, ambient temperature (-10°C to 50°C), HVAC power draw, and route terrain elevation.</a:t>
            </a:r>
            <a:endParaRPr sz="2000"/>
          </a:p>
          <a:p>
            <a:pPr>
              <a:lnSpc>
                <a:spcPct val="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Interactive What-If Range Simulator allows dispatchers to simulate range before vehicle departure: validates mission feasibility and flags potential range deficits with visual warning cues.</a:t>
            </a:r>
            <a:endParaRPr sz="2000"/>
          </a:p>
          <a:p>
            <a:pPr>
              <a:lnSpc>
                <a:spcPct val="4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lnSpc>
                <a:spcPct val="2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Battery State of Health (SOH) Analytics tracks cell delta-voltages, internal impedance growth, and estimated capacity fade over charge-discharge cycles.</a:t>
            </a:r>
            <a:endParaRPr sz="2000"/>
          </a:p>
          <a:p>
            <a:pPr>
              <a:lnSpc>
                <a:spcPct val="4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Thermal Runaway &amp; Overheat Warnings monitor inverter and battery pack temperatures, triggering automatic alerts whenever temperature thresholds (&gt;45°C) are exceeded.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073" y="618751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Scikit-Learn (HistGradientBoostingRegressor)  |  NumPy  |  Joblib  |  Recharts RadialBar  |  FastAPI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 panose="02020603050405020304"/>
              </a:defRPr>
            </a:pPr>
            <a:r>
              <a:rPr b="0"/>
              <a:t>Module 6 : Smart Charging Scheduler &amp; Predictive Maintenance Planner</a:t>
            </a:r>
            <a:endParaRPr b="0"/>
          </a:p>
        </p:txBody>
      </p:sp>
      <p:sp>
        <p:nvSpPr>
          <p:cNvPr id="3" name="Rectangle 2"/>
          <p:cNvSpPr/>
          <p:nvPr/>
        </p:nvSpPr>
        <p:spPr>
          <a:xfrm>
            <a:off x="457200" y="819277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414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The Smart Charging Scheduler &amp; Predictive Maintenance Planner module optimizes fleet lifecycle management and operating costs.</a:t>
            </a:r>
            <a:endParaRPr sz="2000"/>
          </a:p>
          <a:p>
            <a:pPr marL="342900" indent="-342900" algn="just">
              <a:lnSpc>
                <a:spcPct val="30000"/>
              </a:lnSpc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endParaRPr sz="2000"/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latin typeface="Times New Roman" panose="02020603050405020304"/>
              </a:defRPr>
            </a:pPr>
            <a:r>
              <a:rPr sz="2000"/>
              <a:t>It synchronizes charging events with off-peak electricity tariffs and schedules preventive maintenance before mechanical or electrical failures occur, maximizing commercial vehicle uptime.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57200" y="2438908"/>
            <a:ext cx="17087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 panose="02020603050405020304"/>
              </a:defRPr>
            </a:pPr>
            <a:r>
              <a:rPr sz="2000" u="sng"/>
              <a:t>Key Features:</a:t>
            </a:r>
            <a:endParaRPr sz="2000" u="sng"/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91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r>
              <a:rPr sz="2000"/>
              <a:t>•  Off-Peak Tariff Optimization algorithms schedule depot charging during low-cost electricity windows (e.g., 23:00-06:00), reducing fleet charging costs by up to 35%.</a:t>
            </a:r>
            <a:endParaRPr sz="2000"/>
          </a:p>
          <a:p>
            <a:pPr>
              <a:lnSpc>
                <a:spcPct val="0"/>
              </a:lnSpc>
              <a:spcBef>
                <a:spcPts val="500"/>
              </a:spcBef>
              <a:spcAft>
                <a:spcPts val="300"/>
              </a:spcAft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Smart Charging Port Allocation matches vehicle battery chemistry, target departure times, and charger connector types (CCS2, Type 2, 50kW-150kW DC Fast).</a:t>
            </a:r>
            <a:endParaRPr sz="2000"/>
          </a:p>
          <a:p>
            <a:pPr>
              <a:lnSpc>
                <a:spcPct val="3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Predictive Maintenance Tracking monitors odometer milestones and sensor anomalies, auto-generating service tickets for brake pads, tire rotation, coolant flush, and battery insulation.</a:t>
            </a:r>
            <a:endParaRPr sz="2000"/>
          </a:p>
          <a:p>
            <a:pPr>
              <a:lnSpc>
                <a:spcPct val="40000"/>
              </a:lnSpc>
              <a:defRPr sz="1350">
                <a:latin typeface="Times New Roman" panose="02020603050405020304"/>
              </a:defRPr>
            </a:pPr>
            <a:endParaRPr sz="2000"/>
          </a:p>
          <a:p>
            <a:pPr>
              <a:defRPr sz="1350">
                <a:latin typeface="Times New Roman" panose="02020603050405020304"/>
              </a:defRPr>
            </a:pPr>
            <a:r>
              <a:rPr sz="2000"/>
              <a:t>•  Automated Fleet Alerts Center categorizes telemetry notifications into Critical (thermal/voltage faults), High (overdue service), and Moderate alerts with resolution workflows.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57200" y="618751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Times New Roman" panose="02020603050405020304"/>
              </a:defRPr>
            </a:pPr>
            <a:r>
              <a:t>⚙ Tech Stack:  Python datetime Scheduler  |  SQLAlchemy  |  Tailwind CSS UI  |  Recharts Timeline  |  FastAPI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sz="3600" b="0"/>
              <a:t>Example Workflow</a:t>
            </a:r>
            <a:endParaRPr sz="3600" b="0"/>
          </a:p>
        </p:txBody>
      </p:sp>
      <p:sp>
        <p:nvSpPr>
          <p:cNvPr id="3" name="TextBox 2"/>
          <p:cNvSpPr txBox="1"/>
          <p:nvPr/>
        </p:nvSpPr>
        <p:spPr>
          <a:xfrm>
            <a:off x="534924" y="770989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latin typeface="Times New Roman" panose="02020603050405020304"/>
              </a:defRPr>
            </a:pPr>
            <a:r>
              <a:rPr sz="1800"/>
              <a:t>Scenario: </a:t>
            </a:r>
            <a:r>
              <a:rPr sz="1800" b="0"/>
              <a:t>Dispatching an electric </a:t>
            </a:r>
            <a:r>
              <a:rPr lang="en-US" sz="1800" b="0"/>
              <a:t>car</a:t>
            </a:r>
            <a:r>
              <a:rPr sz="1800" b="0"/>
              <a:t> (Tata Curvv EV, 55 kWh) for an inter-city commercial route from Berlin to Munich (585 km) with mountainous terrain gradients.</a:t>
            </a:r>
            <a:endParaRPr sz="1800" b="0"/>
          </a:p>
        </p:txBody>
      </p:sp>
      <p:sp>
        <p:nvSpPr>
          <p:cNvPr id="4" name="TextBox 3"/>
          <p:cNvSpPr txBox="1"/>
          <p:nvPr/>
        </p:nvSpPr>
        <p:spPr>
          <a:xfrm>
            <a:off x="457200" y="1399032"/>
            <a:ext cx="5481320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1: Route Optimization &amp; Elevation Profiling</a:t>
            </a:r>
            <a:endParaRPr sz="1900"/>
          </a:p>
        </p:txBody>
      </p:sp>
      <p:sp>
        <p:nvSpPr>
          <p:cNvPr id="5" name="TextBox 4"/>
          <p:cNvSpPr txBox="1"/>
          <p:nvPr/>
        </p:nvSpPr>
        <p:spPr>
          <a:xfrm>
            <a:off x="777240" y="1746504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The dispatcher selects Berlin as Origin, Munich as Destination, and Leipzig as intermediate waypoint. The global elevation engine extracts the 3D altitude profile.</a:t>
            </a:r>
            <a:endParaRPr sz="1700"/>
          </a:p>
        </p:txBody>
      </p:sp>
      <p:sp>
        <p:nvSpPr>
          <p:cNvPr id="6" name="TextBox 5"/>
          <p:cNvSpPr txBox="1"/>
          <p:nvPr/>
        </p:nvSpPr>
        <p:spPr>
          <a:xfrm>
            <a:off x="777240" y="2326894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The terrain profile </a:t>
            </a:r>
            <a:r>
              <a:rPr sz="1700"/>
              <a:t>indicates a cumulative elevation climb of +450m across Bavaria. The energy consumption model computes elevation potential energy penalty.</a:t>
            </a:r>
            <a:endParaRPr sz="1700"/>
          </a:p>
        </p:txBody>
      </p:sp>
      <p:sp>
        <p:nvSpPr>
          <p:cNvPr id="7" name="TextBox 6"/>
          <p:cNvSpPr txBox="1"/>
          <p:nvPr/>
        </p:nvSpPr>
        <p:spPr>
          <a:xfrm>
            <a:off x="457200" y="3057271"/>
            <a:ext cx="5271770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2: Physics-Informed ML Range Prediction</a:t>
            </a:r>
            <a:endParaRPr sz="1900"/>
          </a:p>
        </p:txBody>
      </p:sp>
      <p:sp>
        <p:nvSpPr>
          <p:cNvPr id="8" name="TextBox 7"/>
          <p:cNvSpPr txBox="1"/>
          <p:nvPr/>
        </p:nvSpPr>
        <p:spPr>
          <a:xfrm>
            <a:off x="777240" y="3485388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Vehicle starts at 85% SOC. Inputs: 70 km/h cruising speed, AC active (1), 28°C ambient temperature, and +450m elevation gain.</a:t>
            </a:r>
            <a:endParaRPr sz="1700"/>
          </a:p>
        </p:txBody>
      </p:sp>
      <p:sp>
        <p:nvSpPr>
          <p:cNvPr id="9" name="TextBox 8"/>
          <p:cNvSpPr txBox="1"/>
          <p:nvPr/>
        </p:nvSpPr>
        <p:spPr>
          <a:xfrm>
            <a:off x="777240" y="4138168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HistGradientBoosting model predicts effective single-charge range of 308 km. Range deficit of 277 km is flagged: system triggers automatic charging stop insertion.</a:t>
            </a:r>
            <a:endParaRPr sz="1700"/>
          </a:p>
        </p:txBody>
      </p:sp>
      <p:sp>
        <p:nvSpPr>
          <p:cNvPr id="10" name="TextBox 9"/>
          <p:cNvSpPr txBox="1"/>
          <p:nvPr/>
        </p:nvSpPr>
        <p:spPr>
          <a:xfrm>
            <a:off x="457200" y="4759325"/>
            <a:ext cx="5396865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3: Automated Fast-Charging Stop Insertion</a:t>
            </a:r>
            <a:endParaRPr sz="1900"/>
          </a:p>
        </p:txBody>
      </p:sp>
      <p:sp>
        <p:nvSpPr>
          <p:cNvPr id="11" name="TextBox 10"/>
          <p:cNvSpPr txBox="1"/>
          <p:nvPr/>
        </p:nvSpPr>
        <p:spPr>
          <a:xfrm>
            <a:off x="777240" y="5195697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Route Optimizer identifies high-speed 150 kW DC charging hub at Leipzig (km 180) and Nuremberg (km 420), scheduling 28-minute top-up intervals.</a:t>
            </a:r>
            <a:endParaRPr sz="1700"/>
          </a:p>
        </p:txBody>
      </p:sp>
      <p:sp>
        <p:nvSpPr>
          <p:cNvPr id="12" name="TextBox 11"/>
          <p:cNvSpPr txBox="1"/>
          <p:nvPr/>
        </p:nvSpPr>
        <p:spPr>
          <a:xfrm>
            <a:off x="777240" y="5802757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Updated route itinerary guarantees vehicle never drops below 22% SOC at any point along the route, completely eliminating mid-transit range anxiety.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sz="3600" b="0"/>
              <a:t>Example Workflow</a:t>
            </a:r>
            <a:endParaRPr sz="3600" b="0"/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284470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4: Live Telematics Ingestion &amp; Monitoring</a:t>
            </a:r>
            <a:endParaRPr sz="1900"/>
          </a:p>
        </p:txBody>
      </p:sp>
      <p:sp>
        <p:nvSpPr>
          <p:cNvPr id="4" name="TextBox 3"/>
          <p:cNvSpPr txBox="1"/>
          <p:nvPr/>
        </p:nvSpPr>
        <p:spPr>
          <a:xfrm>
            <a:off x="777240" y="1307592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During transit, real-time IoT telematics continuously stream vehicle GPS coordinates, speed logs, battery voltage, and inverter temperature to Fleet Command Center.</a:t>
            </a:r>
            <a:endParaRPr sz="1700"/>
          </a:p>
        </p:txBody>
      </p:sp>
      <p:sp>
        <p:nvSpPr>
          <p:cNvPr id="5" name="TextBox 4"/>
          <p:cNvSpPr txBox="1"/>
          <p:nvPr/>
        </p:nvSpPr>
        <p:spPr>
          <a:xfrm>
            <a:off x="777240" y="1940687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Interactive Leaflet map updates vehicle location marker; battery SOH remains steady at 98%, and motor inverter temperature stabilizes at 38°C.</a:t>
            </a:r>
            <a:endParaRPr sz="1700"/>
          </a:p>
        </p:txBody>
      </p:sp>
      <p:sp>
        <p:nvSpPr>
          <p:cNvPr id="6" name="TextBox 5"/>
          <p:cNvSpPr txBox="1"/>
          <p:nvPr/>
        </p:nvSpPr>
        <p:spPr>
          <a:xfrm>
            <a:off x="457200" y="2593594"/>
            <a:ext cx="5427345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5: ML Driver Behavior Scoring &amp; Coaching</a:t>
            </a:r>
            <a:endParaRPr sz="1900"/>
          </a:p>
        </p:txBody>
      </p:sp>
      <p:sp>
        <p:nvSpPr>
          <p:cNvPr id="7" name="TextBox 6"/>
          <p:cNvSpPr txBox="1"/>
          <p:nvPr/>
        </p:nvSpPr>
        <p:spPr>
          <a:xfrm>
            <a:off x="777240" y="3039491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Driver Maya Chen (DRV_001) logs smooth highway driving with 5.3 harsh decelerations/day and 62.2 km/h average velocity. AI model computes 91/100 performance score.</a:t>
            </a:r>
            <a:endParaRPr sz="1700"/>
          </a:p>
        </p:txBody>
      </p:sp>
      <p:sp>
        <p:nvSpPr>
          <p:cNvPr id="8" name="TextBox 7"/>
          <p:cNvSpPr txBox="1"/>
          <p:nvPr/>
        </p:nvSpPr>
        <p:spPr>
          <a:xfrm>
            <a:off x="777240" y="3648456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Safety Score: 87/100 | Efficiency Score: 92/100 | Battery Care: 87/100. System generates instant coaching: 'Coach driver on smooth deceleration to save brake maintenance.'</a:t>
            </a:r>
            <a:endParaRPr sz="1700"/>
          </a:p>
        </p:txBody>
      </p:sp>
      <p:sp>
        <p:nvSpPr>
          <p:cNvPr id="9" name="TextBox 8"/>
          <p:cNvSpPr txBox="1"/>
          <p:nvPr/>
        </p:nvSpPr>
        <p:spPr>
          <a:xfrm>
            <a:off x="457200" y="4370578"/>
            <a:ext cx="6076315" cy="383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 panose="02020603050405020304"/>
              </a:defRPr>
            </a:pPr>
            <a:r>
              <a:rPr sz="1900"/>
              <a:t>•  Step 6: Smart Charging &amp; Predictive Maintenance Log</a:t>
            </a:r>
            <a:endParaRPr sz="1900"/>
          </a:p>
        </p:txBody>
      </p:sp>
      <p:sp>
        <p:nvSpPr>
          <p:cNvPr id="10" name="TextBox 9"/>
          <p:cNvSpPr txBox="1"/>
          <p:nvPr/>
        </p:nvSpPr>
        <p:spPr>
          <a:xfrm>
            <a:off x="777240" y="4862195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Vehicle reaches destination hub in Munich. Scheduled overnight depot charging engages automatically at 23:00 under off-peak tariff rate ($0.12/kWh vs $0.34 peak).</a:t>
            </a:r>
            <a:endParaRPr sz="1700"/>
          </a:p>
        </p:txBody>
      </p:sp>
      <p:sp>
        <p:nvSpPr>
          <p:cNvPr id="11" name="TextBox 10"/>
          <p:cNvSpPr txBox="1"/>
          <p:nvPr/>
        </p:nvSpPr>
        <p:spPr>
          <a:xfrm>
            <a:off x="777240" y="5490210"/>
            <a:ext cx="1078992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Times New Roman" panose="02020603050405020304"/>
              </a:defRPr>
            </a:pPr>
            <a:r>
              <a:rPr sz="1700"/>
              <a:t>Telemetry logs trip completion: 585 km covered, $256 revenue generated. Predictive maintenance schedules routine brake pad inspection at 50,000 km milestone.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latin typeface="Times New Roman" panose="02020603050405020304"/>
              </a:defRPr>
            </a:pPr>
            <a:r>
              <a:rPr sz="3600" b="0"/>
              <a:t>Example Workflow</a:t>
            </a:r>
            <a:endParaRPr sz="3600" b="0"/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latin typeface="Times New Roman" panose="02020603050405020304"/>
              </a:defRPr>
            </a:pPr>
            <a:r>
              <a:rPr sz="2100"/>
              <a:t>Outcome &amp; System Value</a:t>
            </a:r>
            <a:endParaRPr sz="2100"/>
          </a:p>
        </p:txBody>
      </p:sp>
      <p:sp>
        <p:nvSpPr>
          <p:cNvPr id="4" name="TextBox 3"/>
          <p:cNvSpPr txBox="1"/>
          <p:nvPr/>
        </p:nvSpPr>
        <p:spPr>
          <a:xfrm>
            <a:off x="457200" y="1568958"/>
            <a:ext cx="11274552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latin typeface="Times New Roman" panose="02020603050405020304"/>
              </a:defRPr>
            </a:pPr>
            <a:r>
              <a:rPr sz="1800"/>
              <a:t>❖ </a:t>
            </a:r>
            <a:r>
              <a:rPr sz="1800" b="1"/>
              <a:t>Zero En-Route Stranding &amp; Mission Assurance</a:t>
            </a:r>
            <a:r>
              <a:rPr sz="1800"/>
              <a:t>: Combining physics-informed ML range prediction with automated charging waypoints eliminated range uncertainty across the 585 km cross-city delivery, ensuring the vehicle arrived with 24% residual SOC and zero emergency stops.</a:t>
            </a:r>
            <a:endParaRPr sz="1800"/>
          </a:p>
          <a:p>
            <a:pPr>
              <a:defRPr sz="1450">
                <a:latin typeface="Times New Roman" panose="02020603050405020304"/>
              </a:defRPr>
            </a:pPr>
            <a:endParaRPr sz="1800" dirty="0"/>
          </a:p>
          <a:p>
            <a:pPr>
              <a:defRPr sz="1450">
                <a:latin typeface="Times New Roman" panose="02020603050405020304"/>
              </a:defRPr>
            </a:pPr>
            <a:r>
              <a:rPr sz="1800"/>
              <a:t>❖ </a:t>
            </a:r>
            <a:r>
              <a:rPr sz="1800" b="1"/>
              <a:t>31.4% Operational Energy &amp; Charging Cost Savings</a:t>
            </a:r>
            <a:r>
              <a:rPr sz="1800"/>
              <a:t>: Strategic routing considering elevation regen recovery and automated overnight off-peak charging reduced total trip energy costs from $68.40 (unoptimized ad-hoc fast charging) to $46.90, yielding direct bottom-line fleet savings.</a:t>
            </a:r>
            <a:endParaRPr sz="1800"/>
          </a:p>
          <a:p>
            <a:pPr>
              <a:defRPr sz="1450">
                <a:latin typeface="Times New Roman" panose="02020603050405020304"/>
              </a:defRPr>
            </a:pPr>
            <a:endParaRPr sz="1800"/>
          </a:p>
          <a:p>
            <a:pPr>
              <a:defRPr sz="1450">
                <a:latin typeface="Times New Roman" panose="02020603050405020304"/>
              </a:defRPr>
            </a:pPr>
            <a:r>
              <a:rPr sz="1800"/>
              <a:t>❖ </a:t>
            </a:r>
            <a:r>
              <a:rPr sz="1800" b="1"/>
              <a:t>Battery Health Preservation &amp; Proactive Uptime</a:t>
            </a:r>
            <a:r>
              <a:rPr sz="1800"/>
              <a:t>: AI driver coaching on smooth deceleration reduced battery thermal discharge spikes, extending battery pack lifecycle by an estimated 18-22%, while automated predictive maintenance prevented unscheduled vehicle downtime.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19567</Words>
  <Application>WPS Presentation</Application>
  <PresentationFormat>Custom</PresentationFormat>
  <Paragraphs>386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Mithilesh Sundaresan</cp:lastModifiedBy>
  <cp:revision>55</cp:revision>
  <dcterms:created xsi:type="dcterms:W3CDTF">2013-01-27T09:14:00Z</dcterms:created>
  <dcterms:modified xsi:type="dcterms:W3CDTF">2026-09-24T04:57:50Z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4180FA8E32CE403DBBFB0F89355CE697_12</vt:lpwstr>
  </property>
</Properties>
</file>