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package/2006/relationships/metadata/thumbnail" Target="docProps/thumbnail.jpeg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 showGuide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457200" y="1371600"/>
            <a:ext cx="11274552" cy="36576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508760"/>
            <a:ext cx="1127455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 i="0">
                <a:solidFill>
                  <a:srgbClr val="000000"/>
                </a:solidFill>
                <a:latin typeface="Times New Roman" panose="02020603050405020304"/>
              </a:defRPr>
            </a:pPr>
            <a:r>
              <a:rPr sz="2800" b="1" i="0">
                <a:solidFill>
                  <a:srgbClr val="000000"/>
                </a:solidFill>
                <a:latin typeface="Times New Roman"/>
              </a:rPr>
              <a:t>VoltFleet AI: Intelligent EV Fleet Management, Predictive Battery Analytics &amp; Route Optimization</a:t>
            </a:r>
            <a:endParaRPr sz="3600" b="0" u="none" dirty="0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457200" y="3154680"/>
            <a:ext cx="11274552" cy="36576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3364992"/>
            <a:ext cx="548640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 i="0">
                <a:solidFill>
                  <a:srgbClr val="000000"/>
                </a:solidFill>
                <a:latin typeface="Times New Roman" panose="02020603050405020304"/>
              </a:defRPr>
            </a:pPr>
            <a:r>
              <a:rPr sz="1500" b="1" i="0">
                <a:solidFill>
                  <a:srgbClr val="000000"/>
                </a:solidFill>
                <a:latin typeface="Times New Roman"/>
              </a:rPr>
              <a:t>Zeroth Project Review - Domain Presentation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767328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 i="0">
                <a:solidFill>
                  <a:srgbClr val="000000"/>
                </a:solidFill>
                <a:latin typeface="Times New Roman"/>
              </a:defRPr>
            </a:pPr>
            <a:r>
              <a:rPr sz="1500" b="1" i="0">
                <a:solidFill>
                  <a:srgbClr val="000000"/>
                </a:solidFill>
                <a:latin typeface="Times New Roman"/>
              </a:rPr>
              <a:t>TEAM MEMBERS:</a:t>
            </a:r>
            <a:endParaRPr sz="1500" b="1" u="none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48640" y="4187952"/>
            <a:ext cx="5486400" cy="306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 i="0">
                <a:solidFill>
                  <a:srgbClr val="000000"/>
                </a:solidFill>
                <a:latin typeface="Times New Roman"/>
              </a:defRPr>
            </a:pPr>
            <a:r>
              <a:rPr sz="1400" b="0" i="0">
                <a:solidFill>
                  <a:srgbClr val="000000"/>
                </a:solidFill>
                <a:latin typeface="Times New Roman"/>
              </a:rPr>
              <a:t>MITHILESH S  -  23UCS100</a:t>
            </a:r>
            <a:endParaRPr sz="1400" b="0" u="none" dirty="0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48640" y="4690872"/>
            <a:ext cx="5486400" cy="306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 i="0">
                <a:solidFill>
                  <a:srgbClr val="000000"/>
                </a:solidFill>
                <a:latin typeface="Times New Roman"/>
              </a:defRPr>
            </a:pPr>
            <a:r>
              <a:rPr sz="1400" b="0" i="0">
                <a:solidFill>
                  <a:srgbClr val="000000"/>
                </a:solidFill>
                <a:latin typeface="Times New Roman"/>
              </a:rPr>
              <a:t>MATHIVANAN M -  23UCS099</a:t>
            </a:r>
            <a:endParaRPr lang="en-US" altLang="en-IN" sz="1400" b="0" u="none" dirty="0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48640" y="5146167"/>
            <a:ext cx="5486400" cy="306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 i="0">
                <a:solidFill>
                  <a:srgbClr val="000000"/>
                </a:solidFill>
                <a:latin typeface="Times New Roman"/>
              </a:defRPr>
            </a:pPr>
            <a:r>
              <a:rPr sz="1400" b="0" i="0">
                <a:solidFill>
                  <a:srgbClr val="000000"/>
                </a:solidFill>
                <a:latin typeface="Times New Roman"/>
              </a:rPr>
              <a:t>VISHNU K N -  23UCS079</a:t>
            </a:r>
            <a:endParaRPr sz="1400" b="0" u="none" dirty="0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611112" y="3493008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 i="0">
                <a:solidFill>
                  <a:srgbClr val="000000"/>
                </a:solidFill>
                <a:latin typeface="Times New Roman"/>
              </a:defRPr>
            </a:pPr>
            <a:r>
              <a:rPr sz="1500" b="1" i="0">
                <a:solidFill>
                  <a:srgbClr val="000000"/>
                </a:solidFill>
                <a:latin typeface="Times New Roman"/>
              </a:rPr>
              <a:t>PROJECT GUIDE:</a:t>
            </a:r>
            <a:endParaRPr sz="1500" b="1" u="none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611112" y="3950208"/>
            <a:ext cx="5029200" cy="306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 i="0">
                <a:solidFill>
                  <a:srgbClr val="000000"/>
                </a:solidFill>
                <a:latin typeface="Times New Roman"/>
              </a:defRPr>
            </a:pPr>
            <a:r>
              <a:rPr sz="1400" b="1" i="0">
                <a:solidFill>
                  <a:srgbClr val="000000"/>
                </a:solidFill>
                <a:latin typeface="Times New Roman"/>
              </a:rPr>
              <a:t>Mrs. P. NIRMALADEVI</a:t>
            </a:r>
            <a:endParaRPr lang="en-IN" sz="1400" dirty="0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611112" y="4425696"/>
            <a:ext cx="5029200" cy="306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000000"/>
                </a:solidFill>
                <a:latin typeface="Times New Roman"/>
              </a:defRPr>
            </a:pPr>
            <a:r>
              <a:rPr sz="1400" b="0" i="0">
                <a:solidFill>
                  <a:srgbClr val="000000"/>
                </a:solidFill>
                <a:latin typeface="Times New Roman"/>
              </a:rPr>
              <a:t>Associate Professor</a:t>
            </a:r>
            <a:endParaRPr sz="1400" b="0" u="none" dirty="0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611112" y="4901184"/>
            <a:ext cx="50292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 i="0">
                <a:solidFill>
                  <a:srgbClr val="000000"/>
                </a:solidFill>
                <a:latin typeface="Times New Roman"/>
              </a:defRPr>
            </a:pPr>
            <a:r>
              <a:rPr sz="1400" b="0" i="0">
                <a:solidFill>
                  <a:srgbClr val="000000"/>
                </a:solidFill>
                <a:latin typeface="Times New Roman"/>
              </a:rPr>
              <a:t>Department Of Computer Science And Engineering</a:t>
            </a:r>
            <a:endParaRPr lang="en-IN" sz="1400" dirty="0">
              <a:solidFill>
                <a:srgbClr val="000000"/>
              </a:solidFill>
              <a:latin typeface="Times New Roman" panose="02020603050405020304"/>
            </a:endParaRPr>
          </a:p>
        </p:txBody>
      </p:sp>
      <p:pic>
        <p:nvPicPr>
          <p:cNvPr id="21" name="Picture 20" descr="college_logo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1" y="27900"/>
            <a:ext cx="11274552" cy="1285717"/>
          </a:xfrm>
          <a:prstGeom prst="rect">
            <a:avLst/>
          </a:prstGeom>
        </p:spPr>
      </p:pic>
      <p:sp>
        <p:nvSpPr>
          <p:cNvPr id="2" name="Text Box 1"/>
          <p:cNvSpPr txBox="1"/>
          <p:nvPr/>
        </p:nvSpPr>
        <p:spPr>
          <a:xfrm>
            <a:off x="548640" y="5600700"/>
            <a:ext cx="3601085" cy="5365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>
              <a:defRPr sz="1400" b="0" i="0">
                <a:solidFill>
                  <a:srgbClr val="000000"/>
                </a:solidFill>
                <a:latin typeface="Times New Roman"/>
              </a:defRPr>
            </a:pPr>
            <a:r>
              <a:rPr sz="1400" b="0" i="0">
                <a:solidFill>
                  <a:srgbClr val="000000"/>
                </a:solidFill>
                <a:latin typeface="Times New Roman"/>
              </a:rPr>
              <a:t>NISHAN S - 23UCS0108</a:t>
            </a:r>
            <a:endParaRPr lang="en-US" sz="14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11274552" cy="645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3400" b="1" i="0">
                <a:solidFill>
                  <a:srgbClr val="000000"/>
                </a:solidFill>
                <a:latin typeface="Times New Roman"/>
              </a:defRPr>
            </a:pPr>
            <a:r>
              <a:rPr sz="3400" b="1" i="0">
                <a:solidFill>
                  <a:srgbClr val="000000"/>
                </a:solidFill>
                <a:latin typeface="Times New Roman"/>
              </a:rPr>
              <a:t>Domain Introduction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24357"/>
            <a:ext cx="11274552" cy="27432"/>
          </a:xfrm>
          <a:prstGeom prst="rect">
            <a:avLst/>
          </a:prstGeom>
          <a:solidFill>
            <a:srgbClr val="1A1A1A"/>
          </a:solidFill>
          <a:ln w="952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860000"/>
            <a:ext cx="11274552" cy="2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0" i="1">
                <a:solidFill>
                  <a:srgbClr val="646464"/>
                </a:solidFill>
                <a:latin typeface="Times New Roman"/>
              </a:defRPr>
            </a:pPr>
            <a:r>
              <a:rPr sz="1500" b="0" i="1">
                <a:solidFill>
                  <a:srgbClr val="646464"/>
                </a:solidFill>
                <a:latin typeface="Times New Roman"/>
              </a:rPr>
              <a:t>Core Technological Pillars of VoltFleet AI &amp; Modern EV Telematics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00000"/>
            <a:ext cx="11274552" cy="52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300"/>
              </a:spcBef>
              <a:spcAft>
                <a:spcPts val="1100"/>
              </a:spcAft>
              <a:defRPr sz="1650" b="0" i="0">
                <a:solidFill>
                  <a:srgbClr val="1A1A1A"/>
                </a:solidFill>
                <a:latin typeface="Times New Roman"/>
              </a:defRPr>
            </a:pPr>
            <a:r>
              <a:rPr sz="1700" b="1" i="0">
                <a:solidFill>
                  <a:srgbClr val="000000"/>
                </a:solidFill>
                <a:latin typeface="Times New Roman"/>
              </a:rPr>
              <a:t>❖  </a:t>
            </a:r>
            <a:r>
              <a:rPr sz="1700" b="1" i="0">
                <a:solidFill>
                  <a:srgbClr val="000000"/>
                </a:solidFill>
                <a:latin typeface="Times New Roman"/>
              </a:rPr>
              <a:t>Electric Vehicle (EV) Telematics &amp; IoT Ingestion: </a:t>
            </a:r>
            <a:r>
              <a:rPr sz="1650" b="0" i="0">
                <a:solidFill>
                  <a:srgbClr val="1A1A1A"/>
                </a:solidFill>
                <a:latin typeface="Times New Roman"/>
              </a:rPr>
              <a:t>is the technology infrastructure that extracts real-time vehicular parameters (battery SOC, pack voltage, current velocity, motor power draw, inverter temperature) directly from CAN-bus interfaces. It provides continuous, millisecond-level telemetry streaming to central cloud dispatchers.</a:t>
            </a:r>
          </a:p>
          <a:p>
            <a:pPr>
              <a:spcBef>
                <a:spcPts val="300"/>
              </a:spcBef>
              <a:spcAft>
                <a:spcPts val="1100"/>
              </a:spcAft>
              <a:defRPr sz="1650" b="0" i="0">
                <a:solidFill>
                  <a:srgbClr val="1A1A1A"/>
                </a:solidFill>
                <a:latin typeface="Times New Roman"/>
              </a:defRPr>
            </a:pPr>
            <a:r>
              <a:rPr sz="1700" b="1" i="0">
                <a:solidFill>
                  <a:srgbClr val="000000"/>
                </a:solidFill>
                <a:latin typeface="Times New Roman"/>
              </a:rPr>
              <a:t>❖  </a:t>
            </a:r>
            <a:r>
              <a:rPr sz="1700" b="1" i="0">
                <a:solidFill>
                  <a:srgbClr val="000000"/>
                </a:solidFill>
                <a:latin typeface="Times New Roman"/>
              </a:rPr>
              <a:t>Physics-Informed Machine Learning (PIML): </a:t>
            </a:r>
            <a:r>
              <a:rPr sz="1650" b="0" i="0">
                <a:solidFill>
                  <a:srgbClr val="1A1A1A"/>
                </a:solidFill>
                <a:latin typeface="Times New Roman"/>
              </a:rPr>
              <a:t>is an emerging AI discipline combining empirical data-driven learning with fundamental physical &amp; electrochemical laws (aerodynamic drag, rolling resistance, gravitational potential, battery degradation) to achieve highly accurate, generalizable range estimation and battery State of Health (SOH) forecasting across all operational duty cycles.</a:t>
            </a:r>
          </a:p>
          <a:p>
            <a:pPr>
              <a:spcBef>
                <a:spcPts val="300"/>
              </a:spcBef>
              <a:spcAft>
                <a:spcPts val="1100"/>
              </a:spcAft>
              <a:defRPr sz="1650" b="0" i="0">
                <a:solidFill>
                  <a:srgbClr val="1A1A1A"/>
                </a:solidFill>
                <a:latin typeface="Times New Roman"/>
              </a:defRPr>
            </a:pPr>
            <a:r>
              <a:rPr sz="1700" b="1" i="0">
                <a:solidFill>
                  <a:srgbClr val="000000"/>
                </a:solidFill>
                <a:latin typeface="Times New Roman"/>
              </a:rPr>
              <a:t>❖  </a:t>
            </a:r>
            <a:r>
              <a:rPr sz="1700" b="1" i="0">
                <a:solidFill>
                  <a:srgbClr val="000000"/>
                </a:solidFill>
                <a:latin typeface="Times New Roman"/>
              </a:rPr>
              <a:t>Geospatial Route Optimization &amp; Topographical Profiling: </a:t>
            </a:r>
            <a:r>
              <a:rPr sz="1650" b="0" i="0">
                <a:solidFill>
                  <a:srgbClr val="1A1A1A"/>
                </a:solidFill>
                <a:latin typeface="Times New Roman"/>
              </a:rPr>
              <a:t>enables intelligent commercial fleet navigation by merging digital elevation models (DEM) with live road networks, calculating elevation power penalties, downhill regenerative braking energy recovery, and automated insertion of DC fast-charging stops to eliminate mid-transit stranding.</a:t>
            </a:r>
          </a:p>
          <a:p>
            <a:pPr>
              <a:spcBef>
                <a:spcPts val="300"/>
              </a:spcBef>
              <a:spcAft>
                <a:spcPts val="1100"/>
              </a:spcAft>
              <a:defRPr sz="1650" b="0" i="0">
                <a:solidFill>
                  <a:srgbClr val="1A1A1A"/>
                </a:solidFill>
                <a:latin typeface="Times New Roman"/>
              </a:defRPr>
            </a:pPr>
            <a:r>
              <a:rPr sz="1700" b="1" i="0">
                <a:solidFill>
                  <a:srgbClr val="000000"/>
                </a:solidFill>
                <a:latin typeface="Times New Roman"/>
              </a:rPr>
              <a:t>❖  </a:t>
            </a:r>
            <a:r>
              <a:rPr sz="1700" b="1" i="0">
                <a:solidFill>
                  <a:srgbClr val="000000"/>
                </a:solidFill>
                <a:latin typeface="Times New Roman"/>
              </a:rPr>
              <a:t>Driver Telematics Analytics &amp; Behavioral AI: </a:t>
            </a:r>
            <a:r>
              <a:rPr sz="1650" b="0" i="0">
                <a:solidFill>
                  <a:srgbClr val="1A1A1A"/>
                </a:solidFill>
                <a:latin typeface="Times New Roman"/>
              </a:rPr>
              <a:t>utilizes machine learning to evaluate operator safety and energy efficiency, translating high-frequency driving patterns (acceleration jerk, harsh braking, speed consistency) into objective performance scores and personalized eco-driving guidance.</a:t>
            </a:r>
          </a:p>
          <a:p>
            <a:pPr>
              <a:spcBef>
                <a:spcPts val="300"/>
              </a:spcBef>
              <a:spcAft>
                <a:spcPts val="1100"/>
              </a:spcAft>
              <a:defRPr sz="1650" b="0" i="0">
                <a:solidFill>
                  <a:srgbClr val="1A1A1A"/>
                </a:solidFill>
                <a:latin typeface="Times New Roman"/>
              </a:defRPr>
            </a:pPr>
            <a:r>
              <a:rPr sz="1700" b="1" i="0">
                <a:solidFill>
                  <a:srgbClr val="000000"/>
                </a:solidFill>
                <a:latin typeface="Times New Roman"/>
              </a:rPr>
              <a:t>❖  </a:t>
            </a:r>
            <a:r>
              <a:rPr sz="1700" b="1" i="0">
                <a:solidFill>
                  <a:srgbClr val="000000"/>
                </a:solidFill>
                <a:latin typeface="Times New Roman"/>
              </a:rPr>
              <a:t>Cloud, Web &amp; Fleet Database Systems: </a:t>
            </a:r>
            <a:r>
              <a:rPr sz="1650" b="0" i="0">
                <a:solidFill>
                  <a:srgbClr val="1A1A1A"/>
                </a:solidFill>
                <a:latin typeface="Times New Roman"/>
              </a:rPr>
              <a:t>provide the scalable operational backbone to ingest, securely store, and visualize mission-critical fleet telemetry through high-performance real-time interactive command centers.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11274552" cy="645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3400" b="1" i="0">
                <a:solidFill>
                  <a:srgbClr val="000000"/>
                </a:solidFill>
                <a:latin typeface="Times New Roman"/>
              </a:defRPr>
            </a:pPr>
            <a:r>
              <a:rPr sz="3400" b="1" i="0">
                <a:solidFill>
                  <a:srgbClr val="000000"/>
                </a:solidFill>
                <a:latin typeface="Times New Roman"/>
              </a:rPr>
              <a:t>Domain Focus : EV Telematics &amp; CAN-Bus Ingestion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24357"/>
            <a:ext cx="11274552" cy="27432"/>
          </a:xfrm>
          <a:prstGeom prst="rect">
            <a:avLst/>
          </a:prstGeom>
          <a:solidFill>
            <a:srgbClr val="1A1A1A"/>
          </a:solidFill>
          <a:ln w="952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920000"/>
            <a:ext cx="11274552" cy="68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37200" y="960000"/>
            <a:ext cx="10914552" cy="6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800" b="0" i="0">
                <a:solidFill>
                  <a:srgbClr val="1A1A1A"/>
                </a:solidFill>
                <a:latin typeface="Times New Roman"/>
              </a:defRPr>
            </a:pPr>
            <a:r>
              <a:rPr sz="1800" b="1" i="0">
                <a:solidFill>
                  <a:srgbClr val="000000"/>
                </a:solidFill>
                <a:latin typeface="Times New Roman"/>
              </a:rPr>
              <a:t>Purpose: </a:t>
            </a:r>
            <a:r>
              <a:rPr sz="1800" b="0" i="0">
                <a:solidFill>
                  <a:srgbClr val="1A1A1A"/>
                </a:solidFill>
                <a:latin typeface="Times New Roman"/>
              </a:rPr>
              <a:t>Ingest, sanitize, and stream high-frequency vehicular telematics and sensor parameters into a unified central command hub.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20000"/>
            <a:ext cx="11274552" cy="435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000" b="1" i="0">
                <a:solidFill>
                  <a:srgbClr val="000000"/>
                </a:solidFill>
                <a:latin typeface="Times New Roman"/>
              </a:defRPr>
            </a:pPr>
            <a:r>
              <a:rPr sz="2000" b="1" i="0">
                <a:solidFill>
                  <a:srgbClr val="000000"/>
                </a:solidFill>
                <a:latin typeface="Times New Roman"/>
              </a:rPr>
              <a:t>Technologies &amp; Techniques:</a:t>
            </a:r>
          </a:p>
          <a:p>
            <a:pPr>
              <a:spcAft>
                <a:spcPts val="600"/>
              </a:spcAft>
              <a:defRPr sz="1750" b="0" i="0">
                <a:solidFill>
                  <a:srgbClr val="1A1A1A"/>
                </a:solidFill>
                <a:latin typeface="Times New Roman"/>
              </a:defRPr>
            </a:pPr>
            <a:r>
              <a:rPr sz="1750" b="0" i="0">
                <a:solidFill>
                  <a:srgbClr val="1A1A1A"/>
                </a:solidFill>
                <a:latin typeface="Times New Roman"/>
              </a:rPr>
              <a:t>•  CAN-bus OBD-II Protocol for high-frequency telemetry extraction (50–100 Hz).</a:t>
            </a:r>
          </a:p>
          <a:p>
            <a:pPr>
              <a:spcAft>
                <a:spcPts val="600"/>
              </a:spcAft>
              <a:defRPr sz="1750" b="0" i="0">
                <a:solidFill>
                  <a:srgbClr val="1A1A1A"/>
                </a:solidFill>
                <a:latin typeface="Times New Roman"/>
              </a:defRPr>
            </a:pPr>
            <a:r>
              <a:rPr sz="1750" b="0" i="0">
                <a:solidFill>
                  <a:srgbClr val="1A1A1A"/>
                </a:solidFill>
                <a:latin typeface="Times New Roman"/>
              </a:rPr>
              <a:t>•  Multi-parameter live streaming: SOC %, pack voltage, velocity, motor power, inverter temp, GPS.</a:t>
            </a:r>
          </a:p>
          <a:p>
            <a:pPr>
              <a:spcAft>
                <a:spcPts val="600"/>
              </a:spcAft>
              <a:defRPr sz="1750" b="0" i="0">
                <a:solidFill>
                  <a:srgbClr val="1A1A1A"/>
                </a:solidFill>
                <a:latin typeface="Times New Roman"/>
              </a:defRPr>
            </a:pPr>
            <a:r>
              <a:rPr sz="1750" b="0" i="0">
                <a:solidFill>
                  <a:srgbClr val="1A1A1A"/>
                </a:solidFill>
                <a:latin typeface="Times New Roman"/>
              </a:rPr>
              <a:t>•  Asynchronous non-blocking message processing with FastAPI &amp; WebSockets.</a:t>
            </a:r>
          </a:p>
          <a:p>
            <a:pPr>
              <a:spcAft>
                <a:spcPts val="600"/>
              </a:spcAft>
              <a:defRPr sz="1750" b="0" i="0">
                <a:solidFill>
                  <a:srgbClr val="1A1A1A"/>
                </a:solidFill>
                <a:latin typeface="Times New Roman"/>
              </a:defRPr>
            </a:pPr>
            <a:r>
              <a:rPr sz="1750" b="0" i="0">
                <a:solidFill>
                  <a:srgbClr val="1A1A1A"/>
                </a:solidFill>
                <a:latin typeface="Times New Roman"/>
              </a:rPr>
              <a:t>•  Time-series telemetry storage in SQLite / PostgreSQL with SQLAlchemy ORM.</a:t>
            </a:r>
          </a:p>
          <a:p>
            <a:pPr>
              <a:spcAft>
                <a:spcPts val="600"/>
              </a:spcAft>
              <a:defRPr sz="1750" b="0" i="0">
                <a:solidFill>
                  <a:srgbClr val="1A1A1A"/>
                </a:solidFill>
                <a:latin typeface="Times New Roman"/>
              </a:defRPr>
            </a:pPr>
            <a:r>
              <a:rPr sz="1750" b="0" i="0">
                <a:solidFill>
                  <a:srgbClr val="1A1A1A"/>
                </a:solidFill>
                <a:latin typeface="Times New Roman"/>
              </a:rPr>
              <a:t>•  Edge buffering with automatic reconnection queue for zero data loss in remote transit zones.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 b="1" i="0">
                <a:solidFill>
                  <a:srgbClr val="000000"/>
                </a:solidFill>
                <a:latin typeface="Times New Roman"/>
              </a:defRPr>
            </a:pPr>
            <a:r>
              <a:rPr sz="2000" b="1" i="0">
                <a:solidFill>
                  <a:srgbClr val="000000"/>
                </a:solidFill>
                <a:latin typeface="Times New Roman"/>
              </a:rPr>
              <a:t>Role in Our System:</a:t>
            </a:r>
          </a:p>
          <a:p>
            <a:pPr>
              <a:defRPr sz="1750" b="0" i="0">
                <a:solidFill>
                  <a:srgbClr val="1A1A1A"/>
                </a:solidFill>
                <a:latin typeface="Times New Roman"/>
              </a:defRPr>
            </a:pPr>
            <a:r>
              <a:rPr sz="1750" b="0" i="0">
                <a:solidFill>
                  <a:srgbClr val="1A1A1A"/>
                </a:solidFill>
                <a:latin typeface="Times New Roman"/>
              </a:rPr>
              <a:t>The Telematics Ingestion module serves as the primary real-time perception layer of VoltFleet AI, providing continuous ground-truth telemetry to the ML prediction engines and live command map.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187515"/>
            <a:ext cx="11274552" cy="330000"/>
          </a:xfrm>
          <a:prstGeom prst="rect">
            <a:avLst/>
          </a:prstGeom>
          <a:solidFill>
            <a:srgbClr val="EBEEF2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222515"/>
            <a:ext cx="11091672" cy="2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50" b="1" i="0">
                <a:solidFill>
                  <a:srgbClr val="1A1A1A"/>
                </a:solidFill>
                <a:latin typeface="Times New Roman"/>
              </a:defRPr>
            </a:pPr>
            <a:r>
              <a:rPr sz="1350" b="1" i="0">
                <a:solidFill>
                  <a:srgbClr val="1A1A1A"/>
                </a:solidFill>
                <a:latin typeface="Times New Roman"/>
              </a:rPr>
              <a:t>⚙ Input: CAN-bus telemetry stream (GPS, speed, SOC, voltage, temp)  |  Output: Sanitized time-series telemetry events &amp; live fleet state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11274552" cy="645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3400" b="1" i="0">
                <a:solidFill>
                  <a:srgbClr val="000000"/>
                </a:solidFill>
                <a:latin typeface="Times New Roman"/>
              </a:defRPr>
            </a:pPr>
            <a:r>
              <a:rPr sz="3400" b="1" i="0">
                <a:solidFill>
                  <a:srgbClr val="000000"/>
                </a:solidFill>
                <a:latin typeface="Times New Roman"/>
              </a:rPr>
              <a:t>Domain Focus : Physics-Informed ML &amp; Battery Analytics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24357"/>
            <a:ext cx="11274552" cy="27432"/>
          </a:xfrm>
          <a:prstGeom prst="rect">
            <a:avLst/>
          </a:prstGeom>
          <a:solidFill>
            <a:srgbClr val="1A1A1A"/>
          </a:solidFill>
          <a:ln w="952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920000"/>
            <a:ext cx="11274552" cy="68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37200" y="960000"/>
            <a:ext cx="10914552" cy="6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800" b="0" i="0">
                <a:solidFill>
                  <a:srgbClr val="1A1A1A"/>
                </a:solidFill>
                <a:latin typeface="Times New Roman"/>
              </a:defRPr>
            </a:pPr>
            <a:r>
              <a:rPr sz="1800" b="1" i="0">
                <a:solidFill>
                  <a:srgbClr val="000000"/>
                </a:solidFill>
                <a:latin typeface="Times New Roman"/>
              </a:rPr>
              <a:t>Purpose: </a:t>
            </a:r>
            <a:r>
              <a:rPr sz="1800" b="0" i="0">
                <a:solidFill>
                  <a:srgbClr val="1A1A1A"/>
                </a:solidFill>
                <a:latin typeface="Times New Roman"/>
              </a:rPr>
              <a:t>Accurately predict real-world EV driving range under dynamic operating conditions and model battery State of Health (SOH) degradation.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680000"/>
            <a:ext cx="11274552" cy="5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7200" y="1720000"/>
            <a:ext cx="10914552" cy="4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500" b="0" i="0">
                <a:solidFill>
                  <a:srgbClr val="1A1A1A"/>
                </a:solidFill>
                <a:latin typeface="Times New Roman"/>
              </a:defRPr>
            </a:pPr>
            <a:r>
              <a:rPr sz="1550" b="1" i="0">
                <a:solidFill>
                  <a:srgbClr val="000000"/>
                </a:solidFill>
                <a:latin typeface="Times New Roman"/>
              </a:rPr>
              <a:t>Processing Pipeline:  </a:t>
            </a:r>
            <a:r>
              <a:rPr sz="1500" b="0" i="0">
                <a:solidFill>
                  <a:srgbClr val="1A1A1A"/>
                </a:solidFill>
                <a:latin typeface="Times New Roman"/>
              </a:rPr>
              <a:t>Telematics Ingestion  ➔  Feature Engineering (SOC, Velocity, Temp, Elevation)  ➔  HistGradientBoosting  ➔  Range Deficit Alert  ➔  SOH Fade Tracking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280000"/>
            <a:ext cx="11274552" cy="38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2000" b="1" i="0">
                <a:solidFill>
                  <a:srgbClr val="000000"/>
                </a:solidFill>
                <a:latin typeface="Times New Roman"/>
              </a:defRPr>
            </a:pPr>
            <a:r>
              <a:rPr sz="2000" b="1" i="0">
                <a:solidFill>
                  <a:srgbClr val="000000"/>
                </a:solidFill>
                <a:latin typeface="Times New Roman"/>
              </a:rPr>
              <a:t>Techniques Used:</a:t>
            </a:r>
          </a:p>
          <a:p>
            <a:pPr>
              <a:spcAft>
                <a:spcPts val="500"/>
              </a:spcAft>
              <a:defRPr sz="1700" b="0" i="0">
                <a:solidFill>
                  <a:srgbClr val="1A1A1A"/>
                </a:solidFill>
                <a:latin typeface="Times New Roman"/>
              </a:defRPr>
            </a:pPr>
            <a:r>
              <a:rPr sz="1700" b="0" i="0">
                <a:solidFill>
                  <a:srgbClr val="1A1A1A"/>
                </a:solidFill>
                <a:latin typeface="Times New Roman"/>
              </a:rPr>
              <a:t>•  Multi-variable gradient boosting regression (HistGradientBoosting / RandomForest) trained on vehicle dynamics.</a:t>
            </a:r>
          </a:p>
          <a:p>
            <a:pPr>
              <a:spcAft>
                <a:spcPts val="500"/>
              </a:spcAft>
              <a:defRPr sz="1700" b="0" i="0">
                <a:solidFill>
                  <a:srgbClr val="1A1A1A"/>
                </a:solidFill>
                <a:latin typeface="Times New Roman"/>
              </a:defRPr>
            </a:pPr>
            <a:r>
              <a:rPr sz="1700" b="0" i="0">
                <a:solidFill>
                  <a:srgbClr val="1A1A1A"/>
                </a:solidFill>
                <a:latin typeface="Times New Roman"/>
              </a:rPr>
              <a:t>•  Physical energy balance modeling (aerodynamic drag, rolling resistance, elevation potential energy).</a:t>
            </a:r>
          </a:p>
          <a:p>
            <a:pPr>
              <a:spcAft>
                <a:spcPts val="500"/>
              </a:spcAft>
              <a:defRPr sz="1700" b="0" i="0">
                <a:solidFill>
                  <a:srgbClr val="1A1A1A"/>
                </a:solidFill>
                <a:latin typeface="Times New Roman"/>
              </a:defRPr>
            </a:pPr>
            <a:r>
              <a:rPr sz="1700" b="0" i="0">
                <a:solidFill>
                  <a:srgbClr val="1A1A1A"/>
                </a:solidFill>
                <a:latin typeface="Times New Roman"/>
              </a:rPr>
              <a:t>•  Ambient temperature thermal efficiency compensation curves (-10°C to 50°C).</a:t>
            </a:r>
          </a:p>
          <a:p>
            <a:pPr>
              <a:spcAft>
                <a:spcPts val="500"/>
              </a:spcAft>
              <a:defRPr sz="1700" b="0" i="0">
                <a:solidFill>
                  <a:srgbClr val="1A1A1A"/>
                </a:solidFill>
                <a:latin typeface="Times New Roman"/>
              </a:defRPr>
            </a:pPr>
            <a:r>
              <a:rPr sz="1700" b="0" i="0">
                <a:solidFill>
                  <a:srgbClr val="1A1A1A"/>
                </a:solidFill>
                <a:latin typeface="Times New Roman"/>
              </a:rPr>
              <a:t>•  Cell delta-voltage and internal impedance monitoring for SOH capacity fade.</a:t>
            </a:r>
          </a:p>
          <a:p>
            <a:pPr>
              <a:spcAft>
                <a:spcPts val="500"/>
              </a:spcAft>
              <a:defRPr sz="1700" b="0" i="0">
                <a:solidFill>
                  <a:srgbClr val="1A1A1A"/>
                </a:solidFill>
                <a:latin typeface="Times New Roman"/>
              </a:defRPr>
            </a:pPr>
            <a:r>
              <a:rPr sz="1700" b="0" i="0">
                <a:solidFill>
                  <a:srgbClr val="1A1A1A"/>
                </a:solidFill>
                <a:latin typeface="Times New Roman"/>
              </a:rPr>
              <a:t>•  Real-time range deficit warning algorithms before vehicle departure.</a:t>
            </a:r>
          </a:p>
          <a:p>
            <a:pPr>
              <a:spcBef>
                <a:spcPts val="1000"/>
              </a:spcBef>
              <a:spcAft>
                <a:spcPts val="400"/>
              </a:spcAft>
              <a:defRPr sz="2000" b="1" i="0">
                <a:solidFill>
                  <a:srgbClr val="000000"/>
                </a:solidFill>
                <a:latin typeface="Times New Roman"/>
              </a:defRPr>
            </a:pPr>
            <a:r>
              <a:rPr sz="2000" b="1" i="0">
                <a:solidFill>
                  <a:srgbClr val="000000"/>
                </a:solidFill>
                <a:latin typeface="Times New Roman"/>
              </a:rPr>
              <a:t>Role in Our System:</a:t>
            </a:r>
          </a:p>
          <a:p>
            <a:pPr>
              <a:defRPr sz="1700" b="0" i="0">
                <a:solidFill>
                  <a:srgbClr val="1A1A1A"/>
                </a:solidFill>
                <a:latin typeface="Times New Roman"/>
              </a:defRPr>
            </a:pPr>
            <a:r>
              <a:rPr sz="1700" b="0" i="0">
                <a:solidFill>
                  <a:srgbClr val="1A1A1A"/>
                </a:solidFill>
                <a:latin typeface="Times New Roman"/>
              </a:rPr>
              <a:t>Acts as the core battery intelligence engine, replacing naive dashboard averages with physically grounded range forecasts to completely eliminate range anxiety.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6187515"/>
            <a:ext cx="11274552" cy="330000"/>
          </a:xfrm>
          <a:prstGeom prst="rect">
            <a:avLst/>
          </a:prstGeom>
          <a:solidFill>
            <a:srgbClr val="EBEEF2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222515"/>
            <a:ext cx="11091672" cy="2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50" b="1" i="0">
                <a:solidFill>
                  <a:srgbClr val="1A1A1A"/>
                </a:solidFill>
                <a:latin typeface="Times New Roman"/>
              </a:defRPr>
            </a:pPr>
            <a:r>
              <a:rPr sz="1350" b="1" i="0">
                <a:solidFill>
                  <a:srgbClr val="1A1A1A"/>
                </a:solidFill>
                <a:latin typeface="Times New Roman"/>
              </a:rPr>
              <a:t>⚙ Input: Battery capacity (kWh), SOC %, velocity, outside temp, elevation, HVAC  |  Output: Dynamic remaining range (km), range deficit flag, battery SOH %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11274552" cy="645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3400" b="1" i="0">
                <a:solidFill>
                  <a:srgbClr val="000000"/>
                </a:solidFill>
                <a:latin typeface="Times New Roman"/>
              </a:defRPr>
            </a:pPr>
            <a:r>
              <a:rPr sz="3400" b="1" i="0">
                <a:solidFill>
                  <a:srgbClr val="000000"/>
                </a:solidFill>
                <a:latin typeface="Times New Roman"/>
              </a:rPr>
              <a:t>Domain Focus : Geospatial Routing &amp; Elevation Profiling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24357"/>
            <a:ext cx="11274552" cy="27432"/>
          </a:xfrm>
          <a:prstGeom prst="rect">
            <a:avLst/>
          </a:prstGeom>
          <a:solidFill>
            <a:srgbClr val="1A1A1A"/>
          </a:solidFill>
          <a:ln w="952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920000"/>
            <a:ext cx="11274552" cy="68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37200" y="960000"/>
            <a:ext cx="10914552" cy="6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800" b="0" i="0">
                <a:solidFill>
                  <a:srgbClr val="1A1A1A"/>
                </a:solidFill>
                <a:latin typeface="Times New Roman"/>
              </a:defRPr>
            </a:pPr>
            <a:r>
              <a:rPr sz="1800" b="1" i="0">
                <a:solidFill>
                  <a:srgbClr val="000000"/>
                </a:solidFill>
                <a:latin typeface="Times New Roman"/>
              </a:rPr>
              <a:t>Purpose: </a:t>
            </a:r>
            <a:r>
              <a:rPr sz="1800" b="0" i="0">
                <a:solidFill>
                  <a:srgbClr val="1A1A1A"/>
                </a:solidFill>
                <a:latin typeface="Times New Roman"/>
              </a:rPr>
              <a:t>Formulate energy-optimal multi-stop transit routes balancing distance, topographical elevation gradients, and automated charging waypoint insertion.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00000"/>
            <a:ext cx="11274552" cy="435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2000" b="1" i="0">
                <a:solidFill>
                  <a:srgbClr val="000000"/>
                </a:solidFill>
                <a:latin typeface="Times New Roman"/>
              </a:defRPr>
            </a:pPr>
            <a:r>
              <a:rPr sz="2000" b="1" i="0">
                <a:solidFill>
                  <a:srgbClr val="000000"/>
                </a:solidFill>
                <a:latin typeface="Times New Roman"/>
              </a:rPr>
              <a:t>Major Processing Tasks:</a:t>
            </a:r>
          </a:p>
          <a:p>
            <a:pPr>
              <a:spcAft>
                <a:spcPts val="400"/>
              </a:spcAft>
              <a:defRPr sz="1650" b="0" i="0">
                <a:solidFill>
                  <a:srgbClr val="1A1A1A"/>
                </a:solidFill>
                <a:latin typeface="Times New Roman"/>
              </a:defRPr>
            </a:pPr>
            <a:r>
              <a:rPr sz="1650" b="0" i="0">
                <a:solidFill>
                  <a:srgbClr val="1A1A1A"/>
                </a:solidFill>
                <a:latin typeface="Times New Roman"/>
              </a:rPr>
              <a:t>•  Multi-stop origin, destination, and intermediate waypoint route planning via Leaflet &amp; OpenStreetMap.</a:t>
            </a:r>
          </a:p>
          <a:p>
            <a:pPr>
              <a:spcAft>
                <a:spcPts val="400"/>
              </a:spcAft>
              <a:defRPr sz="1650" b="0" i="0">
                <a:solidFill>
                  <a:srgbClr val="1A1A1A"/>
                </a:solidFill>
                <a:latin typeface="Times New Roman"/>
              </a:defRPr>
            </a:pPr>
            <a:r>
              <a:rPr sz="1650" b="0" i="0">
                <a:solidFill>
                  <a:srgbClr val="1A1A1A"/>
                </a:solidFill>
                <a:latin typeface="Times New Roman"/>
              </a:rPr>
              <a:t>•  3D Digital Elevation Modeling (DEM) integration to extract continuous terrain altitude profiles.</a:t>
            </a:r>
          </a:p>
          <a:p>
            <a:pPr>
              <a:spcAft>
                <a:spcPts val="400"/>
              </a:spcAft>
              <a:defRPr sz="1650" b="0" i="0">
                <a:solidFill>
                  <a:srgbClr val="1A1A1A"/>
                </a:solidFill>
                <a:latin typeface="Times New Roman"/>
              </a:defRPr>
            </a:pPr>
            <a:r>
              <a:rPr sz="1650" b="0" i="0">
                <a:solidFill>
                  <a:srgbClr val="1A1A1A"/>
                </a:solidFill>
                <a:latin typeface="Times New Roman"/>
              </a:rPr>
              <a:t>•  Gravitational energy penalty calculation on uphill climbs and road slope variations.</a:t>
            </a:r>
          </a:p>
          <a:p>
            <a:pPr>
              <a:spcAft>
                <a:spcPts val="400"/>
              </a:spcAft>
              <a:defRPr sz="1650" b="0" i="0">
                <a:solidFill>
                  <a:srgbClr val="1A1A1A"/>
                </a:solidFill>
                <a:latin typeface="Times New Roman"/>
              </a:defRPr>
            </a:pPr>
            <a:r>
              <a:rPr sz="1650" b="0" i="0">
                <a:solidFill>
                  <a:srgbClr val="1A1A1A"/>
                </a:solidFill>
                <a:latin typeface="Times New Roman"/>
              </a:rPr>
              <a:t>•  Downhill regenerative braking energy recovery estimation for dynamic battery re-charge.</a:t>
            </a:r>
          </a:p>
          <a:p>
            <a:pPr>
              <a:spcAft>
                <a:spcPts val="400"/>
              </a:spcAft>
              <a:defRPr sz="1650" b="0" i="0">
                <a:solidFill>
                  <a:srgbClr val="1A1A1A"/>
                </a:solidFill>
                <a:latin typeface="Times New Roman"/>
              </a:defRPr>
            </a:pPr>
            <a:r>
              <a:rPr sz="1650" b="0" i="0">
                <a:solidFill>
                  <a:srgbClr val="1A1A1A"/>
                </a:solidFill>
                <a:latin typeface="Times New Roman"/>
              </a:rPr>
              <a:t>•  Battery discharge curve simulation along the transit corridor.</a:t>
            </a:r>
          </a:p>
          <a:p>
            <a:pPr>
              <a:spcAft>
                <a:spcPts val="400"/>
              </a:spcAft>
              <a:defRPr sz="1650" b="0" i="0">
                <a:solidFill>
                  <a:srgbClr val="1A1A1A"/>
                </a:solidFill>
                <a:latin typeface="Times New Roman"/>
              </a:defRPr>
            </a:pPr>
            <a:r>
              <a:rPr sz="1650" b="0" i="0">
                <a:solidFill>
                  <a:srgbClr val="1A1A1A"/>
                </a:solidFill>
                <a:latin typeface="Times New Roman"/>
              </a:rPr>
              <a:t>•  Automated DC fast-charging stop recommendation when projected SOC drops below safe threshold (&lt; 20%).</a:t>
            </a:r>
          </a:p>
          <a:p>
            <a:pPr>
              <a:spcAft>
                <a:spcPts val="400"/>
              </a:spcAft>
              <a:defRPr sz="1650" b="0" i="0">
                <a:solidFill>
                  <a:srgbClr val="1A1A1A"/>
                </a:solidFill>
                <a:latin typeface="Times New Roman"/>
              </a:defRPr>
            </a:pPr>
            <a:r>
              <a:rPr sz="1650" b="0" i="0">
                <a:solidFill>
                  <a:srgbClr val="1A1A1A"/>
                </a:solidFill>
                <a:latin typeface="Times New Roman"/>
              </a:rPr>
              <a:t>•  Total transit duration and cost estimation factoring Time-of-Use (ToU) electricity tariffs.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 b="1" i="0">
                <a:solidFill>
                  <a:srgbClr val="000000"/>
                </a:solidFill>
                <a:latin typeface="Times New Roman"/>
              </a:defRPr>
            </a:pPr>
            <a:r>
              <a:rPr sz="2000" b="1" i="0">
                <a:solidFill>
                  <a:srgbClr val="000000"/>
                </a:solidFill>
                <a:latin typeface="Times New Roman"/>
              </a:rPr>
              <a:t>Role in Our System:</a:t>
            </a:r>
          </a:p>
          <a:p>
            <a:pPr>
              <a:defRPr sz="1650" b="0" i="0">
                <a:solidFill>
                  <a:srgbClr val="1A1A1A"/>
                </a:solidFill>
                <a:latin typeface="Times New Roman"/>
              </a:defRPr>
            </a:pPr>
            <a:r>
              <a:rPr sz="1650" b="0" i="0">
                <a:solidFill>
                  <a:srgbClr val="1A1A1A"/>
                </a:solidFill>
                <a:latin typeface="Times New Roman"/>
              </a:rPr>
              <a:t>Acts as the operational navigational brain of VoltFleet AI, guaranteeing zero en-route vehicle stranding across cross-city transit missions.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187515"/>
            <a:ext cx="11274552" cy="330000"/>
          </a:xfrm>
          <a:prstGeom prst="rect">
            <a:avLst/>
          </a:prstGeom>
          <a:solidFill>
            <a:srgbClr val="EBEEF2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222515"/>
            <a:ext cx="11091672" cy="2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50" b="1" i="0">
                <a:solidFill>
                  <a:srgbClr val="1A1A1A"/>
                </a:solidFill>
                <a:latin typeface="Times New Roman"/>
              </a:defRPr>
            </a:pPr>
            <a:r>
              <a:rPr sz="1350" b="1" i="0">
                <a:solidFill>
                  <a:srgbClr val="1A1A1A"/>
                </a:solidFill>
                <a:latin typeface="Times New Roman"/>
              </a:rPr>
              <a:t>⚙ Input: Origin/destination coords, intermediate stops, initial SOC, vehicle specs  |  Output: Energy-optimized route polyline, elevation profile, charging waypoints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11274552" cy="645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3400" b="1" i="0">
                <a:solidFill>
                  <a:srgbClr val="000000"/>
                </a:solidFill>
                <a:latin typeface="Times New Roman"/>
              </a:defRPr>
            </a:pPr>
            <a:r>
              <a:rPr sz="3400" b="1" i="0">
                <a:solidFill>
                  <a:srgbClr val="000000"/>
                </a:solidFill>
                <a:latin typeface="Times New Roman"/>
              </a:rPr>
              <a:t>Sub Domains and Issues (Part 1)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24357"/>
            <a:ext cx="11274552" cy="27432"/>
          </a:xfrm>
          <a:prstGeom prst="rect">
            <a:avLst/>
          </a:prstGeom>
          <a:solidFill>
            <a:srgbClr val="1A1A1A"/>
          </a:solidFill>
          <a:ln w="952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860000"/>
            <a:ext cx="11274552" cy="2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0" i="1">
                <a:solidFill>
                  <a:srgbClr val="646464"/>
                </a:solidFill>
                <a:latin typeface="Times New Roman"/>
              </a:defRPr>
            </a:pPr>
            <a:r>
              <a:rPr sz="1500" b="0" i="1">
                <a:solidFill>
                  <a:srgbClr val="646464"/>
                </a:solidFill>
                <a:latin typeface="Times New Roman"/>
              </a:rPr>
              <a:t>Critical Engineering &amp; Research Challenges in Core EV Technologies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0000"/>
            <a:ext cx="3550000" cy="535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17200" y="1340000"/>
            <a:ext cx="3230000" cy="7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800" b="1" i="0">
                <a:solidFill>
                  <a:srgbClr val="000000"/>
                </a:solidFill>
                <a:latin typeface="Times New Roman"/>
              </a:defRPr>
            </a:pPr>
            <a:r>
              <a:rPr sz="1800" b="1" i="0">
                <a:solidFill>
                  <a:srgbClr val="000000"/>
                </a:solidFill>
                <a:latin typeface="Times New Roman"/>
              </a:rPr>
              <a:t>EV Telematics &amp; Real-Time Ingestion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617200" y="2060000"/>
            <a:ext cx="3230000" cy="19050"/>
          </a:xfrm>
          <a:prstGeom prst="rect">
            <a:avLst/>
          </a:prstGeom>
          <a:solidFill>
            <a:srgbClr val="1A1A1A"/>
          </a:solidFill>
          <a:ln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7200" y="2160000"/>
            <a:ext cx="3230000" cy="425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500" b="0" i="0">
                <a:solidFill>
                  <a:srgbClr val="1A1A1A"/>
                </a:solidFill>
                <a:latin typeface="Times New Roman"/>
              </a:defRPr>
            </a:pPr>
            <a:r>
              <a:rPr sz="1500" b="0" i="0">
                <a:solidFill>
                  <a:srgbClr val="1A1A1A"/>
                </a:solidFill>
                <a:latin typeface="Times New Roman"/>
              </a:rPr>
              <a:t>•  Sensor jitter, packet loss, and delayed telemetry synchronization over cellular networks.</a:t>
            </a:r>
          </a:p>
          <a:p>
            <a:pPr>
              <a:spcAft>
                <a:spcPts val="1200"/>
              </a:spcAft>
              <a:defRPr sz="1500" b="0" i="0">
                <a:solidFill>
                  <a:srgbClr val="1A1A1A"/>
                </a:solidFill>
                <a:latin typeface="Times New Roman"/>
              </a:defRPr>
            </a:pPr>
            <a:r>
              <a:rPr sz="1500" b="0" i="0">
                <a:solidFill>
                  <a:srgbClr val="1A1A1A"/>
                </a:solidFill>
                <a:latin typeface="Times New Roman"/>
              </a:rPr>
              <a:t>•  Variable CAN-bus baud rates and proprietary manufacturer message definitions across diverse EV brands.</a:t>
            </a:r>
          </a:p>
          <a:p>
            <a:pPr>
              <a:spcAft>
                <a:spcPts val="1200"/>
              </a:spcAft>
              <a:defRPr sz="1500" b="0" i="0">
                <a:solidFill>
                  <a:srgbClr val="1A1A1A"/>
                </a:solidFill>
                <a:latin typeface="Times New Roman"/>
              </a:defRPr>
            </a:pPr>
            <a:r>
              <a:rPr sz="1500" b="0" i="0">
                <a:solidFill>
                  <a:srgbClr val="1A1A1A"/>
                </a:solidFill>
                <a:latin typeface="Times New Roman"/>
              </a:rPr>
              <a:t>•  High computational overhead of handling continuous multi-vehicle streaming data.</a:t>
            </a:r>
          </a:p>
          <a:p>
            <a:pPr>
              <a:spcAft>
                <a:spcPts val="1200"/>
              </a:spcAft>
              <a:defRPr sz="1500" b="0" i="0">
                <a:solidFill>
                  <a:srgbClr val="1A1A1A"/>
                </a:solidFill>
                <a:latin typeface="Times New Roman"/>
              </a:defRPr>
            </a:pPr>
            <a:r>
              <a:rPr sz="1500" b="0" i="0">
                <a:solidFill>
                  <a:srgbClr val="1A1A1A"/>
                </a:solidFill>
                <a:latin typeface="Times New Roman"/>
              </a:rPr>
              <a:t>•  Managing offline telemetry buffering when vehicles traverse dead zones or tunnels.</a:t>
            </a:r>
          </a:p>
        </p:txBody>
      </p:sp>
      <p:sp>
        <p:nvSpPr>
          <p:cNvPr id="9" name="Rectangle 8"/>
          <p:cNvSpPr/>
          <p:nvPr/>
        </p:nvSpPr>
        <p:spPr>
          <a:xfrm>
            <a:off x="4317200" y="1180000"/>
            <a:ext cx="3550000" cy="535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77200" y="1340000"/>
            <a:ext cx="3230000" cy="7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800" b="1" i="0">
                <a:solidFill>
                  <a:srgbClr val="000000"/>
                </a:solidFill>
                <a:latin typeface="Times New Roman"/>
              </a:defRPr>
            </a:pPr>
            <a:r>
              <a:rPr sz="1800" b="1" i="0">
                <a:solidFill>
                  <a:srgbClr val="000000"/>
                </a:solidFill>
                <a:latin typeface="Times New Roman"/>
              </a:rPr>
              <a:t>Battery Health (SOH) &amp; Thermal Dynamics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77200" y="2060000"/>
            <a:ext cx="3230000" cy="19050"/>
          </a:xfrm>
          <a:prstGeom prst="rect">
            <a:avLst/>
          </a:prstGeom>
          <a:solidFill>
            <a:srgbClr val="1A1A1A"/>
          </a:solidFill>
          <a:ln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77200" y="2160000"/>
            <a:ext cx="3230000" cy="425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500" b="0" i="0">
                <a:solidFill>
                  <a:srgbClr val="1A1A1A"/>
                </a:solidFill>
                <a:latin typeface="Times New Roman"/>
              </a:defRPr>
            </a:pPr>
            <a:r>
              <a:rPr sz="1500" b="0" i="0">
                <a:solidFill>
                  <a:srgbClr val="1A1A1A"/>
                </a:solidFill>
                <a:latin typeface="Times New Roman"/>
              </a:rPr>
              <a:t>•  Non-linear lithium-ion electrochemical degradation affected by ambient temperature and C-rate.</a:t>
            </a:r>
          </a:p>
          <a:p>
            <a:pPr>
              <a:spcAft>
                <a:spcPts val="1200"/>
              </a:spcAft>
              <a:defRPr sz="1500" b="0" i="0">
                <a:solidFill>
                  <a:srgbClr val="1A1A1A"/>
                </a:solidFill>
                <a:latin typeface="Times New Roman"/>
              </a:defRPr>
            </a:pPr>
            <a:r>
              <a:rPr sz="1500" b="0" i="0">
                <a:solidFill>
                  <a:srgbClr val="1A1A1A"/>
                </a:solidFill>
                <a:latin typeface="Times New Roman"/>
              </a:rPr>
              <a:t>•  Thermal runaway risks during rapid DC fast charging in extreme summer climates.</a:t>
            </a:r>
          </a:p>
          <a:p>
            <a:pPr>
              <a:spcAft>
                <a:spcPts val="1200"/>
              </a:spcAft>
              <a:defRPr sz="1500" b="0" i="0">
                <a:solidFill>
                  <a:srgbClr val="1A1A1A"/>
                </a:solidFill>
                <a:latin typeface="Times New Roman"/>
              </a:defRPr>
            </a:pPr>
            <a:r>
              <a:rPr sz="1500" b="0" i="0">
                <a:solidFill>
                  <a:srgbClr val="1A1A1A"/>
                </a:solidFill>
                <a:latin typeface="Times New Roman"/>
              </a:rPr>
              <a:t>•  Inaccurate onboard BMS state-of-charge drift over repeated partial charging cycles.</a:t>
            </a:r>
          </a:p>
          <a:p>
            <a:pPr>
              <a:spcAft>
                <a:spcPts val="1200"/>
              </a:spcAft>
              <a:defRPr sz="1500" b="0" i="0">
                <a:solidFill>
                  <a:srgbClr val="1A1A1A"/>
                </a:solidFill>
                <a:latin typeface="Times New Roman"/>
              </a:defRPr>
            </a:pPr>
            <a:r>
              <a:rPr sz="1500" b="0" i="0">
                <a:solidFill>
                  <a:srgbClr val="1A1A1A"/>
                </a:solidFill>
                <a:latin typeface="Times New Roman"/>
              </a:rPr>
              <a:t>•  Complex cell-level voltage imbalances requiring continuous diagnostic filtering.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77200" y="1180000"/>
            <a:ext cx="3550000" cy="535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37200" y="1340000"/>
            <a:ext cx="3230000" cy="7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800" b="1" i="0">
                <a:solidFill>
                  <a:srgbClr val="000000"/>
                </a:solidFill>
                <a:latin typeface="Times New Roman"/>
              </a:defRPr>
            </a:pPr>
            <a:r>
              <a:rPr sz="1800" b="1" i="0">
                <a:solidFill>
                  <a:srgbClr val="000000"/>
                </a:solidFill>
                <a:latin typeface="Times New Roman"/>
              </a:rPr>
              <a:t>Topographical Range &amp; Energy Modeling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37200" y="2060000"/>
            <a:ext cx="3230000" cy="19050"/>
          </a:xfrm>
          <a:prstGeom prst="rect">
            <a:avLst/>
          </a:prstGeom>
          <a:solidFill>
            <a:srgbClr val="1A1A1A"/>
          </a:solidFill>
          <a:ln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37200" y="2160000"/>
            <a:ext cx="3230000" cy="425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500" b="0" i="0">
                <a:solidFill>
                  <a:srgbClr val="1A1A1A"/>
                </a:solidFill>
                <a:latin typeface="Times New Roman"/>
              </a:defRPr>
            </a:pPr>
            <a:r>
              <a:rPr sz="1500" b="0" i="0">
                <a:solidFill>
                  <a:srgbClr val="1A1A1A"/>
                </a:solidFill>
                <a:latin typeface="Times New Roman"/>
              </a:rPr>
              <a:t>•  High variability in real-world energy consumption due to aggressive headwind and elevation shifts.</a:t>
            </a:r>
          </a:p>
          <a:p>
            <a:pPr>
              <a:spcAft>
                <a:spcPts val="1200"/>
              </a:spcAft>
              <a:defRPr sz="1500" b="0" i="0">
                <a:solidFill>
                  <a:srgbClr val="1A1A1A"/>
                </a:solidFill>
                <a:latin typeface="Times New Roman"/>
              </a:defRPr>
            </a:pPr>
            <a:r>
              <a:rPr sz="1500" b="0" i="0">
                <a:solidFill>
                  <a:srgbClr val="1A1A1A"/>
                </a:solidFill>
                <a:latin typeface="Times New Roman"/>
              </a:rPr>
              <a:t>•  Inaccurate static vehicle dashboard range estimators that disregard elevation and HVAC load.</a:t>
            </a:r>
          </a:p>
          <a:p>
            <a:pPr>
              <a:spcAft>
                <a:spcPts val="1200"/>
              </a:spcAft>
              <a:defRPr sz="1500" b="0" i="0">
                <a:solidFill>
                  <a:srgbClr val="1A1A1A"/>
                </a:solidFill>
                <a:latin typeface="Times New Roman"/>
              </a:defRPr>
            </a:pPr>
            <a:r>
              <a:rPr sz="1500" b="0" i="0">
                <a:solidFill>
                  <a:srgbClr val="1A1A1A"/>
                </a:solidFill>
                <a:latin typeface="Times New Roman"/>
              </a:rPr>
              <a:t>•  Difficulty modeling regenerative braking recovery efficiency under differing battery SOC levels.</a:t>
            </a:r>
          </a:p>
          <a:p>
            <a:pPr>
              <a:spcAft>
                <a:spcPts val="1200"/>
              </a:spcAft>
              <a:defRPr sz="1500" b="0" i="0">
                <a:solidFill>
                  <a:srgbClr val="1A1A1A"/>
                </a:solidFill>
                <a:latin typeface="Times New Roman"/>
              </a:defRPr>
            </a:pPr>
            <a:r>
              <a:rPr sz="1500" b="0" i="0">
                <a:solidFill>
                  <a:srgbClr val="1A1A1A"/>
                </a:solidFill>
                <a:latin typeface="Times New Roman"/>
              </a:rPr>
              <a:t>•  Lack of standardized road grade datasets for precise hill climb energy computation.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11274552" cy="645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3400" b="1" i="0">
                <a:solidFill>
                  <a:srgbClr val="000000"/>
                </a:solidFill>
                <a:latin typeface="Times New Roman"/>
              </a:defRPr>
            </a:pPr>
            <a:r>
              <a:rPr sz="3400" b="1" i="0">
                <a:solidFill>
                  <a:srgbClr val="000000"/>
                </a:solidFill>
                <a:latin typeface="Times New Roman"/>
              </a:rPr>
              <a:t>Sub Domains and Issues (Part 2)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24357"/>
            <a:ext cx="11274552" cy="27432"/>
          </a:xfrm>
          <a:prstGeom prst="rect">
            <a:avLst/>
          </a:prstGeom>
          <a:solidFill>
            <a:srgbClr val="1A1A1A"/>
          </a:solidFill>
          <a:ln w="952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860000"/>
            <a:ext cx="11274552" cy="2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0" i="1">
                <a:solidFill>
                  <a:srgbClr val="646464"/>
                </a:solidFill>
                <a:latin typeface="Times New Roman"/>
              </a:defRPr>
            </a:pPr>
            <a:r>
              <a:rPr sz="1500" b="0" i="1">
                <a:solidFill>
                  <a:srgbClr val="646464"/>
                </a:solidFill>
                <a:latin typeface="Times New Roman"/>
              </a:rPr>
              <a:t>Operational, Logistical &amp; Security Challenges in Commercial Fleet Deployment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0000"/>
            <a:ext cx="3550000" cy="535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17200" y="1340000"/>
            <a:ext cx="3230000" cy="7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800" b="1" i="0">
                <a:solidFill>
                  <a:srgbClr val="000000"/>
                </a:solidFill>
                <a:latin typeface="Times New Roman"/>
              </a:defRPr>
            </a:pPr>
            <a:r>
              <a:rPr sz="1800" b="1" i="0">
                <a:solidFill>
                  <a:srgbClr val="000000"/>
                </a:solidFill>
                <a:latin typeface="Times New Roman"/>
              </a:rPr>
              <a:t>Driver Telematics &amp; Behavioral Scoring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617200" y="2060000"/>
            <a:ext cx="3230000" cy="19050"/>
          </a:xfrm>
          <a:prstGeom prst="rect">
            <a:avLst/>
          </a:prstGeom>
          <a:solidFill>
            <a:srgbClr val="1A1A1A"/>
          </a:solidFill>
          <a:ln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7200" y="2160000"/>
            <a:ext cx="3230000" cy="425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500" b="0" i="0">
                <a:solidFill>
                  <a:srgbClr val="1A1A1A"/>
                </a:solidFill>
                <a:latin typeface="Times New Roman"/>
              </a:defRPr>
            </a:pPr>
            <a:r>
              <a:rPr sz="1500" b="0" i="0">
                <a:solidFill>
                  <a:srgbClr val="1A1A1A"/>
                </a:solidFill>
                <a:latin typeface="Times New Roman"/>
              </a:rPr>
              <a:t>•  High-frequency throttle jerk and aggressive braking accelerating mechanical wear and energy drain.</a:t>
            </a:r>
          </a:p>
          <a:p>
            <a:pPr>
              <a:spcAft>
                <a:spcPts val="1200"/>
              </a:spcAft>
              <a:defRPr sz="1500" b="0" i="0">
                <a:solidFill>
                  <a:srgbClr val="1A1A1A"/>
                </a:solidFill>
                <a:latin typeface="Times New Roman"/>
              </a:defRPr>
            </a:pPr>
            <a:r>
              <a:rPr sz="1500" b="0" i="0">
                <a:solidFill>
                  <a:srgbClr val="1A1A1A"/>
                </a:solidFill>
                <a:latin typeface="Times New Roman"/>
              </a:rPr>
              <a:t>•  Fairly isolating driver behavior from external road congestion, weather, and payload weights.</a:t>
            </a:r>
          </a:p>
          <a:p>
            <a:pPr>
              <a:spcAft>
                <a:spcPts val="1200"/>
              </a:spcAft>
              <a:defRPr sz="1500" b="0" i="0">
                <a:solidFill>
                  <a:srgbClr val="1A1A1A"/>
                </a:solidFill>
                <a:latin typeface="Times New Roman"/>
              </a:defRPr>
            </a:pPr>
            <a:r>
              <a:rPr sz="1500" b="0" i="0">
                <a:solidFill>
                  <a:srgbClr val="1A1A1A"/>
                </a:solidFill>
                <a:latin typeface="Times New Roman"/>
              </a:rPr>
              <a:t>•  Providing transparent, explainable coaching metrics without causing driver dispute or distrust.</a:t>
            </a:r>
          </a:p>
          <a:p>
            <a:pPr>
              <a:spcAft>
                <a:spcPts val="1200"/>
              </a:spcAft>
              <a:defRPr sz="1500" b="0" i="0">
                <a:solidFill>
                  <a:srgbClr val="1A1A1A"/>
                </a:solidFill>
                <a:latin typeface="Times New Roman"/>
              </a:defRPr>
            </a:pPr>
            <a:r>
              <a:rPr sz="1500" b="0" i="0">
                <a:solidFill>
                  <a:srgbClr val="1A1A1A"/>
                </a:solidFill>
                <a:latin typeface="Times New Roman"/>
              </a:rPr>
              <a:t>•  Translating raw CAN-bus accelerations into standardized safety and efficiency scores.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4317200" y="1180000"/>
            <a:ext cx="3550000" cy="535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77200" y="1340000"/>
            <a:ext cx="3230000" cy="7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800" b="1" i="0">
                <a:solidFill>
                  <a:srgbClr val="000000"/>
                </a:solidFill>
                <a:latin typeface="Times New Roman"/>
              </a:defRPr>
            </a:pPr>
            <a:r>
              <a:rPr sz="1800" b="1" i="0">
                <a:solidFill>
                  <a:srgbClr val="000000"/>
                </a:solidFill>
                <a:latin typeface="Times New Roman"/>
              </a:rPr>
              <a:t>Multi-Stop Route Planning &amp; Charging Logistics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77200" y="2060000"/>
            <a:ext cx="3230000" cy="19050"/>
          </a:xfrm>
          <a:prstGeom prst="rect">
            <a:avLst/>
          </a:prstGeom>
          <a:solidFill>
            <a:srgbClr val="1A1A1A"/>
          </a:solidFill>
          <a:ln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77200" y="2160000"/>
            <a:ext cx="3230000" cy="425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500" b="0" i="0">
                <a:solidFill>
                  <a:srgbClr val="1A1A1A"/>
                </a:solidFill>
                <a:latin typeface="Times New Roman"/>
              </a:defRPr>
            </a:pPr>
            <a:r>
              <a:rPr sz="1500" b="0" i="0">
                <a:solidFill>
                  <a:srgbClr val="1A1A1A"/>
                </a:solidFill>
                <a:latin typeface="Times New Roman"/>
              </a:rPr>
              <a:t>•  Dynamic charging station availability and unpredictable queue waiting times at public hubs.</a:t>
            </a:r>
          </a:p>
          <a:p>
            <a:pPr>
              <a:spcAft>
                <a:spcPts val="1200"/>
              </a:spcAft>
              <a:defRPr sz="1500" b="0" i="0">
                <a:solidFill>
                  <a:srgbClr val="1A1A1A"/>
                </a:solidFill>
                <a:latin typeface="Times New Roman"/>
              </a:defRPr>
            </a:pPr>
            <a:r>
              <a:rPr sz="1500" b="0" i="0">
                <a:solidFill>
                  <a:srgbClr val="1A1A1A"/>
                </a:solidFill>
                <a:latin typeface="Times New Roman"/>
              </a:rPr>
              <a:t>•  Incompatible charging connector standards (CCS2, GB/T, CHAdeMO) across commercial vehicle models.</a:t>
            </a:r>
          </a:p>
          <a:p>
            <a:pPr>
              <a:spcAft>
                <a:spcPts val="1200"/>
              </a:spcAft>
              <a:defRPr sz="1500" b="0" i="0">
                <a:solidFill>
                  <a:srgbClr val="1A1A1A"/>
                </a:solidFill>
                <a:latin typeface="Times New Roman"/>
              </a:defRPr>
            </a:pPr>
            <a:r>
              <a:rPr sz="1500" b="0" i="0">
                <a:solidFill>
                  <a:srgbClr val="1A1A1A"/>
                </a:solidFill>
                <a:latin typeface="Times New Roman"/>
              </a:rPr>
              <a:t>•  Balancing trade-offs between shortest-distance routes and elevation-efficient bypass corridors.</a:t>
            </a:r>
          </a:p>
          <a:p>
            <a:pPr>
              <a:spcAft>
                <a:spcPts val="1200"/>
              </a:spcAft>
              <a:defRPr sz="1500" b="0" i="0">
                <a:solidFill>
                  <a:srgbClr val="1A1A1A"/>
                </a:solidFill>
                <a:latin typeface="Times New Roman"/>
              </a:defRPr>
            </a:pPr>
            <a:r>
              <a:rPr sz="1500" b="0" i="0">
                <a:solidFill>
                  <a:srgbClr val="1A1A1A"/>
                </a:solidFill>
                <a:latin typeface="Times New Roman"/>
              </a:rPr>
              <a:t>•  Incorporating variable Time-of-Use (ToU) electricity tariffs into cost-effective transit stops.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77200" y="1180000"/>
            <a:ext cx="3550000" cy="535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37200" y="1340000"/>
            <a:ext cx="3230000" cy="7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800" b="1" i="0">
                <a:solidFill>
                  <a:srgbClr val="000000"/>
                </a:solidFill>
                <a:latin typeface="Times New Roman"/>
              </a:defRPr>
            </a:pPr>
            <a:r>
              <a:rPr sz="1800" b="1" i="0">
                <a:solidFill>
                  <a:srgbClr val="000000"/>
                </a:solidFill>
                <a:latin typeface="Times New Roman"/>
              </a:rPr>
              <a:t>Edge-to-Cloud Telemetry Synchronization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37200" y="2060000"/>
            <a:ext cx="3230000" cy="19050"/>
          </a:xfrm>
          <a:prstGeom prst="rect">
            <a:avLst/>
          </a:prstGeom>
          <a:solidFill>
            <a:srgbClr val="1A1A1A"/>
          </a:solidFill>
          <a:ln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37200" y="2160000"/>
            <a:ext cx="3230000" cy="425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500" b="0" i="0">
                <a:solidFill>
                  <a:srgbClr val="1A1A1A"/>
                </a:solidFill>
                <a:latin typeface="Times New Roman"/>
              </a:defRPr>
            </a:pPr>
            <a:r>
              <a:rPr sz="1500" b="0" i="0">
                <a:solidFill>
                  <a:srgbClr val="1A1A1A"/>
                </a:solidFill>
                <a:latin typeface="Times New Roman"/>
              </a:rPr>
              <a:t>•  Ensuring zero-trust cryptographic verification of vehicle telematics packets against spoofing.</a:t>
            </a:r>
          </a:p>
          <a:p>
            <a:pPr>
              <a:spcAft>
                <a:spcPts val="1200"/>
              </a:spcAft>
              <a:defRPr sz="1500" b="0" i="0">
                <a:solidFill>
                  <a:srgbClr val="1A1A1A"/>
                </a:solidFill>
                <a:latin typeface="Times New Roman"/>
              </a:defRPr>
            </a:pPr>
            <a:r>
              <a:rPr sz="1500" b="0" i="0">
                <a:solidFill>
                  <a:srgbClr val="1A1A1A"/>
                </a:solidFill>
                <a:latin typeface="Times New Roman"/>
              </a:rPr>
              <a:t>•  Maintaining low-latency bidirectional communication between dispatchers and remote drivers.</a:t>
            </a:r>
          </a:p>
          <a:p>
            <a:pPr>
              <a:spcAft>
                <a:spcPts val="1200"/>
              </a:spcAft>
              <a:defRPr sz="1500" b="0" i="0">
                <a:solidFill>
                  <a:srgbClr val="1A1A1A"/>
                </a:solidFill>
                <a:latin typeface="Times New Roman"/>
              </a:defRPr>
            </a:pPr>
            <a:r>
              <a:rPr sz="1500" b="0" i="0">
                <a:solidFill>
                  <a:srgbClr val="1A1A1A"/>
                </a:solidFill>
                <a:latin typeface="Times New Roman"/>
              </a:rPr>
              <a:t>•  Scalable data storage architecture for gigabytes of longitudinal vehicle sensor logs.</a:t>
            </a:r>
          </a:p>
          <a:p>
            <a:pPr>
              <a:spcAft>
                <a:spcPts val="1200"/>
              </a:spcAft>
              <a:defRPr sz="1500" b="0" i="0">
                <a:solidFill>
                  <a:srgbClr val="1A1A1A"/>
                </a:solidFill>
                <a:latin typeface="Times New Roman"/>
              </a:defRPr>
            </a:pPr>
            <a:r>
              <a:rPr sz="1500" b="0" i="0">
                <a:solidFill>
                  <a:srgbClr val="1A1A1A"/>
                </a:solidFill>
                <a:latin typeface="Times New Roman"/>
              </a:rPr>
              <a:t>•  Granular role-based access control protecting commercial fleet financial and operational data.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11274552" cy="645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3400" b="1" i="0">
                <a:solidFill>
                  <a:srgbClr val="000000"/>
                </a:solidFill>
                <a:latin typeface="Times New Roman"/>
              </a:defRPr>
            </a:pPr>
            <a:r>
              <a:rPr sz="3400" b="1" i="0">
                <a:solidFill>
                  <a:srgbClr val="000000"/>
                </a:solidFill>
                <a:latin typeface="Times New Roman"/>
              </a:rPr>
              <a:t>VoltFleet AI : System Modules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24357"/>
            <a:ext cx="11274552" cy="27432"/>
          </a:xfrm>
          <a:prstGeom prst="rect">
            <a:avLst/>
          </a:prstGeom>
          <a:solidFill>
            <a:srgbClr val="1A1A1A"/>
          </a:solidFill>
          <a:ln w="952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860000"/>
            <a:ext cx="11274552" cy="2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0" i="1">
                <a:solidFill>
                  <a:srgbClr val="646464"/>
                </a:solidFill>
                <a:latin typeface="Times New Roman"/>
              </a:defRPr>
            </a:pPr>
            <a:r>
              <a:rPr sz="1500" b="0" i="1">
                <a:solidFill>
                  <a:srgbClr val="646464"/>
                </a:solidFill>
                <a:latin typeface="Times New Roman"/>
              </a:rPr>
              <a:t>Modular Architecture for Comprehensive Intelligent EV Fleet Management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0000"/>
            <a:ext cx="5480000" cy="25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17200" y="1320000"/>
            <a:ext cx="5160000" cy="4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700" b="1" i="0">
                <a:solidFill>
                  <a:srgbClr val="000000"/>
                </a:solidFill>
                <a:latin typeface="Times New Roman"/>
              </a:defRPr>
            </a:pPr>
            <a:r>
              <a:rPr sz="1700" b="1" i="0">
                <a:solidFill>
                  <a:srgbClr val="000000"/>
                </a:solidFill>
                <a:latin typeface="Times New Roman"/>
              </a:rPr>
              <a:t>Module 1 : Telematics Ingestion &amp; Fleet Command Center</a:t>
            </a:r>
          </a:p>
        </p:txBody>
      </p:sp>
      <p:sp>
        <p:nvSpPr>
          <p:cNvPr id="7" name="Rectangle 6"/>
          <p:cNvSpPr/>
          <p:nvPr/>
        </p:nvSpPr>
        <p:spPr>
          <a:xfrm>
            <a:off x="617200" y="1840000"/>
            <a:ext cx="5160000" cy="12700"/>
          </a:xfrm>
          <a:prstGeom prst="rect">
            <a:avLst/>
          </a:prstGeom>
          <a:solidFill>
            <a:srgbClr val="1A1A1A"/>
          </a:solidFill>
          <a:ln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7200" y="1920000"/>
            <a:ext cx="5160000" cy="16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550" b="0" i="0">
                <a:solidFill>
                  <a:srgbClr val="1A1A1A"/>
                </a:solidFill>
                <a:latin typeface="Times New Roman"/>
              </a:defRPr>
            </a:pPr>
            <a:r>
              <a:rPr sz="1550" b="0" i="0">
                <a:solidFill>
                  <a:srgbClr val="1A1A1A"/>
                </a:solidFill>
                <a:latin typeface="Times New Roman"/>
              </a:rPr>
              <a:t>•  Ingests CAN-bus telemetry streams in real time (GPS, velocity, SOC, voltage, motor power).</a:t>
            </a:r>
          </a:p>
          <a:p>
            <a:pPr>
              <a:spcAft>
                <a:spcPts val="800"/>
              </a:spcAft>
              <a:defRPr sz="1550" b="0" i="0">
                <a:solidFill>
                  <a:srgbClr val="1A1A1A"/>
                </a:solidFill>
                <a:latin typeface="Times New Roman"/>
              </a:defRPr>
            </a:pPr>
            <a:r>
              <a:rPr sz="1550" b="0" i="0">
                <a:solidFill>
                  <a:srgbClr val="1A1A1A"/>
                </a:solidFill>
                <a:latin typeface="Times New Roman"/>
              </a:rPr>
              <a:t>•  Renders interactive geospatial Leaflet command map with live vehicle status pins.</a:t>
            </a:r>
          </a:p>
          <a:p>
            <a:pPr>
              <a:spcAft>
                <a:spcPts val="800"/>
              </a:spcAft>
              <a:defRPr sz="1550" b="0" i="0">
                <a:solidFill>
                  <a:srgbClr val="1A1A1A"/>
                </a:solidFill>
                <a:latin typeface="Times New Roman"/>
              </a:defRPr>
            </a:pPr>
            <a:r>
              <a:rPr sz="1550" b="0" i="0">
                <a:solidFill>
                  <a:srgbClr val="1A1A1A"/>
                </a:solidFill>
                <a:latin typeface="Times New Roman"/>
              </a:rPr>
              <a:t>•  Visualizes fleet KPI metrics, battery SOC %, speed alerts, and health diagnostics.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51752" y="1180000"/>
            <a:ext cx="5480000" cy="25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11752" y="1320000"/>
            <a:ext cx="5160000" cy="4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700" b="1" i="0">
                <a:solidFill>
                  <a:srgbClr val="000000"/>
                </a:solidFill>
                <a:latin typeface="Times New Roman"/>
              </a:defRPr>
            </a:pPr>
            <a:r>
              <a:rPr sz="1700" b="1" i="0">
                <a:solidFill>
                  <a:srgbClr val="000000"/>
                </a:solidFill>
                <a:latin typeface="Times New Roman"/>
              </a:rPr>
              <a:t>Module 2 : Physics-Informed ML Range &amp; Battery Health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11752" y="1840000"/>
            <a:ext cx="5160000" cy="12700"/>
          </a:xfrm>
          <a:prstGeom prst="rect">
            <a:avLst/>
          </a:prstGeom>
          <a:solidFill>
            <a:srgbClr val="1A1A1A"/>
          </a:solidFill>
          <a:ln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11752" y="1920000"/>
            <a:ext cx="5160000" cy="16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550" b="0" i="0">
                <a:solidFill>
                  <a:srgbClr val="1A1A1A"/>
                </a:solidFill>
                <a:latin typeface="Times New Roman"/>
              </a:defRPr>
            </a:pPr>
            <a:r>
              <a:rPr sz="1550" b="0" i="0">
                <a:solidFill>
                  <a:srgbClr val="1A1A1A"/>
                </a:solidFill>
                <a:latin typeface="Times New Roman"/>
              </a:rPr>
              <a:t>•  Evaluates HistGradientBoosting regression on velocity, SOC, temp, and terrain elevation.</a:t>
            </a:r>
          </a:p>
          <a:p>
            <a:pPr>
              <a:spcAft>
                <a:spcPts val="800"/>
              </a:spcAft>
              <a:defRPr sz="1550" b="0" i="0">
                <a:solidFill>
                  <a:srgbClr val="1A1A1A"/>
                </a:solidFill>
                <a:latin typeface="Times New Roman"/>
              </a:defRPr>
            </a:pPr>
            <a:r>
              <a:rPr sz="1550" b="0" i="0">
                <a:solidFill>
                  <a:srgbClr val="1A1A1A"/>
                </a:solidFill>
                <a:latin typeface="Times New Roman"/>
              </a:rPr>
              <a:t>•  Tracks battery SOH capacity fade and degradation across charge cycles.</a:t>
            </a:r>
          </a:p>
          <a:p>
            <a:pPr>
              <a:spcAft>
                <a:spcPts val="800"/>
              </a:spcAft>
              <a:defRPr sz="1550" b="0" i="0">
                <a:solidFill>
                  <a:srgbClr val="1A1A1A"/>
                </a:solidFill>
                <a:latin typeface="Times New Roman"/>
              </a:defRPr>
            </a:pPr>
            <a:r>
              <a:rPr sz="1550" b="0" i="0">
                <a:solidFill>
                  <a:srgbClr val="1A1A1A"/>
                </a:solidFill>
                <a:latin typeface="Times New Roman"/>
              </a:rPr>
              <a:t>•  Triggers proactive thermal runaway warnings and cell-level overheat alerts.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900000"/>
            <a:ext cx="5480000" cy="25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7200" y="4040000"/>
            <a:ext cx="5160000" cy="4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700" b="1" i="0">
                <a:solidFill>
                  <a:srgbClr val="000000"/>
                </a:solidFill>
                <a:latin typeface="Times New Roman"/>
              </a:defRPr>
            </a:pPr>
            <a:r>
              <a:rPr sz="1700" b="1" i="0">
                <a:solidFill>
                  <a:srgbClr val="000000"/>
                </a:solidFill>
                <a:latin typeface="Times New Roman"/>
              </a:rPr>
              <a:t>Module 3 : Dynamic Multi-Stop Route &amp; Charging Optimizer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7200" y="4560000"/>
            <a:ext cx="5160000" cy="12700"/>
          </a:xfrm>
          <a:prstGeom prst="rect">
            <a:avLst/>
          </a:prstGeom>
          <a:solidFill>
            <a:srgbClr val="1A1A1A"/>
          </a:solidFill>
          <a:ln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7200" y="4640000"/>
            <a:ext cx="5160000" cy="16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550" b="0" i="0">
                <a:solidFill>
                  <a:srgbClr val="1A1A1A"/>
                </a:solidFill>
                <a:latin typeface="Times New Roman"/>
              </a:defRPr>
            </a:pPr>
            <a:r>
              <a:rPr sz="1550" b="0" i="0">
                <a:solidFill>
                  <a:srgbClr val="1A1A1A"/>
                </a:solidFill>
                <a:latin typeface="Times New Roman"/>
              </a:rPr>
              <a:t>•  Calculates 3D altitude profiles and climbing gravitational power penalties.</a:t>
            </a:r>
          </a:p>
          <a:p>
            <a:pPr>
              <a:spcAft>
                <a:spcPts val="800"/>
              </a:spcAft>
              <a:defRPr sz="1550" b="0" i="0">
                <a:solidFill>
                  <a:srgbClr val="1A1A1A"/>
                </a:solidFill>
                <a:latin typeface="Times New Roman"/>
              </a:defRPr>
            </a:pPr>
            <a:r>
              <a:rPr sz="1550" b="0" i="0">
                <a:solidFill>
                  <a:srgbClr val="1A1A1A"/>
                </a:solidFill>
                <a:latin typeface="Times New Roman"/>
              </a:rPr>
              <a:t>•  Models downhill regenerative braking energy recovery and battery discharge curves.</a:t>
            </a:r>
          </a:p>
          <a:p>
            <a:pPr>
              <a:spcAft>
                <a:spcPts val="800"/>
              </a:spcAft>
              <a:defRPr sz="1550" b="0" i="0">
                <a:solidFill>
                  <a:srgbClr val="1A1A1A"/>
                </a:solidFill>
                <a:latin typeface="Times New Roman"/>
              </a:defRPr>
            </a:pPr>
            <a:r>
              <a:rPr sz="1550" b="0" i="0">
                <a:solidFill>
                  <a:srgbClr val="1A1A1A"/>
                </a:solidFill>
                <a:latin typeface="Times New Roman"/>
              </a:rPr>
              <a:t>•  Automates DC fast-charging stop recommendations (&lt; 20% SOC) to eliminate range anxiety.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51752" y="3900000"/>
            <a:ext cx="5480000" cy="25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11752" y="4040000"/>
            <a:ext cx="5160000" cy="4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700" b="1" i="0">
                <a:solidFill>
                  <a:srgbClr val="000000"/>
                </a:solidFill>
                <a:latin typeface="Times New Roman"/>
              </a:defRPr>
            </a:pPr>
            <a:r>
              <a:rPr sz="1700" b="1" i="0">
                <a:solidFill>
                  <a:srgbClr val="000000"/>
                </a:solidFill>
                <a:latin typeface="Times New Roman"/>
              </a:rPr>
              <a:t>Module 4 : ML Driver Performance &amp; Predictive Maintenance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11752" y="4560000"/>
            <a:ext cx="5160000" cy="12700"/>
          </a:xfrm>
          <a:prstGeom prst="rect">
            <a:avLst/>
          </a:prstGeom>
          <a:solidFill>
            <a:srgbClr val="1A1A1A"/>
          </a:solidFill>
          <a:ln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11752" y="4640000"/>
            <a:ext cx="5160000" cy="16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550" b="0" i="0">
                <a:solidFill>
                  <a:srgbClr val="1A1A1A"/>
                </a:solidFill>
                <a:latin typeface="Times New Roman"/>
              </a:defRPr>
            </a:pPr>
            <a:r>
              <a:rPr sz="1550" b="0" i="0">
                <a:solidFill>
                  <a:srgbClr val="1A1A1A"/>
                </a:solidFill>
                <a:latin typeface="Times New Roman"/>
              </a:rPr>
              <a:t>•  Multiple Linear Regression evaluates Safety, Efficiency, Battery Care, and Route Compliance.</a:t>
            </a:r>
          </a:p>
          <a:p>
            <a:pPr>
              <a:spcAft>
                <a:spcPts val="800"/>
              </a:spcAft>
              <a:defRPr sz="1550" b="0" i="0">
                <a:solidFill>
                  <a:srgbClr val="1A1A1A"/>
                </a:solidFill>
                <a:latin typeface="Times New Roman"/>
              </a:defRPr>
            </a:pPr>
            <a:r>
              <a:rPr sz="1550" b="0" i="0">
                <a:solidFill>
                  <a:srgbClr val="1A1A1A"/>
                </a:solidFill>
                <a:latin typeface="Times New Roman"/>
              </a:rPr>
              <a:t>•  Delivers automated, personalized eco-driving coaching to fleet operators.</a:t>
            </a:r>
          </a:p>
          <a:p>
            <a:pPr>
              <a:spcAft>
                <a:spcPts val="800"/>
              </a:spcAft>
              <a:defRPr sz="1550" b="0" i="0">
                <a:solidFill>
                  <a:srgbClr val="1A1A1A"/>
                </a:solidFill>
                <a:latin typeface="Times New Roman"/>
              </a:defRPr>
            </a:pPr>
            <a:r>
              <a:rPr sz="1550" b="0" i="0">
                <a:solidFill>
                  <a:srgbClr val="1A1A1A"/>
                </a:solidFill>
                <a:latin typeface="Times New Roman"/>
              </a:rPr>
              <a:t>•  Auto-generates predictive service tickets based on sensor wear patterns and diagnostic codes.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1" y="27900"/>
            <a:ext cx="11274552" cy="1285717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1371600"/>
            <a:ext cx="11274552" cy="36576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80000"/>
            <a:ext cx="11274552" cy="155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1000"/>
              </a:spcAft>
              <a:defRPr sz="3800" b="1" i="0">
                <a:solidFill>
                  <a:srgbClr val="000000"/>
                </a:solidFill>
                <a:latin typeface="Times New Roman"/>
              </a:defRPr>
            </a:pPr>
            <a:r>
              <a:rPr sz="3800" b="1" i="0">
                <a:solidFill>
                  <a:srgbClr val="000000"/>
                </a:solidFill>
                <a:latin typeface="Times New Roman"/>
              </a:rPr>
              <a:t>THANK YOU</a:t>
            </a:r>
          </a:p>
          <a:p>
            <a:pPr algn="ctr">
              <a:spcAft>
                <a:spcPts val="800"/>
              </a:spcAft>
              <a:defRPr sz="1800" b="1" i="0">
                <a:solidFill>
                  <a:srgbClr val="1A1A1A"/>
                </a:solidFill>
                <a:latin typeface="Times New Roman"/>
              </a:defRPr>
            </a:pPr>
            <a:r>
              <a:rPr sz="1800" b="1" i="0">
                <a:solidFill>
                  <a:srgbClr val="1A1A1A"/>
                </a:solidFill>
                <a:latin typeface="Times New Roman"/>
              </a:rPr>
              <a:t>VoltFleet AI: Intelligent EV Fleet Management, Predictive Battery Analytics &amp; Route Optimization</a:t>
            </a:r>
          </a:p>
          <a:p>
            <a:pPr algn="ctr">
              <a:defRPr sz="1600" b="0" i="1">
                <a:solidFill>
                  <a:srgbClr val="646464"/>
                </a:solidFill>
                <a:latin typeface="Times New Roman"/>
              </a:defRPr>
            </a:pPr>
            <a:r>
              <a:rPr sz="1600" b="0" i="1">
                <a:solidFill>
                  <a:srgbClr val="646464"/>
                </a:solidFill>
                <a:latin typeface="Times New Roman"/>
              </a:rPr>
              <a:t>Questions &amp; Discussion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3154680"/>
            <a:ext cx="11274552" cy="36576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3364992"/>
            <a:ext cx="5486400" cy="3231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 i="0">
                <a:solidFill>
                  <a:srgbClr val="000000"/>
                </a:solidFill>
                <a:latin typeface="Times New Roman"/>
              </a:defRPr>
            </a:pPr>
            <a:r>
              <a:rPr sz="1500" b="1" i="0">
                <a:solidFill>
                  <a:srgbClr val="000000"/>
                </a:solidFill>
                <a:latin typeface="Times New Roman"/>
              </a:rPr>
              <a:t>Zeroth Project Review - Domain Presentation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767328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 i="0">
                <a:solidFill>
                  <a:srgbClr val="000000"/>
                </a:solidFill>
                <a:latin typeface="Times New Roman"/>
              </a:defRPr>
            </a:pPr>
            <a:r>
              <a:rPr sz="1500" b="1" i="0">
                <a:solidFill>
                  <a:srgbClr val="000000"/>
                </a:solidFill>
                <a:latin typeface="Times New Roman"/>
              </a:rPr>
              <a:t>TEAM MEMBERS: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187952"/>
            <a:ext cx="5486400" cy="30670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 i="0">
                <a:solidFill>
                  <a:srgbClr val="000000"/>
                </a:solidFill>
                <a:latin typeface="Times New Roman"/>
              </a:defRPr>
            </a:pPr>
            <a:r>
              <a:rPr sz="1400" b="0" i="0">
                <a:solidFill>
                  <a:srgbClr val="000000"/>
                </a:solidFill>
                <a:latin typeface="Times New Roman"/>
              </a:rPr>
              <a:t>MITHILESH S  -  23UCS100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690872"/>
            <a:ext cx="5486400" cy="30670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 i="0">
                <a:solidFill>
                  <a:srgbClr val="000000"/>
                </a:solidFill>
                <a:latin typeface="Times New Roman"/>
              </a:defRPr>
            </a:pPr>
            <a:r>
              <a:rPr sz="1400" b="0" i="0">
                <a:solidFill>
                  <a:srgbClr val="000000"/>
                </a:solidFill>
                <a:latin typeface="Times New Roman"/>
              </a:rPr>
              <a:t>MATHIVANAN M -  23UCS099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146167"/>
            <a:ext cx="5486400" cy="30670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 i="0">
                <a:solidFill>
                  <a:srgbClr val="000000"/>
                </a:solidFill>
                <a:latin typeface="Times New Roman"/>
              </a:defRPr>
            </a:pPr>
            <a:r>
              <a:rPr sz="1400" b="0" i="0">
                <a:solidFill>
                  <a:srgbClr val="000000"/>
                </a:solidFill>
                <a:latin typeface="Times New Roman"/>
              </a:rPr>
              <a:t>VISHNU K N -  23UCS079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600700"/>
            <a:ext cx="5486400" cy="30670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 i="0">
                <a:solidFill>
                  <a:srgbClr val="000000"/>
                </a:solidFill>
                <a:latin typeface="Times New Roman"/>
              </a:defRPr>
            </a:pPr>
            <a:r>
              <a:rPr sz="1400" b="0" i="0">
                <a:solidFill>
                  <a:srgbClr val="000000"/>
                </a:solidFill>
                <a:latin typeface="Times New Roman"/>
              </a:rPr>
              <a:t>NISHAN S - 23UCS0108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11112" y="3493008"/>
            <a:ext cx="50292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 i="0">
                <a:solidFill>
                  <a:srgbClr val="000000"/>
                </a:solidFill>
                <a:latin typeface="Times New Roman"/>
              </a:defRPr>
            </a:pPr>
            <a:r>
              <a:rPr sz="1500" b="1" i="0">
                <a:solidFill>
                  <a:srgbClr val="000000"/>
                </a:solidFill>
                <a:latin typeface="Times New Roman"/>
              </a:rPr>
              <a:t>PROJECT GUIDE: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11112" y="3950208"/>
            <a:ext cx="5029200" cy="30670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 i="0">
                <a:solidFill>
                  <a:srgbClr val="000000"/>
                </a:solidFill>
                <a:latin typeface="Times New Roman"/>
              </a:defRPr>
            </a:pPr>
            <a:r>
              <a:rPr sz="1400" b="1" i="0">
                <a:solidFill>
                  <a:srgbClr val="000000"/>
                </a:solidFill>
                <a:latin typeface="Times New Roman"/>
              </a:rPr>
              <a:t>Mrs. P. NIRMALADEVI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11112" y="4425696"/>
            <a:ext cx="5029200" cy="30670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 i="0">
                <a:solidFill>
                  <a:srgbClr val="000000"/>
                </a:solidFill>
                <a:latin typeface="Times New Roman"/>
              </a:defRPr>
            </a:pPr>
            <a:r>
              <a:rPr sz="1400" b="0" i="0">
                <a:solidFill>
                  <a:srgbClr val="000000"/>
                </a:solidFill>
                <a:latin typeface="Times New Roman"/>
              </a:rPr>
              <a:t>Associate Professor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11112" y="4901184"/>
            <a:ext cx="5029200" cy="30670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 i="0">
                <a:solidFill>
                  <a:srgbClr val="000000"/>
                </a:solidFill>
                <a:latin typeface="Times New Roman"/>
              </a:defRPr>
            </a:pPr>
            <a:r>
              <a:rPr sz="1400" b="0" i="0">
                <a:solidFill>
                  <a:srgbClr val="000000"/>
                </a:solidFill>
                <a:latin typeface="Times New Roman"/>
              </a:rPr>
              <a:t>Department Of Computer Science And Engineering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19567</Words>
  <Application>WPS Presentation</Application>
  <PresentationFormat>Custom</PresentationFormat>
  <Paragraphs>386</Paragraphs>
  <Slides>16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6" baseType="lpstr">
      <vt:lpstr>Arial</vt:lpstr>
      <vt:lpstr>SimSun</vt:lpstr>
      <vt:lpstr>Wingdings</vt:lpstr>
      <vt:lpstr>Arial</vt:lpstr>
      <vt:lpstr>Times New Roman</vt:lpstr>
      <vt:lpstr>Times New Roman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Mithilesh Sundaresan</cp:lastModifiedBy>
  <cp:revision>55</cp:revision>
  <dcterms:created xsi:type="dcterms:W3CDTF">2013-01-27T09:14:00Z</dcterms:created>
  <dcterms:modified xsi:type="dcterms:W3CDTF">2026-09-24T04:57:50Z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1033-12.1.0.28485</vt:lpwstr>
  </property>
  <property fmtid="{D5CDD505-2E9C-101B-9397-08002B2CF9AE}" pid="3" name="ICV">
    <vt:lpwstr>4180FA8E32CE403DBBFB0F89355CE697_12</vt:lpwstr>
  </property>
</Properties>
</file>