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57" r:id="rId4"/>
    <p:sldId id="260" r:id="rId5"/>
    <p:sldId id="258" r:id="rId6"/>
    <p:sldId id="274" r:id="rId7"/>
    <p:sldId id="267" r:id="rId9"/>
    <p:sldId id="268" r:id="rId10"/>
    <p:sldId id="263" r:id="rId11"/>
    <p:sldId id="279" r:id="rId12"/>
    <p:sldId id="264" r:id="rId13"/>
    <p:sldId id="265" r:id="rId14"/>
    <p:sldId id="269" r:id="rId15"/>
    <p:sldId id="276" r:id="rId16"/>
    <p:sldId id="277" r:id="rId17"/>
    <p:sldId id="280" r:id="rId18"/>
    <p:sldId id="2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504D"/>
    <a:srgbClr val="7A90A9"/>
    <a:srgbClr val="CA6F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70" autoAdjust="0"/>
    <p:restoredTop sz="94708"/>
  </p:normalViewPr>
  <p:slideViewPr>
    <p:cSldViewPr snapToGrid="0" showGuides="1">
      <p:cViewPr varScale="1">
        <p:scale>
          <a:sx n="84" d="100"/>
          <a:sy n="84" d="100"/>
        </p:scale>
        <p:origin x="437"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431B67-EE15-4044-8F7C-2AE111FA2C68}"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4C9C7E-4208-4C7A-9B79-ED45239F6B24}"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64C9C7E-4208-4C7A-9B79-ED45239F6B24}"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8964706" y="6433202"/>
            <a:ext cx="2426446" cy="367841"/>
          </a:xfrm>
        </p:spPr>
        <p:txBody>
          <a:bodyPr/>
          <a:lstStyle/>
          <a:p>
            <a:fld id="{32637B58-87C1-446D-BDA9-B06F4BCF77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1391152" y="6433203"/>
            <a:ext cx="702781" cy="367842"/>
          </a:xfrm>
        </p:spPr>
        <p:txBody>
          <a:bodyPr/>
          <a:lstStyle/>
          <a:p>
            <a:fld id="{08AB70BE-1769-45B8-85A6-0C837432C7E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a:xfrm>
            <a:off x="9323285" y="6434524"/>
            <a:ext cx="2067867" cy="365125"/>
          </a:xfrm>
        </p:spPr>
        <p:txBody>
          <a:bodyPr/>
          <a:lstStyle>
            <a:lvl1pPr algn="r">
              <a:defRPr>
                <a:solidFill>
                  <a:schemeClr val="bg1"/>
                </a:solidFill>
              </a:defRPr>
            </a:lvl1pPr>
          </a:lstStyle>
          <a:p>
            <a:fld id="{32637B58-87C1-446D-BDA9-B06F4BCF7782}" type="datetimeFigureOut">
              <a:rPr lang="en-US" smtClean="0"/>
            </a:fld>
            <a:endParaRPr lang="en-US"/>
          </a:p>
        </p:txBody>
      </p:sp>
      <p:sp>
        <p:nvSpPr>
          <p:cNvPr id="5" name="Footer Placeholder 4"/>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dirty="0"/>
          </a:p>
        </p:txBody>
      </p:sp>
      <p:sp>
        <p:nvSpPr>
          <p:cNvPr id="6" name="Slide Number Placeholder 5"/>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32637B58-87C1-446D-BDA9-B06F4BCF77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B70BE-1769-45B8-85A6-0C837432C7E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1408813" y="2163725"/>
            <a:ext cx="4610986" cy="401323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57260" y="2163725"/>
            <a:ext cx="4853763" cy="40132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32637B58-87C1-446D-BDA9-B06F4BCF778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AB70BE-1769-45B8-85A6-0C837432C7E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32637B58-87C1-446D-BDA9-B06F4BCF778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AB70BE-1769-45B8-85A6-0C837432C7E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32637B58-87C1-446D-BDA9-B06F4BCF778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AB70BE-1769-45B8-85A6-0C837432C7E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637B58-87C1-446D-BDA9-B06F4BCF778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AB70BE-1769-45B8-85A6-0C837432C7E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2637B58-87C1-446D-BDA9-B06F4BCF778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AB70BE-1769-45B8-85A6-0C837432C7E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2637B58-87C1-446D-BDA9-B06F4BCF778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AB70BE-1769-45B8-85A6-0C837432C7E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2637B58-87C1-446D-BDA9-B06F4BCF77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B70BE-1769-45B8-85A6-0C837432C7E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32637B58-87C1-446D-BDA9-B06F4BCF778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AB70BE-1769-45B8-85A6-0C837432C7E6}"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a:p>
        </p:txBody>
      </p:sp>
      <p:sp>
        <p:nvSpPr>
          <p:cNvPr id="2" name="Title Placeholder 1"/>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fld id="{32637B58-87C1-446D-BDA9-B06F4BCF7782}" type="datetimeFigureOut">
              <a:rPr lang="en-US" smtClean="0"/>
            </a:fld>
            <a:endParaRPr lang="en-US" dirty="0"/>
          </a:p>
        </p:txBody>
      </p:sp>
      <p:sp>
        <p:nvSpPr>
          <p:cNvPr id="6" name="Slide Number Placeholder 5"/>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1925" y="2023110"/>
            <a:ext cx="11739880" cy="1744345"/>
          </a:xfrm>
        </p:spPr>
        <p:txBody>
          <a:bodyPr>
            <a:normAutofit/>
          </a:bodyPr>
          <a:lstStyle/>
          <a:p>
            <a:pPr algn="ctr"/>
            <a:r>
              <a:rPr sz="2800" b="1">
                <a:solidFill>
                  <a:srgbClr val="1F4E79"/>
                </a:solidFill>
                <a:latin typeface="Calibri" panose="020F0502020204030204"/>
              </a:rPr>
              <a:t>VoltFleet AI: Intelligent EV Fleet Management, Predictive Battery Analytics &amp; Route Optimization</a:t>
            </a:r>
            <a:endParaRPr lang="en-IN"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725783" y="4645356"/>
            <a:ext cx="3663337" cy="1998839"/>
          </a:xfrm>
        </p:spPr>
        <p:txBody>
          <a:bodyPr>
            <a:normAutofit/>
          </a:bodyPr>
          <a:lstStyle/>
          <a:p>
            <a:r>
              <a:rPr sz="1400" b="1">
                <a:solidFill>
                  <a:srgbClr val="1F4E79"/>
                </a:solidFill>
                <a:latin typeface="Calibri" panose="020F0502020204030204"/>
              </a:rPr>
              <a:t>PROJECT GUIDE
</a:t>
            </a:r>
            <a:r>
              <a:rPr sz="1400" b="1">
                <a:solidFill>
                  <a:srgbClr val="000000"/>
                </a:solidFill>
                <a:latin typeface="Calibri" panose="020F0502020204030204"/>
              </a:rPr>
              <a:t>Mrs. P. NIRMALADEVI
</a:t>
            </a:r>
            <a:r>
              <a:rPr sz="1300" b="0">
                <a:solidFill>
                  <a:srgbClr val="323232"/>
                </a:solidFill>
                <a:latin typeface="Calibri" panose="020F0502020204030204"/>
              </a:rPr>
              <a:t>Ass</a:t>
            </a:r>
            <a:r>
              <a:rPr lang="en-IN" sz="1300" b="0">
                <a:solidFill>
                  <a:srgbClr val="323232"/>
                </a:solidFill>
                <a:latin typeface="Calibri" panose="020F0502020204030204"/>
              </a:rPr>
              <a:t>istant</a:t>
            </a:r>
            <a:r>
              <a:rPr sz="1300" b="0">
                <a:solidFill>
                  <a:srgbClr val="323232"/>
                </a:solidFill>
                <a:latin typeface="Calibri" panose="020F0502020204030204"/>
              </a:rPr>
              <a:t> Professor
Department of CSE</a:t>
            </a:r>
            <a:endParaRPr sz="1300" b="0">
              <a:solidFill>
                <a:srgbClr val="323232"/>
              </a:solidFill>
              <a:latin typeface="Calibri" panose="020F0502020204030204"/>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27759" y="306985"/>
            <a:ext cx="8830849" cy="1420125"/>
          </a:xfrm>
          <a:prstGeom prst="rect">
            <a:avLst/>
          </a:prstGeom>
        </p:spPr>
      </p:pic>
      <p:sp>
        <p:nvSpPr>
          <p:cNvPr id="6" name="TextBox 5"/>
          <p:cNvSpPr txBox="1"/>
          <p:nvPr/>
        </p:nvSpPr>
        <p:spPr>
          <a:xfrm>
            <a:off x="1680576" y="1921466"/>
            <a:ext cx="8830848" cy="1077218"/>
          </a:xfrm>
          <a:prstGeom prst="rect">
            <a:avLst/>
          </a:prstGeom>
          <a:noFill/>
        </p:spPr>
        <p:txBody>
          <a:bodyPr wrap="square">
            <a:spAutoFit/>
          </a:bodyPr>
          <a:lstStyle/>
          <a:p>
            <a:pPr algn="ctr"/>
            <a:r>
              <a:rPr sz="1600" b="1">
                <a:solidFill>
                  <a:srgbClr val="1F4E79"/>
                </a:solidFill>
                <a:latin typeface="Calibri" panose="020F0502020204030204"/>
              </a:rPr>
              <a:t>Department of Computer Science and Engineering
Project Phase – I Final Review</a:t>
            </a:r>
            <a:endParaRPr lang="en-IN" sz="3200" dirty="0"/>
          </a:p>
        </p:txBody>
      </p:sp>
      <p:sp>
        <p:nvSpPr>
          <p:cNvPr id="4" name="TextBox 3"/>
          <p:cNvSpPr txBox="1"/>
          <p:nvPr/>
        </p:nvSpPr>
        <p:spPr>
          <a:xfrm>
            <a:off x="6837204" y="4645356"/>
            <a:ext cx="4345908" cy="1969770"/>
          </a:xfrm>
          <a:prstGeom prst="rect">
            <a:avLst/>
          </a:prstGeom>
          <a:noFill/>
        </p:spPr>
        <p:txBody>
          <a:bodyPr wrap="square" rtlCol="0">
            <a:spAutoFit/>
          </a:bodyPr>
          <a:lstStyle/>
          <a:p>
            <a:pPr algn="ctr"/>
            <a:r>
              <a:rPr sz="1400" b="1">
                <a:solidFill>
                  <a:srgbClr val="1F4E79"/>
                </a:solidFill>
                <a:latin typeface="Calibri" panose="020F0502020204030204"/>
              </a:rPr>
              <a:t>TEAM MEMBERS (CSE IV-A)
</a:t>
            </a:r>
            <a:r>
              <a:rPr sz="1300" b="0">
                <a:solidFill>
                  <a:srgbClr val="000000"/>
                </a:solidFill>
                <a:latin typeface="Calibri" panose="020F0502020204030204"/>
              </a:rPr>
              <a:t>Mithilesh S (23UCS100)
Mathivanan M (23UCS099)
Vishnu K N (23UCS079)
Nishan S (23UCS0108)</a:t>
            </a:r>
            <a:endParaRPr sz="1300" b="0">
              <a:solidFill>
                <a:srgbClr val="000000"/>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43196"/>
            <a:ext cx="9914859" cy="1329004"/>
          </a:xfrm>
        </p:spPr>
        <p:txBody>
          <a:bodyPr/>
          <a:lstStyle/>
          <a:p>
            <a:pPr algn="ctr"/>
            <a:r>
              <a:rPr lang="en-IN" b="1" dirty="0">
                <a:solidFill>
                  <a:srgbClr val="C0504D"/>
                </a:solidFill>
              </a:rPr>
              <a:t>AGENDA</a:t>
            </a:r>
            <a:endParaRPr lang="en-IN" dirty="0">
              <a:solidFill>
                <a:srgbClr val="C0504D"/>
              </a:solidFill>
            </a:endParaRPr>
          </a:p>
        </p:txBody>
      </p:sp>
      <p:sp>
        <p:nvSpPr>
          <p:cNvPr id="3" name="Content Placeholder 2"/>
          <p:cNvSpPr>
            <a:spLocks noGrp="1"/>
          </p:cNvSpPr>
          <p:nvPr>
            <p:ph idx="1"/>
          </p:nvPr>
        </p:nvSpPr>
        <p:spPr/>
        <p:txBody>
          <a:bodyPr>
            <a:normAutofit lnSpcReduction="10000"/>
          </a:bodyPr>
          <a:lstStyle/>
          <a:p>
            <a:pPr marL="0" indent="0">
              <a:spcAft>
                <a:spcPts val="600"/>
              </a:spcAft>
              <a:buClr>
                <a:srgbClr val="C0504D"/>
              </a:buClr>
              <a:buFont typeface="Wingdings" panose="05000000000000000000" pitchFamily="2" charset="2"/>
              <a:buNone/>
            </a:pPr>
            <a:r>
              <a:rPr sz="1600" b="1">
                <a:solidFill>
                  <a:srgbClr val="1F4E79"/>
                </a:solidFill>
                <a:latin typeface="Calibri" panose="020F0502020204030204"/>
              </a:rPr>
              <a:t>•  ABSTRACT</a:t>
            </a:r>
            <a:endParaRPr sz="1600" b="1">
              <a:solidFill>
                <a:srgbClr val="1F4E79"/>
              </a:solidFill>
              <a:latin typeface="Calibri" panose="020F0502020204030204"/>
            </a:endParaRPr>
          </a:p>
          <a:p>
            <a:pPr marL="0" indent="0">
              <a:spcAft>
                <a:spcPts val="600"/>
              </a:spcAft>
              <a:buNone/>
            </a:pPr>
            <a:r>
              <a:rPr sz="1600" b="1">
                <a:solidFill>
                  <a:srgbClr val="1F4E79"/>
                </a:solidFill>
                <a:latin typeface="Calibri" panose="020F0502020204030204"/>
              </a:rPr>
              <a:t>•  INTRODUCTION &amp; BACKGROUND</a:t>
            </a:r>
            <a:endParaRPr sz="1600" b="1">
              <a:solidFill>
                <a:srgbClr val="1F4E79"/>
              </a:solidFill>
              <a:latin typeface="Calibri" panose="020F0502020204030204"/>
            </a:endParaRPr>
          </a:p>
          <a:p>
            <a:pPr marL="0" indent="0">
              <a:spcAft>
                <a:spcPts val="600"/>
              </a:spcAft>
              <a:buNone/>
            </a:pPr>
            <a:r>
              <a:rPr sz="1600" b="1">
                <a:solidFill>
                  <a:srgbClr val="1F4E79"/>
                </a:solidFill>
                <a:latin typeface="Calibri" panose="020F0502020204030204"/>
              </a:rPr>
              <a:t>•  PROJECT OBJECTIVES</a:t>
            </a:r>
            <a:endParaRPr sz="1600" b="1">
              <a:solidFill>
                <a:srgbClr val="1F4E79"/>
              </a:solidFill>
              <a:latin typeface="Calibri" panose="020F0502020204030204"/>
            </a:endParaRPr>
          </a:p>
          <a:p>
            <a:pPr marL="0" indent="0">
              <a:spcAft>
                <a:spcPts val="600"/>
              </a:spcAft>
              <a:buNone/>
            </a:pPr>
            <a:r>
              <a:rPr sz="1600" b="1">
                <a:solidFill>
                  <a:srgbClr val="1F4E79"/>
                </a:solidFill>
                <a:latin typeface="Calibri" panose="020F0502020204030204"/>
              </a:rPr>
              <a:t>•  LITERATURE SURVEY</a:t>
            </a:r>
            <a:endParaRPr sz="1600" b="1">
              <a:solidFill>
                <a:srgbClr val="1F4E79"/>
              </a:solidFill>
              <a:latin typeface="Calibri" panose="020F0502020204030204"/>
            </a:endParaRPr>
          </a:p>
          <a:p>
            <a:pPr marL="0" indent="0">
              <a:spcAft>
                <a:spcPts val="600"/>
              </a:spcAft>
              <a:buNone/>
            </a:pPr>
            <a:r>
              <a:rPr sz="1600" b="1">
                <a:solidFill>
                  <a:srgbClr val="1F4E79"/>
                </a:solidFill>
                <a:latin typeface="Calibri" panose="020F0502020204030204"/>
              </a:rPr>
              <a:t>•  EXISTING SYSTEM &amp; LIMITATIONS</a:t>
            </a:r>
            <a:endParaRPr sz="1600" b="1">
              <a:solidFill>
                <a:srgbClr val="1F4E79"/>
              </a:solidFill>
              <a:latin typeface="Calibri" panose="020F0502020204030204"/>
            </a:endParaRPr>
          </a:p>
          <a:p>
            <a:pPr marL="0" indent="0">
              <a:spcAft>
                <a:spcPts val="600"/>
              </a:spcAft>
              <a:buNone/>
            </a:pPr>
            <a:r>
              <a:rPr sz="1600" b="1">
                <a:solidFill>
                  <a:srgbClr val="1F4E79"/>
                </a:solidFill>
                <a:latin typeface="Calibri" panose="020F0502020204030204"/>
              </a:rPr>
              <a:t>•  PROPOSED SYSTEM &amp; NOVELTIES</a:t>
            </a:r>
            <a:endParaRPr sz="1600" b="1">
              <a:solidFill>
                <a:srgbClr val="1F4E79"/>
              </a:solidFill>
              <a:latin typeface="Calibri" panose="020F0502020204030204"/>
            </a:endParaRPr>
          </a:p>
          <a:p>
            <a:pPr marL="0" indent="0">
              <a:spcAft>
                <a:spcPts val="600"/>
              </a:spcAft>
              <a:buNone/>
            </a:pPr>
            <a:r>
              <a:rPr sz="1600" b="1">
                <a:solidFill>
                  <a:srgbClr val="1F4E79"/>
                </a:solidFill>
                <a:latin typeface="Calibri" panose="020F0502020204030204"/>
              </a:rPr>
              <a:t>•  SYSTEM ARCHITECTURE</a:t>
            </a:r>
            <a:endParaRPr sz="1600" b="1">
              <a:solidFill>
                <a:srgbClr val="1F4E79"/>
              </a:solidFill>
              <a:latin typeface="Calibri" panose="020F0502020204030204"/>
            </a:endParaRPr>
          </a:p>
          <a:p>
            <a:pPr marL="0" indent="0">
              <a:spcAft>
                <a:spcPts val="600"/>
              </a:spcAft>
              <a:buNone/>
            </a:pPr>
            <a:r>
              <a:rPr sz="1600" b="1">
                <a:solidFill>
                  <a:srgbClr val="1F4E79"/>
                </a:solidFill>
                <a:latin typeface="Calibri" panose="020F0502020204030204"/>
              </a:rPr>
              <a:t>•  SYSTEM MODULES </a:t>
            </a:r>
            <a:endParaRPr sz="1600" b="1">
              <a:solidFill>
                <a:srgbClr val="1F4E79"/>
              </a:solidFill>
              <a:latin typeface="Calibri" panose="020F0502020204030204"/>
            </a:endParaRPr>
          </a:p>
          <a:p>
            <a:pPr marL="0" indent="0">
              <a:spcAft>
                <a:spcPts val="600"/>
              </a:spcAft>
              <a:buNone/>
            </a:pPr>
            <a:r>
              <a:rPr sz="1600" b="1">
                <a:solidFill>
                  <a:srgbClr val="1F4E79"/>
                </a:solidFill>
                <a:latin typeface="Calibri" panose="020F0502020204030204"/>
              </a:rPr>
              <a:t>•  RESULTS &amp; PERFORMANCE EVALUATION</a:t>
            </a:r>
            <a:endParaRPr sz="1600" b="1">
              <a:solidFill>
                <a:srgbClr val="1F4E79"/>
              </a:solidFill>
              <a:latin typeface="Calibri" panose="020F0502020204030204"/>
            </a:endParaRPr>
          </a:p>
          <a:p>
            <a:pPr marL="0" indent="0">
              <a:spcAft>
                <a:spcPts val="600"/>
              </a:spcAft>
              <a:buNone/>
            </a:pPr>
            <a:r>
              <a:rPr sz="1600" b="1">
                <a:solidFill>
                  <a:srgbClr val="1F4E79"/>
                </a:solidFill>
                <a:latin typeface="Calibri" panose="020F0502020204030204"/>
              </a:rPr>
              <a:t>•  REFERENCES</a:t>
            </a:r>
            <a:endParaRPr sz="1600" b="1">
              <a:solidFill>
                <a:srgbClr val="1F4E79"/>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024" y="235231"/>
            <a:ext cx="9914859" cy="835009"/>
          </a:xfrm>
        </p:spPr>
        <p:txBody>
          <a:bodyPr/>
          <a:lstStyle/>
          <a:p>
            <a:pPr algn="ctr"/>
            <a:r>
              <a:rPr lang="en-IN" dirty="0"/>
              <a:t>ABSTRACT</a:t>
            </a:r>
            <a:endParaRPr lang="en-IN" dirty="0"/>
          </a:p>
        </p:txBody>
      </p:sp>
      <p:sp>
        <p:nvSpPr>
          <p:cNvPr id="4" name="Rectangle 1"/>
          <p:cNvSpPr>
            <a:spLocks noGrp="1" noChangeArrowheads="1"/>
          </p:cNvSpPr>
          <p:nvPr>
            <p:ph idx="1"/>
          </p:nvPr>
        </p:nvSpPr>
        <p:spPr bwMode="auto">
          <a:xfrm>
            <a:off x="750259" y="1407227"/>
            <a:ext cx="10368391" cy="4921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lvl="0" indent="0" algn="just" eaLnBrk="0" fontAlgn="base" hangingPunct="0">
              <a:spcBef>
                <a:spcPts val="70"/>
              </a:spcBef>
              <a:spcAft>
                <a:spcPts val="1000"/>
              </a:spcAft>
              <a:buClr>
                <a:schemeClr val="tx1">
                  <a:lumMod val="95000"/>
                  <a:lumOff val="5000"/>
                </a:schemeClr>
              </a:buClr>
              <a:buNone/>
            </a:pPr>
            <a:r>
              <a:rPr sz="1800" b="0">
                <a:solidFill>
                  <a:srgbClr val="1E1E1E"/>
                </a:solidFill>
                <a:latin typeface="Calibri" panose="020F0502020204030204"/>
              </a:rPr>
              <a:t>The rapid expansion of electric vehicle (EV) commercial fleets presents critical operational challenges, including driving range anxiety, non-linear battery State of Health (SOH) degradation, unoptimized routing, and high operating costs. VoltFleet AI is an intelligent, full-stack EV fleet management and predictive analytics platform that bridges the gap between raw IoT telematics and real-world fleet logistics.</a:t>
            </a:r>
            <a:endParaRPr lang="en-US" altLang="en-US" sz="1800" dirty="0">
              <a:solidFill>
                <a:schemeClr val="tx1"/>
              </a:solidFill>
              <a:latin typeface="Times New Roman" panose="02020603050405020304" pitchFamily="18" charset="0"/>
              <a:cs typeface="Times New Roman" panose="02020603050405020304" pitchFamily="18" charset="0"/>
            </a:endParaRPr>
          </a:p>
          <a:p>
            <a:pPr marL="0" indent="0">
              <a:spcAft>
                <a:spcPts val="1000"/>
              </a:spcAft>
              <a:buNone/>
            </a:pPr>
            <a:r>
              <a:rPr sz="1800" b="0">
                <a:solidFill>
                  <a:srgbClr val="1E1E1E"/>
                </a:solidFill>
                <a:latin typeface="Calibri" panose="020F0502020204030204"/>
              </a:rPr>
              <a:t>The platform integrates Physics-Informed Machine Learning (HistGradientBoosting) with digital elevation modeling to predict real-world remaining range by dynamically factoring battery State of Charge (SOC), vehicle speed, ambient temperature, elevation gradients, and HVAC load. A dynamic multi-stop Route Optimizer calculates altitude profiles and automatically recommends 150 kW DC fast-charging waypoints when battery SOC drops below safe margins (20%).</a:t>
            </a:r>
            <a:endParaRPr sz="1800" b="0">
              <a:solidFill>
                <a:srgbClr val="1E1E1E"/>
              </a:solidFill>
              <a:latin typeface="Calibri" panose="020F0502020204030204"/>
            </a:endParaRPr>
          </a:p>
          <a:p>
            <a:pPr marL="0" indent="0">
              <a:spcAft>
                <a:spcPts val="1000"/>
              </a:spcAft>
              <a:buNone/>
            </a:pPr>
            <a:r>
              <a:rPr sz="1800" b="0">
                <a:solidFill>
                  <a:srgbClr val="1E1E1E"/>
                </a:solidFill>
                <a:latin typeface="Calibri" panose="020F0502020204030204"/>
              </a:rPr>
              <a:t>An AI Driver Performance Scoring module uses Multiple Linear Regression across 4 key pillars—Safety, Efficiency, Battery Care, and Route Compliance—providing personalized coaching. The system further incorporates smart off-peak charging scheduling and sensor-driven predictive maintenance, reducing total charging expenditure by up to 31.4% and maximizing vehicle uptime.</a:t>
            </a:r>
            <a:endParaRPr sz="1800" b="0">
              <a:solidFill>
                <a:srgbClr val="1E1E1E"/>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4886" y="159467"/>
            <a:ext cx="7142228" cy="1760773"/>
          </a:xfrm>
        </p:spPr>
        <p:txBody>
          <a:bodyPr>
            <a:normAutofit/>
          </a:bodyPr>
          <a:lstStyle/>
          <a:p>
            <a:pPr algn="ctr"/>
            <a:r>
              <a:rPr lang="en-IN" dirty="0"/>
              <a:t>INTRODUCTION</a:t>
            </a:r>
            <a:br>
              <a:rPr lang="en-IN" dirty="0"/>
            </a:br>
            <a:endParaRPr lang="en-IN" dirty="0"/>
          </a:p>
        </p:txBody>
      </p:sp>
      <p:sp>
        <p:nvSpPr>
          <p:cNvPr id="3" name="Content Placeholder 2"/>
          <p:cNvSpPr>
            <a:spLocks noGrp="1"/>
          </p:cNvSpPr>
          <p:nvPr>
            <p:ph idx="1"/>
          </p:nvPr>
        </p:nvSpPr>
        <p:spPr>
          <a:xfrm>
            <a:off x="820464" y="1174451"/>
            <a:ext cx="10551071" cy="5244637"/>
          </a:xfrm>
        </p:spPr>
        <p:txBody>
          <a:bodyPr>
            <a:noAutofit/>
          </a:bodyPr>
          <a:lstStyle/>
          <a:p>
            <a:pPr marL="0" indent="0">
              <a:spcBef>
                <a:spcPts val="800"/>
              </a:spcBef>
              <a:spcAft>
                <a:spcPts val="400"/>
              </a:spcAft>
              <a:buNone/>
            </a:pPr>
            <a:r>
              <a:rPr sz="1600" b="1">
                <a:solidFill>
                  <a:srgbClr val="1F4E79"/>
                </a:solidFill>
                <a:latin typeface="Calibri" panose="020F0502020204030204"/>
              </a:rPr>
              <a:t>Electric Vehicle Fleet Management</a:t>
            </a:r>
            <a:endParaRPr sz="1600" b="1">
              <a:solidFill>
                <a:srgbClr val="1F4E79"/>
              </a:solidFill>
              <a:latin typeface="Calibri" panose="020F0502020204030204"/>
            </a:endParaRPr>
          </a:p>
          <a:p>
            <a:pPr marL="0" indent="0">
              <a:spcAft>
                <a:spcPts val="300"/>
              </a:spcAft>
              <a:buNone/>
            </a:pPr>
            <a:r>
              <a:rPr sz="1600" b="0">
                <a:solidFill>
                  <a:srgbClr val="282828"/>
                </a:solidFill>
                <a:latin typeface="Calibri" panose="020F0502020204030204"/>
              </a:rPr>
              <a:t>•  Rapid commercial transition to EV fleets across urban logistics, delivery networks, and enterprise transport to meet zero-emission sustainability goals.</a:t>
            </a:r>
            <a:endParaRPr sz="1600" b="0">
              <a:solidFill>
                <a:srgbClr val="282828"/>
              </a:solidFill>
              <a:latin typeface="Calibri" panose="020F0502020204030204"/>
            </a:endParaRPr>
          </a:p>
          <a:p>
            <a:pPr marL="0" indent="0">
              <a:spcAft>
                <a:spcPts val="300"/>
              </a:spcAft>
              <a:buNone/>
            </a:pPr>
            <a:r>
              <a:rPr sz="1600" b="0">
                <a:solidFill>
                  <a:srgbClr val="282828"/>
                </a:solidFill>
                <a:latin typeface="Calibri" panose="020F0502020204030204"/>
              </a:rPr>
              <a:t>•  Managing EV fleets differs fundamentally from ICE (internal combustion engine) fleets due to charging infrastructure constraints, non-linear battery degradation, and ambient sensitivity.</a:t>
            </a:r>
            <a:endParaRPr sz="1600" b="0">
              <a:solidFill>
                <a:srgbClr val="282828"/>
              </a:solidFill>
              <a:latin typeface="Calibri" panose="020F0502020204030204"/>
            </a:endParaRPr>
          </a:p>
          <a:p>
            <a:pPr marL="0" indent="0">
              <a:spcAft>
                <a:spcPts val="300"/>
              </a:spcAft>
              <a:buNone/>
            </a:pPr>
            <a:r>
              <a:rPr sz="1600" b="0">
                <a:solidFill>
                  <a:srgbClr val="282828"/>
                </a:solidFill>
                <a:latin typeface="Calibri" panose="020F0502020204030204"/>
              </a:rPr>
              <a:t>•  Unsynchronized fleet operations lead to excessive electricity costs during peak tariff windows and frequent en-route stranding.</a:t>
            </a:r>
            <a:endParaRPr sz="1600" b="0">
              <a:solidFill>
                <a:srgbClr val="282828"/>
              </a:solidFill>
              <a:latin typeface="Calibri" panose="020F0502020204030204"/>
            </a:endParaRPr>
          </a:p>
          <a:p>
            <a:pPr marL="0" indent="0">
              <a:spcBef>
                <a:spcPts val="800"/>
              </a:spcBef>
              <a:spcAft>
                <a:spcPts val="400"/>
              </a:spcAft>
              <a:buNone/>
            </a:pPr>
            <a:r>
              <a:rPr sz="1600" b="1">
                <a:solidFill>
                  <a:srgbClr val="1F4E79"/>
                </a:solidFill>
                <a:latin typeface="Calibri" panose="020F0502020204030204"/>
              </a:rPr>
              <a:t>IoT Telematics &amp; Real-Time CAN-Bus Ingestion</a:t>
            </a:r>
            <a:endParaRPr sz="1600" b="1">
              <a:solidFill>
                <a:srgbClr val="1F4E79"/>
              </a:solidFill>
              <a:latin typeface="Calibri" panose="020F0502020204030204"/>
            </a:endParaRPr>
          </a:p>
          <a:p>
            <a:pPr marL="0" indent="0">
              <a:spcAft>
                <a:spcPts val="300"/>
              </a:spcAft>
              <a:buNone/>
            </a:pPr>
            <a:r>
              <a:rPr sz="1600" b="0">
                <a:solidFill>
                  <a:srgbClr val="282828"/>
                </a:solidFill>
                <a:latin typeface="Calibri" panose="020F0502020204030204"/>
              </a:rPr>
              <a:t>•  Continuous acquisition of high-frequency vehicular telematics: battery pack voltage, SOC %, motor power draw, inverter temperature, and GPS coordinates.</a:t>
            </a:r>
            <a:endParaRPr sz="1600" b="0">
              <a:solidFill>
                <a:srgbClr val="282828"/>
              </a:solidFill>
              <a:latin typeface="Calibri" panose="020F0502020204030204"/>
            </a:endParaRPr>
          </a:p>
          <a:p>
            <a:pPr marL="0" indent="0">
              <a:spcAft>
                <a:spcPts val="300"/>
              </a:spcAft>
              <a:buNone/>
            </a:pPr>
            <a:r>
              <a:rPr sz="1600" b="0">
                <a:solidFill>
                  <a:srgbClr val="282828"/>
                </a:solidFill>
                <a:latin typeface="Calibri" panose="020F0502020204030204"/>
              </a:rPr>
              <a:t>•  Centralized cloud ingestion enables dispatchers to maintain real-time situational awareness across distributed vehicles.</a:t>
            </a:r>
            <a:endParaRPr sz="1600" b="0">
              <a:solidFill>
                <a:srgbClr val="282828"/>
              </a:solidFill>
              <a:latin typeface="Calibri" panose="020F0502020204030204"/>
            </a:endParaRPr>
          </a:p>
          <a:p>
            <a:pPr marL="0" indent="0">
              <a:spcAft>
                <a:spcPts val="300"/>
              </a:spcAft>
              <a:buNone/>
            </a:pPr>
            <a:r>
              <a:rPr sz="1600" b="0">
                <a:solidFill>
                  <a:srgbClr val="282828"/>
                </a:solidFill>
                <a:latin typeface="Calibri" panose="020F0502020204030204"/>
              </a:rPr>
              <a:t>•  Automated edge telemetry buffering ensures zero data loss when vehicles traverse cellular dead zones or tunnels.</a:t>
            </a:r>
            <a:endParaRPr sz="1600" b="0">
              <a:solidFill>
                <a:srgbClr val="282828"/>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570" y="279772"/>
            <a:ext cx="9914859" cy="1329004"/>
          </a:xfrm>
        </p:spPr>
        <p:txBody>
          <a:bodyPr/>
          <a:lstStyle/>
          <a:p>
            <a:pPr algn="ctr"/>
            <a:r>
              <a:rPr lang="en-IN" dirty="0"/>
              <a:t>INTRODUCTION</a:t>
            </a:r>
            <a:br>
              <a:rPr lang="en-IN" dirty="0"/>
            </a:br>
            <a:endParaRPr lang="en-IN" dirty="0"/>
          </a:p>
        </p:txBody>
      </p:sp>
      <p:sp>
        <p:nvSpPr>
          <p:cNvPr id="3" name="Content Placeholder 2"/>
          <p:cNvSpPr>
            <a:spLocks noGrp="1"/>
          </p:cNvSpPr>
          <p:nvPr>
            <p:ph idx="1"/>
          </p:nvPr>
        </p:nvSpPr>
        <p:spPr>
          <a:xfrm>
            <a:off x="769620" y="1398464"/>
            <a:ext cx="10652760" cy="5011479"/>
          </a:xfrm>
        </p:spPr>
        <p:txBody>
          <a:bodyPr>
            <a:noAutofit/>
          </a:bodyPr>
          <a:lstStyle/>
          <a:p>
            <a:pPr marL="0" indent="0">
              <a:spcBef>
                <a:spcPts val="600"/>
              </a:spcBef>
              <a:spcAft>
                <a:spcPts val="200"/>
              </a:spcAft>
              <a:buNone/>
            </a:pPr>
            <a:r>
              <a:rPr sz="1600" b="1">
                <a:solidFill>
                  <a:srgbClr val="1F4E79"/>
                </a:solidFill>
                <a:latin typeface="Calibri" panose="020F0502020204030204"/>
              </a:rPr>
              <a:t>Physics-Informed Machine Learning (PIML)</a:t>
            </a:r>
            <a:endParaRPr sz="1600" b="1">
              <a:solidFill>
                <a:srgbClr val="1F4E79"/>
              </a:solidFill>
              <a:latin typeface="Calibri" panose="020F0502020204030204"/>
            </a:endParaRPr>
          </a:p>
          <a:p>
            <a:pPr marL="0" indent="0">
              <a:spcAft>
                <a:spcPts val="200"/>
              </a:spcAft>
              <a:buNone/>
            </a:pPr>
            <a:r>
              <a:rPr sz="1600" b="0">
                <a:solidFill>
                  <a:srgbClr val="282828"/>
                </a:solidFill>
                <a:latin typeface="Calibri" panose="020F0502020204030204"/>
              </a:rPr>
              <a:t>•  Combines empirical data-driven learning with vehicle dynamics (aerodynamic drag, rolling resistance, gravitational potential energy, and thermal losses).</a:t>
            </a:r>
            <a:endParaRPr sz="1600" b="0">
              <a:solidFill>
                <a:srgbClr val="282828"/>
              </a:solidFill>
              <a:latin typeface="Calibri" panose="020F0502020204030204"/>
            </a:endParaRPr>
          </a:p>
          <a:p>
            <a:pPr marL="0" indent="0">
              <a:spcAft>
                <a:spcPts val="200"/>
              </a:spcAft>
              <a:buNone/>
            </a:pPr>
            <a:r>
              <a:rPr sz="1600" b="0">
                <a:solidFill>
                  <a:srgbClr val="282828"/>
                </a:solidFill>
                <a:latin typeface="Calibri" panose="020F0502020204030204"/>
              </a:rPr>
              <a:t>•  Overcomes the failure of static manufacturer range ratings, providing physically grounded, robust range forecasts.</a:t>
            </a:r>
            <a:endParaRPr sz="1600" b="0">
              <a:solidFill>
                <a:srgbClr val="282828"/>
              </a:solidFill>
              <a:latin typeface="Calibri" panose="020F0502020204030204"/>
            </a:endParaRPr>
          </a:p>
          <a:p>
            <a:pPr marL="0" indent="0">
              <a:spcAft>
                <a:spcPts val="200"/>
              </a:spcAft>
              <a:buNone/>
            </a:pPr>
            <a:r>
              <a:rPr sz="1600" b="0">
                <a:solidFill>
                  <a:srgbClr val="282828"/>
                </a:solidFill>
                <a:latin typeface="Calibri" panose="020F0502020204030204"/>
              </a:rPr>
              <a:t>•  Adapts dynamically to extreme weather conditions (-10°C to 50°C) and auxiliary cabin heating/cooling loads.</a:t>
            </a:r>
            <a:endParaRPr sz="1600" b="0">
              <a:solidFill>
                <a:srgbClr val="282828"/>
              </a:solidFill>
              <a:latin typeface="Calibri" panose="020F0502020204030204"/>
            </a:endParaRPr>
          </a:p>
          <a:p>
            <a:pPr marL="0" indent="0">
              <a:spcBef>
                <a:spcPts val="600"/>
              </a:spcBef>
              <a:spcAft>
                <a:spcPts val="200"/>
              </a:spcAft>
              <a:buNone/>
            </a:pPr>
            <a:r>
              <a:rPr sz="1600" b="1">
                <a:solidFill>
                  <a:srgbClr val="1F4E79"/>
                </a:solidFill>
                <a:latin typeface="Calibri" panose="020F0502020204030204"/>
              </a:rPr>
              <a:t>Battery State of Health (SOH) &amp; Predictive Maintenance</a:t>
            </a:r>
            <a:endParaRPr sz="1600" b="1">
              <a:solidFill>
                <a:srgbClr val="1F4E79"/>
              </a:solidFill>
              <a:latin typeface="Calibri" panose="020F0502020204030204"/>
            </a:endParaRPr>
          </a:p>
          <a:p>
            <a:pPr marL="0" indent="0">
              <a:spcAft>
                <a:spcPts val="200"/>
              </a:spcAft>
              <a:buNone/>
            </a:pPr>
            <a:r>
              <a:rPr sz="1600" b="0">
                <a:solidFill>
                  <a:srgbClr val="282828"/>
                </a:solidFill>
                <a:latin typeface="Calibri" panose="020F0502020204030204"/>
              </a:rPr>
              <a:t>•  Lithium-ion battery packs degrade non-linearly over repeated charge-discharge cycles, accelerated by high discharge rates and thermal stress.</a:t>
            </a:r>
            <a:endParaRPr sz="1600" b="0">
              <a:solidFill>
                <a:srgbClr val="282828"/>
              </a:solidFill>
              <a:latin typeface="Calibri" panose="020F0502020204030204"/>
            </a:endParaRPr>
          </a:p>
          <a:p>
            <a:pPr marL="0" indent="0">
              <a:spcAft>
                <a:spcPts val="200"/>
              </a:spcAft>
              <a:buNone/>
            </a:pPr>
            <a:r>
              <a:rPr sz="1600" b="0">
                <a:solidFill>
                  <a:srgbClr val="282828"/>
                </a:solidFill>
                <a:latin typeface="Calibri" panose="020F0502020204030204"/>
              </a:rPr>
              <a:t>•  Continuous cell delta-voltage and internal impedance tracking allow early detection of cell imbalance and capacity fade.</a:t>
            </a:r>
            <a:endParaRPr sz="1600" b="0">
              <a:solidFill>
                <a:srgbClr val="282828"/>
              </a:solidFill>
              <a:latin typeface="Calibri" panose="020F0502020204030204"/>
            </a:endParaRPr>
          </a:p>
          <a:p>
            <a:pPr marL="0" indent="0">
              <a:spcAft>
                <a:spcPts val="200"/>
              </a:spcAft>
              <a:buNone/>
            </a:pPr>
            <a:r>
              <a:rPr sz="1600" b="0">
                <a:solidFill>
                  <a:srgbClr val="282828"/>
                </a:solidFill>
                <a:latin typeface="Calibri" panose="020F0502020204030204"/>
              </a:rPr>
              <a:t>•  Sensor-driven predictive maintenance prevents catastrophic en-route failures and maximizes asset lifespan.</a:t>
            </a:r>
            <a:endParaRPr sz="1600" b="0">
              <a:solidFill>
                <a:srgbClr val="282828"/>
              </a:solidFill>
              <a:latin typeface="Calibri" panose="020F0502020204030204"/>
            </a:endParaRPr>
          </a:p>
          <a:p>
            <a:pPr marL="0" indent="0">
              <a:spcBef>
                <a:spcPts val="600"/>
              </a:spcBef>
              <a:spcAft>
                <a:spcPts val="200"/>
              </a:spcAft>
              <a:buNone/>
            </a:pPr>
            <a:r>
              <a:rPr sz="1600" b="1">
                <a:solidFill>
                  <a:srgbClr val="1F4E79"/>
                </a:solidFill>
                <a:latin typeface="Calibri" panose="020F0502020204030204"/>
              </a:rPr>
              <a:t>Our Project Aim</a:t>
            </a:r>
            <a:endParaRPr sz="1600" b="1">
              <a:solidFill>
                <a:srgbClr val="1F4E79"/>
              </a:solidFill>
              <a:latin typeface="Calibri" panose="020F0502020204030204"/>
            </a:endParaRPr>
          </a:p>
          <a:p>
            <a:pPr marL="0" indent="0">
              <a:spcAft>
                <a:spcPts val="200"/>
              </a:spcAft>
              <a:buNone/>
            </a:pPr>
            <a:r>
              <a:rPr sz="1600" b="0">
                <a:solidFill>
                  <a:srgbClr val="282828"/>
                </a:solidFill>
                <a:latin typeface="Calibri" panose="020F0502020204030204"/>
              </a:rPr>
              <a:t>•  To develop VoltFleet AI — a unified, intelligent platform connecting real-time IoT vehicle telematics with physics-informed machine learning and geospatial logistics.</a:t>
            </a:r>
            <a:endParaRPr sz="1600" b="0">
              <a:solidFill>
                <a:srgbClr val="282828"/>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569" y="405465"/>
            <a:ext cx="9914859" cy="835009"/>
          </a:xfrm>
        </p:spPr>
        <p:txBody>
          <a:bodyPr/>
          <a:lstStyle/>
          <a:p>
            <a:pPr algn="ctr"/>
            <a:r>
              <a:rPr lang="en-IN" dirty="0"/>
              <a:t>OBJECTIVES</a:t>
            </a:r>
            <a:endParaRPr lang="en-IN" dirty="0"/>
          </a:p>
        </p:txBody>
      </p:sp>
      <p:sp>
        <p:nvSpPr>
          <p:cNvPr id="5" name="Rectangle 2"/>
          <p:cNvSpPr>
            <a:spLocks noGrp="1" noChangeArrowheads="1"/>
          </p:cNvSpPr>
          <p:nvPr>
            <p:ph idx="1"/>
          </p:nvPr>
        </p:nvSpPr>
        <p:spPr bwMode="auto">
          <a:xfrm>
            <a:off x="992265" y="1263312"/>
            <a:ext cx="9914858" cy="5000625"/>
          </a:xfrm>
          <a:prstGeom prst="rect">
            <a:avLst/>
          </a:prstGeom>
          <a:noFill/>
          <a:ln>
            <a:noFill/>
          </a:ln>
          <a:effectLst/>
        </p:spPr>
        <p:txBody>
          <a:bodyPr vert="horz" wrap="square" lIns="91440" tIns="45720" rIns="91440" bIns="45720" numCol="1" anchor="ctr" anchorCtr="0" compatLnSpc="1">
            <a:spAutoFit/>
          </a:bodyPr>
          <a:lstStyle/>
          <a:p>
            <a:pPr marL="0" indent="0">
              <a:spcBef>
                <a:spcPts val="120"/>
              </a:spcBef>
              <a:spcAft>
                <a:spcPts val="800"/>
              </a:spcAft>
              <a:buClr>
                <a:schemeClr val="tx1">
                  <a:lumMod val="95000"/>
                  <a:lumOff val="5000"/>
                </a:schemeClr>
              </a:buClr>
              <a:buFont typeface="Wingdings" panose="05000000000000000000" pitchFamily="2" charset="2"/>
              <a:buNone/>
            </a:pPr>
            <a:r>
              <a:rPr sz="1800" b="0">
                <a:solidFill>
                  <a:srgbClr val="1E1E1E"/>
                </a:solidFill>
                <a:latin typeface="Calibri" panose="020F0502020204030204"/>
              </a:rPr>
              <a:t>❖  To develop VoltFleet AI — a full-stack intelligent EV fleet management platform integrating real-time IoT telematics and interactive geospatial tracking.</a:t>
            </a:r>
            <a:endParaRPr lang="en-IN" sz="1800" dirty="0">
              <a:solidFill>
                <a:schemeClr val="tx1"/>
              </a:solidFill>
              <a:latin typeface="Times New Roman" panose="02020603050405020304" pitchFamily="18" charset="0"/>
              <a:cs typeface="Times New Roman" panose="02020603050405020304" pitchFamily="18" charset="0"/>
            </a:endParaRPr>
          </a:p>
          <a:p>
            <a:pPr marL="0" indent="0">
              <a:spcAft>
                <a:spcPts val="800"/>
              </a:spcAft>
              <a:buNone/>
            </a:pPr>
            <a:r>
              <a:rPr sz="1800" b="0">
                <a:solidFill>
                  <a:srgbClr val="1E1E1E"/>
                </a:solidFill>
                <a:latin typeface="Calibri" panose="020F0502020204030204"/>
              </a:rPr>
              <a:t>❖  To implement a Physics-Informed Machine Learning model (HistGradientBoosting) for dynamic EV range prediction factoring battery SOC, velocity, ambient temperature (-10°C to 50°C), HVAC load, and route elevation profiles.</a:t>
            </a:r>
            <a:endParaRPr sz="1800" b="0">
              <a:solidFill>
                <a:srgbClr val="1E1E1E"/>
              </a:solidFill>
              <a:latin typeface="Calibri" panose="020F0502020204030204"/>
            </a:endParaRPr>
          </a:p>
          <a:p>
            <a:pPr marL="0" indent="0">
              <a:spcAft>
                <a:spcPts val="800"/>
              </a:spcAft>
              <a:buNone/>
            </a:pPr>
            <a:r>
              <a:rPr sz="1800" b="0">
                <a:solidFill>
                  <a:srgbClr val="1E1E1E"/>
                </a:solidFill>
                <a:latin typeface="Calibri" panose="020F0502020204030204"/>
              </a:rPr>
              <a:t>❖  To construct a Dynamic Multi-Stop Route Optimizer with 3D digital elevation modeling that calculates gravitational power penalties, downhill regenerative braking recapture, and automated DC fast-charging waypoint insertion.</a:t>
            </a:r>
            <a:endParaRPr sz="1800" b="0">
              <a:solidFill>
                <a:srgbClr val="1E1E1E"/>
              </a:solidFill>
              <a:latin typeface="Calibri" panose="020F0502020204030204"/>
            </a:endParaRPr>
          </a:p>
          <a:p>
            <a:pPr marL="0" indent="0">
              <a:spcAft>
                <a:spcPts val="800"/>
              </a:spcAft>
              <a:buNone/>
            </a:pPr>
            <a:r>
              <a:rPr sz="1800" b="0">
                <a:solidFill>
                  <a:srgbClr val="1E1E1E"/>
                </a:solidFill>
                <a:latin typeface="Calibri" panose="020F0502020204030204"/>
              </a:rPr>
              <a:t>❖  To build an AI Driver Performance Scoring engine using Multiple Linear Regression to evaluate operators across Safety, Efficiency, Battery Care, and Route Compliance with automated coaching.</a:t>
            </a:r>
            <a:endParaRPr sz="1800" b="0">
              <a:solidFill>
                <a:srgbClr val="1E1E1E"/>
              </a:solidFill>
              <a:latin typeface="Calibri" panose="020F0502020204030204"/>
            </a:endParaRPr>
          </a:p>
          <a:p>
            <a:pPr marL="0" indent="0">
              <a:spcAft>
                <a:spcPts val="800"/>
              </a:spcAft>
              <a:buNone/>
            </a:pPr>
            <a:r>
              <a:rPr sz="1800" b="0">
                <a:solidFill>
                  <a:srgbClr val="1E1E1E"/>
                </a:solidFill>
                <a:latin typeface="Calibri" panose="020F0502020204030204"/>
              </a:rPr>
              <a:t>❖  To deploy a Smart Charging Scheduler and Predictive Maintenance Planner leveraging off-peak electricity tariffs to minimize fleet operational costs and maximize vehicle uptime.</a:t>
            </a:r>
            <a:endParaRPr sz="1800" b="0">
              <a:solidFill>
                <a:srgbClr val="1E1E1E"/>
              </a:solidFill>
              <a:latin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570" y="220907"/>
            <a:ext cx="9914859" cy="431887"/>
          </a:xfrm>
        </p:spPr>
        <p:txBody>
          <a:bodyPr>
            <a:normAutofit fontScale="90000"/>
          </a:bodyPr>
          <a:lstStyle/>
          <a:p>
            <a:pPr algn="ctr"/>
            <a:r>
              <a:rPr lang="en-IN" dirty="0">
                <a:cs typeface="Times New Roman" panose="02020603050405020304" pitchFamily="18" charset="0"/>
              </a:rPr>
              <a:t>LITERATURE</a:t>
            </a:r>
            <a:r>
              <a:rPr lang="en-IN" dirty="0">
                <a:latin typeface="Times New Roman" panose="02020603050405020304" pitchFamily="18" charset="0"/>
                <a:cs typeface="Times New Roman" panose="02020603050405020304" pitchFamily="18" charset="0"/>
              </a:rPr>
              <a:t> </a:t>
            </a:r>
            <a:r>
              <a:rPr lang="en-IN" dirty="0">
                <a:cs typeface="Times New Roman" panose="02020603050405020304" pitchFamily="18" charset="0"/>
              </a:rPr>
              <a:t>REVIEW</a:t>
            </a:r>
            <a:endParaRPr lang="en-IN" dirty="0">
              <a:cs typeface="Times New Roman" panose="02020603050405020304" pitchFamily="18" charset="0"/>
            </a:endParaRPr>
          </a:p>
        </p:txBody>
      </p:sp>
      <p:sp>
        <p:nvSpPr>
          <p:cNvPr id="5" name="Rectangle 1"/>
          <p:cNvSpPr>
            <a:spLocks noChangeArrowheads="1"/>
          </p:cNvSpPr>
          <p:nvPr/>
        </p:nvSpPr>
        <p:spPr bwMode="auto">
          <a:xfrm>
            <a:off x="-670335" y="-47717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latin typeface="Times New Roman" panose="02020603050405020304" pitchFamily="18" charset="0"/>
              <a:cs typeface="Times New Roman" panose="02020603050405020304" pitchFamily="18" charset="0"/>
            </a:endParaRPr>
          </a:p>
        </p:txBody>
      </p:sp>
      <p:sp>
        <p:nvSpPr>
          <p:cNvPr id="3" name="TextBox 2"/>
          <p:cNvSpPr txBox="1"/>
          <p:nvPr/>
        </p:nvSpPr>
        <p:spPr>
          <a:xfrm>
            <a:off x="2123768" y="1637071"/>
            <a:ext cx="184731" cy="369332"/>
          </a:xfrm>
          <a:prstGeom prst="rect">
            <a:avLst/>
          </a:prstGeom>
          <a:noFill/>
        </p:spPr>
        <p:txBody>
          <a:bodyPr wrap="none" rtlCol="0">
            <a:spAutoFit/>
          </a:bodyPr>
          <a:lstStyle/>
          <a:p>
            <a:endParaRPr lang="en-US" dirty="0"/>
          </a:p>
        </p:txBody>
      </p:sp>
      <p:sp>
        <p:nvSpPr>
          <p:cNvPr id="4" name="TextBox 3"/>
          <p:cNvSpPr txBox="1"/>
          <p:nvPr/>
        </p:nvSpPr>
        <p:spPr>
          <a:xfrm>
            <a:off x="2064773" y="1150374"/>
            <a:ext cx="6061587" cy="2521974"/>
          </a:xfrm>
          <a:prstGeom prst="rect">
            <a:avLst/>
          </a:prstGeom>
          <a:noFill/>
        </p:spPr>
        <p:txBody>
          <a:bodyPr wrap="square" rtlCol="0">
            <a:spAutoFit/>
          </a:bodyPr>
          <a:lstStyle/>
          <a:p>
            <a:endParaRPr lang="en-US" dirty="0"/>
          </a:p>
        </p:txBody>
      </p:sp>
      <p:graphicFrame>
        <p:nvGraphicFramePr>
          <p:cNvPr id="6" name="Table 5"/>
          <p:cNvGraphicFramePr>
            <a:graphicFrameLocks noGrp="1"/>
          </p:cNvGraphicFramePr>
          <p:nvPr/>
        </p:nvGraphicFramePr>
        <p:xfrm>
          <a:off x="516104" y="1084289"/>
          <a:ext cx="10665460" cy="4867910"/>
        </p:xfrm>
        <a:graphic>
          <a:graphicData uri="http://schemas.openxmlformats.org/drawingml/2006/table">
            <a:tbl>
              <a:tblPr>
                <a:tableStyleId>{08FB837D-C827-4EFA-A057-4D05807E0F7C}</a:tableStyleId>
              </a:tblPr>
              <a:tblGrid>
                <a:gridCol w="491744"/>
                <a:gridCol w="2786785"/>
                <a:gridCol w="1965960"/>
                <a:gridCol w="1836960"/>
                <a:gridCol w="1792155"/>
                <a:gridCol w="1792155"/>
              </a:tblGrid>
              <a:tr h="509233">
                <a:tc>
                  <a:txBody>
                    <a:bodyPr/>
                    <a:lstStyle/>
                    <a:p>
                      <a:r>
                        <a:rPr sz="1100" b="1">
                          <a:solidFill>
                            <a:srgbClr val="FFFFFF"/>
                          </a:solidFill>
                          <a:latin typeface="Calibri" panose="020F0502020204030204"/>
                        </a:rPr>
                        <a:t>S.No</a:t>
                      </a:r>
                      <a:endParaRPr sz="1100" b="1">
                        <a:solidFill>
                          <a:srgbClr val="FFFFFF"/>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r>
                        <a:rPr sz="1100" b="1">
                          <a:solidFill>
                            <a:srgbClr val="FFFFFF"/>
                          </a:solidFill>
                          <a:latin typeface="Calibri" panose="020F0502020204030204"/>
                        </a:rPr>
                        <a:t>Paper Title</a:t>
                      </a:r>
                      <a:endParaRPr sz="1100" b="1">
                        <a:solidFill>
                          <a:srgbClr val="FFFFFF"/>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r>
                        <a:rPr sz="1100" b="1">
                          <a:solidFill>
                            <a:srgbClr val="FFFFFF"/>
                          </a:solidFill>
                          <a:latin typeface="Calibri" panose="020F0502020204030204"/>
                        </a:rPr>
                        <a:t>Author(s) &amp; Publication</a:t>
                      </a:r>
                      <a:endParaRPr sz="1100" b="1">
                        <a:solidFill>
                          <a:srgbClr val="FFFFFF"/>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r>
                        <a:rPr sz="1100" b="1">
                          <a:solidFill>
                            <a:srgbClr val="FFFFFF"/>
                          </a:solidFill>
                          <a:latin typeface="Calibri" panose="020F0502020204030204"/>
                        </a:rPr>
                        <a:t>Theme</a:t>
                      </a:r>
                      <a:endParaRPr sz="1100" b="1">
                        <a:solidFill>
                          <a:srgbClr val="FFFFFF"/>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r>
                        <a:rPr sz="1100" b="1">
                          <a:solidFill>
                            <a:srgbClr val="FFFFFF"/>
                          </a:solidFill>
                          <a:latin typeface="Calibri" panose="020F0502020204030204"/>
                        </a:rPr>
                        <a:t>Advantage</a:t>
                      </a:r>
                      <a:endParaRPr sz="1100" b="1">
                        <a:solidFill>
                          <a:srgbClr val="FFFFFF"/>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r>
                        <a:rPr sz="1100" b="1">
                          <a:solidFill>
                            <a:srgbClr val="FFFFFF"/>
                          </a:solidFill>
                          <a:latin typeface="Calibri" panose="020F0502020204030204"/>
                        </a:rPr>
                        <a:t>Disadvantage</a:t>
                      </a:r>
                      <a:endParaRPr sz="1100" b="1">
                        <a:solidFill>
                          <a:srgbClr val="FFFFFF"/>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r>
              <a:tr h="1030134">
                <a:tc>
                  <a:txBody>
                    <a:bodyPr/>
                    <a:lstStyle/>
                    <a:p>
                      <a:r>
                        <a:rPr sz="1200" b="1">
                          <a:solidFill>
                            <a:srgbClr val="1E1E1E"/>
                          </a:solidFill>
                          <a:latin typeface="Calibri" panose="020F0502020204030204"/>
                        </a:rPr>
                        <a:t>1</a:t>
                      </a:r>
                      <a:endParaRPr sz="1200" b="1">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Machine Learning Applied to Electrified Vehicle Battery SOC and SOH Estimation: State-of-the-Art</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J. Meng et al., IEEE TTE, 2023</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ML for Battery SOC/SOH</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Comprehensive survey of ML algorithms for battery degradation tracking</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Requires extensive laboratory aging datasets under varying temperatures</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42416">
                <a:tc>
                  <a:txBody>
                    <a:bodyPr/>
                    <a:lstStyle/>
                    <a:p>
                      <a:r>
                        <a:rPr sz="1200" b="1">
                          <a:solidFill>
                            <a:srgbClr val="1E1E1E"/>
                          </a:solidFill>
                          <a:latin typeface="Calibri" panose="020F0502020204030204"/>
                        </a:rPr>
                        <a:t>2</a:t>
                      </a:r>
                      <a:endParaRPr sz="1200" b="1">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Predicting SoH and RUL of Li-ion Batteries in Electric Vehicles: Chemistry Insights</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M. R. Sarker et al., IEEE ICES, 2023</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SOH &amp; RUL Prediction</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Evaluates feature extraction from charging curves for battery prognosis</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High computational complexity for onboard microcontrollers; lacks route integration</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280160">
                <a:tc>
                  <a:txBody>
                    <a:bodyPr/>
                    <a:lstStyle/>
                    <a:p>
                      <a:r>
                        <a:rPr sz="1200" b="1">
                          <a:solidFill>
                            <a:srgbClr val="1E1E1E"/>
                          </a:solidFill>
                          <a:latin typeface="Calibri" panose="020F0502020204030204"/>
                        </a:rPr>
                        <a:t>3</a:t>
                      </a:r>
                      <a:endParaRPr sz="1200" b="1">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Advancements in AI-Powered Electric Vehicle Routing: Multi-Constraint Optimization</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Kumar et al., IEEE Access, 2024</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AI EV Route Optimization</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Multi-constraint route planning incorporating topography and charging stations</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Relies on static battery consumption assumptions without real-time telematics</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15940">
                <a:tc>
                  <a:txBody>
                    <a:bodyPr/>
                    <a:lstStyle/>
                    <a:p>
                      <a:r>
                        <a:rPr sz="1200" b="1">
                          <a:solidFill>
                            <a:srgbClr val="1E1E1E"/>
                          </a:solidFill>
                          <a:latin typeface="Calibri" panose="020F0502020204030204"/>
                        </a:rPr>
                        <a:t>4</a:t>
                      </a:r>
                      <a:endParaRPr sz="1200" b="1">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A Cloud Based Predictive and Preventive Maintenance for EV Fleet Management System</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Sharma et al., IEEE GreenTech, 2024</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Cloud IoT Fleet Maintenance</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Demonstrates cloud-connected telemetry monitoring and preventive maintenance alerts</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sz="1200" b="0">
                          <a:solidFill>
                            <a:srgbClr val="1E1E1E"/>
                          </a:solidFill>
                          <a:latin typeface="Calibri" panose="020F0502020204030204"/>
                        </a:rPr>
                        <a:t>Limited focus on driver behavioral coaching and elevation energy modeling</a:t>
                      </a:r>
                      <a:endParaRPr sz="1200" b="0">
                        <a:solidFill>
                          <a:srgbClr val="1E1E1E"/>
                        </a:solidFill>
                        <a:latin typeface="Calibri" panose="020F050202020403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827" y="288916"/>
            <a:ext cx="9914859" cy="913012"/>
          </a:xfrm>
        </p:spPr>
        <p:txBody>
          <a:bodyPr/>
          <a:lstStyle/>
          <a:p>
            <a:r>
              <a:t>EXISTING SYSTEM ARCHITECTURE &amp; FLOW</a:t>
            </a:r>
          </a:p>
        </p:txBody>
      </p:sp>
      <p:sp>
        <p:nvSpPr>
          <p:cNvPr id="8" name="TextBox 7"/>
          <p:cNvSpPr txBox="1"/>
          <p:nvPr/>
        </p:nvSpPr>
        <p:spPr>
          <a:xfrm>
            <a:off x="672084" y="4976544"/>
            <a:ext cx="9313163" cy="1799590"/>
          </a:xfrm>
          <a:prstGeom prst="rect">
            <a:avLst/>
          </a:prstGeom>
          <a:noFill/>
        </p:spPr>
        <p:txBody>
          <a:bodyPr wrap="square" rtlCol="0">
            <a:spAutoFit/>
          </a:bodyPr>
          <a:lstStyle/>
          <a:p>
            <a:pPr>
              <a:spcAft>
                <a:spcPts val="600"/>
              </a:spcAft>
            </a:pPr>
            <a:r>
              <a:rPr sz="1200" b="1">
                <a:solidFill>
                  <a:srgbClr val="C00000"/>
                </a:solidFill>
                <a:latin typeface="Calibri" panose="020F0502020204030204"/>
              </a:rPr>
              <a:t>•  Conventional Telematics: </a:t>
            </a:r>
            <a:r>
              <a:rPr sz="1200" b="0">
                <a:solidFill>
                  <a:srgbClr val="282828"/>
                </a:solidFill>
                <a:latin typeface="Calibri" panose="020F0502020204030204"/>
              </a:rPr>
              <a:t>Relies on standard GPS tracking designed for internal combustion engine (ICE) vehicles; captures basic coordinate pins without battery cell voltages, SOH, or thermal data.</a:t>
            </a:r>
            <a:endParaRPr lang="en-IN" sz="1200" dirty="0">
              <a:latin typeface="Times New Roman" panose="02020603050405020304" pitchFamily="18" charset="0"/>
              <a:cs typeface="Times New Roman" panose="02020603050405020304" pitchFamily="18" charset="0"/>
            </a:endParaRPr>
          </a:p>
          <a:p>
            <a:pPr>
              <a:spcAft>
                <a:spcPts val="600"/>
              </a:spcAft>
            </a:pPr>
            <a:r>
              <a:rPr sz="1200" b="1">
                <a:solidFill>
                  <a:srgbClr val="C00000"/>
                </a:solidFill>
                <a:latin typeface="Calibri" panose="020F0502020204030204"/>
              </a:rPr>
              <a:t>•  Static Dashboard Range: </a:t>
            </a:r>
            <a:r>
              <a:rPr sz="1200" b="0">
                <a:solidFill>
                  <a:srgbClr val="282828"/>
                </a:solidFill>
                <a:latin typeface="Calibri" panose="020F0502020204030204"/>
              </a:rPr>
              <a:t>Onboard instrument clusters calculate remaining range using naive historical averages that ignore route elevation, weather (-10°C to 50°C), and HVAC power consumption.</a:t>
            </a:r>
            <a:endParaRPr sz="1200" b="0">
              <a:solidFill>
                <a:srgbClr val="282828"/>
              </a:solidFill>
              <a:latin typeface="Calibri" panose="020F0502020204030204"/>
            </a:endParaRPr>
          </a:p>
          <a:p>
            <a:pPr>
              <a:spcAft>
                <a:spcPts val="600"/>
              </a:spcAft>
            </a:pPr>
            <a:r>
              <a:rPr sz="1200" b="1">
                <a:solidFill>
                  <a:srgbClr val="C00000"/>
                </a:solidFill>
                <a:latin typeface="Calibri" panose="020F0502020204030204"/>
              </a:rPr>
              <a:t>•  Uncoordinated Charging: </a:t>
            </a:r>
            <a:r>
              <a:rPr sz="1200" b="0">
                <a:solidFill>
                  <a:srgbClr val="282828"/>
                </a:solidFill>
                <a:latin typeface="Calibri" panose="020F0502020204030204"/>
              </a:rPr>
              <a:t>Fleet charging occurs on-demand or during peak electricity tariff windows, creating massive electricity cost spikes and grid demand penalties.</a:t>
            </a:r>
            <a:endParaRPr sz="1200" b="0">
              <a:solidFill>
                <a:srgbClr val="282828"/>
              </a:solidFill>
              <a:latin typeface="Calibri" panose="020F0502020204030204"/>
            </a:endParaRPr>
          </a:p>
          <a:p>
            <a:pPr>
              <a:spcAft>
                <a:spcPts val="600"/>
              </a:spcAft>
            </a:pPr>
            <a:r>
              <a:rPr sz="1200" b="1">
                <a:solidFill>
                  <a:srgbClr val="C00000"/>
                </a:solidFill>
                <a:latin typeface="Calibri" panose="020F0502020204030204"/>
              </a:rPr>
              <a:t>•  Reactive Maintenance: </a:t>
            </a:r>
            <a:r>
              <a:rPr sz="1200" b="0">
                <a:solidFill>
                  <a:srgbClr val="282828"/>
                </a:solidFill>
                <a:latin typeface="Calibri" panose="020F0502020204030204"/>
              </a:rPr>
              <a:t>Vehicle servicing is triggered only after component failure or fixed rigid odometer schedules, risking expensive mid-transit breakdown and battery cell damage.</a:t>
            </a:r>
            <a:endParaRPr sz="1200" b="0">
              <a:solidFill>
                <a:srgbClr val="282828"/>
              </a:solidFill>
              <a:latin typeface="Calibri" panose="020F0502020204030204"/>
            </a:endParaRPr>
          </a:p>
        </p:txBody>
      </p:sp>
      <p:pic>
        <p:nvPicPr>
          <p:cNvPr id="14" name="Content Placeholder 1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060065" y="1348740"/>
            <a:ext cx="5139055" cy="34810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827" y="288916"/>
            <a:ext cx="9914859" cy="913012"/>
          </a:xfrm>
        </p:spPr>
        <p:txBody>
          <a:bodyPr/>
          <a:lstStyle/>
          <a:p>
            <a:r>
              <a:rPr lang="en-IN" dirty="0"/>
              <a:t>EXISTING SYSTEM</a:t>
            </a:r>
            <a:endParaRPr lang="en-IN" dirty="0"/>
          </a:p>
        </p:txBody>
      </p:sp>
      <p:sp>
        <p:nvSpPr>
          <p:cNvPr id="8" name="TextBox 7"/>
          <p:cNvSpPr txBox="1"/>
          <p:nvPr/>
        </p:nvSpPr>
        <p:spPr>
          <a:xfrm>
            <a:off x="672084" y="3538904"/>
            <a:ext cx="9313163" cy="369332"/>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idx="1"/>
          </p:nvPr>
        </p:nvSpPr>
        <p:spPr>
          <a:xfrm>
            <a:off x="672084" y="1201928"/>
            <a:ext cx="9914860" cy="4123318"/>
          </a:xfrm>
        </p:spPr>
        <p:txBody>
          <a:bodyPr>
            <a:noAutofit/>
          </a:bodyPr>
          <a:lstStyle/>
          <a:p>
            <a:pPr marL="0" indent="0">
              <a:spcBef>
                <a:spcPts val="600"/>
              </a:spcBef>
              <a:spcAft>
                <a:spcPts val="200"/>
              </a:spcAft>
              <a:buNone/>
            </a:pPr>
            <a:r>
              <a:rPr sz="1400" b="1">
                <a:solidFill>
                  <a:srgbClr val="C00000"/>
                </a:solidFill>
                <a:latin typeface="Calibri" panose="020F0502020204030204"/>
              </a:rPr>
              <a:t>Siloed and Fragmented Software Tools</a:t>
            </a:r>
            <a:endParaRPr sz="1400" b="1">
              <a:solidFill>
                <a:srgbClr val="C00000"/>
              </a:solidFill>
              <a:latin typeface="Calibri" panose="020F0502020204030204"/>
            </a:endParaRPr>
          </a:p>
          <a:p>
            <a:pPr marL="0" indent="0">
              <a:spcAft>
                <a:spcPts val="200"/>
              </a:spcAft>
              <a:buNone/>
            </a:pPr>
            <a:r>
              <a:rPr sz="1400" b="0">
                <a:solidFill>
                  <a:srgbClr val="282828"/>
                </a:solidFill>
                <a:latin typeface="Calibri" panose="020F0502020204030204"/>
              </a:rPr>
              <a:t>•  Fleet managers are forced to juggle disconnected tools for GPS tracking, maintenance logs, charging station management, and driver payroll.</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Data fragmentation creates operational friction, synchronization latency, and high subscription overhead across multiple vendors.</a:t>
            </a:r>
            <a:endParaRPr sz="1400" b="0">
              <a:solidFill>
                <a:srgbClr val="282828"/>
              </a:solidFill>
              <a:latin typeface="Calibri" panose="020F0502020204030204"/>
            </a:endParaRPr>
          </a:p>
          <a:p>
            <a:pPr marL="0" indent="0">
              <a:spcBef>
                <a:spcPts val="600"/>
              </a:spcBef>
              <a:spcAft>
                <a:spcPts val="200"/>
              </a:spcAft>
              <a:buNone/>
            </a:pPr>
            <a:r>
              <a:rPr sz="1400" b="1">
                <a:solidFill>
                  <a:srgbClr val="C00000"/>
                </a:solidFill>
                <a:latin typeface="Calibri" panose="020F0502020204030204"/>
              </a:rPr>
              <a:t>Severe Range Anxiety &amp; Stranding Risk</a:t>
            </a:r>
            <a:endParaRPr sz="1400" b="1">
              <a:solidFill>
                <a:srgbClr val="C00000"/>
              </a:solidFill>
              <a:latin typeface="Calibri" panose="020F0502020204030204"/>
            </a:endParaRPr>
          </a:p>
          <a:p>
            <a:pPr marL="0" indent="0">
              <a:spcAft>
                <a:spcPts val="200"/>
              </a:spcAft>
              <a:buNone/>
            </a:pPr>
            <a:r>
              <a:rPr sz="1400" b="0">
                <a:solidFill>
                  <a:srgbClr val="282828"/>
                </a:solidFill>
                <a:latin typeface="Calibri" panose="020F0502020204030204"/>
              </a:rPr>
              <a:t>•  Traditional routing engines (Google Maps, standard navigation) plan paths based solely on distance or time, completely blind to battery SOC curves.</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Failure to account for uphill elevation power penalties and ambient cold leads to unexpected mid-transit stranding.</a:t>
            </a:r>
            <a:endParaRPr sz="1400" b="0">
              <a:solidFill>
                <a:srgbClr val="282828"/>
              </a:solidFill>
              <a:latin typeface="Calibri" panose="020F0502020204030204"/>
            </a:endParaRPr>
          </a:p>
          <a:p>
            <a:pPr marL="0" indent="0">
              <a:spcBef>
                <a:spcPts val="600"/>
              </a:spcBef>
              <a:spcAft>
                <a:spcPts val="200"/>
              </a:spcAft>
              <a:buNone/>
            </a:pPr>
            <a:r>
              <a:rPr sz="1400" b="1">
                <a:solidFill>
                  <a:srgbClr val="C00000"/>
                </a:solidFill>
                <a:latin typeface="Calibri" panose="020F0502020204030204"/>
              </a:rPr>
              <a:t>Lack of EV-Specific Driver Performance Analytics</a:t>
            </a:r>
            <a:endParaRPr sz="1400" b="1">
              <a:solidFill>
                <a:srgbClr val="C00000"/>
              </a:solidFill>
              <a:latin typeface="Calibri" panose="020F0502020204030204"/>
            </a:endParaRPr>
          </a:p>
          <a:p>
            <a:pPr marL="0" indent="0">
              <a:spcAft>
                <a:spcPts val="200"/>
              </a:spcAft>
              <a:buNone/>
            </a:pPr>
            <a:r>
              <a:rPr sz="1400" b="0">
                <a:solidFill>
                  <a:srgbClr val="282828"/>
                </a:solidFill>
                <a:latin typeface="Calibri" panose="020F0502020204030204"/>
              </a:rPr>
              <a:t>•  Existing telematics tools evaluate drivers using ICE metrics, ignoring EV-critical factors like regenerative braking utilization, battery thermal stress, and high-discharge acceleration.</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Without personalized coaching, aggressive driving accelerates battery capacity fade and increases brake wear.</a:t>
            </a:r>
            <a:endParaRPr sz="1400" b="0">
              <a:solidFill>
                <a:srgbClr val="282828"/>
              </a:solidFill>
              <a:latin typeface="Calibri" panose="020F0502020204030204"/>
            </a:endParaRPr>
          </a:p>
          <a:p>
            <a:pPr marL="0" indent="0">
              <a:spcBef>
                <a:spcPts val="600"/>
              </a:spcBef>
              <a:spcAft>
                <a:spcPts val="200"/>
              </a:spcAft>
              <a:buNone/>
            </a:pPr>
            <a:r>
              <a:rPr sz="1400" b="1">
                <a:solidFill>
                  <a:srgbClr val="C00000"/>
                </a:solidFill>
                <a:latin typeface="Calibri" panose="020F0502020204030204"/>
              </a:rPr>
              <a:t>Uncontrolled Charging Costs &amp; Rapid Degradation</a:t>
            </a:r>
            <a:endParaRPr sz="1400" b="1">
              <a:solidFill>
                <a:srgbClr val="C00000"/>
              </a:solidFill>
              <a:latin typeface="Calibri" panose="020F0502020204030204"/>
            </a:endParaRPr>
          </a:p>
          <a:p>
            <a:pPr marL="0" indent="0">
              <a:spcAft>
                <a:spcPts val="200"/>
              </a:spcAft>
              <a:buNone/>
            </a:pPr>
            <a:r>
              <a:rPr sz="1400" b="0">
                <a:solidFill>
                  <a:srgbClr val="282828"/>
                </a:solidFill>
                <a:latin typeface="Calibri" panose="020F0502020204030204"/>
              </a:rPr>
              <a:t>•  Unmanaged fast charging during peak electricity tariff hours inflates fleet operating expenses by 30-40% and accelerates lithium plating on battery anodes.</a:t>
            </a:r>
            <a:endParaRPr sz="1400" b="0">
              <a:solidFill>
                <a:srgbClr val="282828"/>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160" y="374904"/>
            <a:ext cx="9448801" cy="599440"/>
          </a:xfrm>
        </p:spPr>
        <p:txBody>
          <a:bodyPr>
            <a:normAutofit fontScale="90000"/>
          </a:bodyPr>
          <a:lstStyle/>
          <a:p>
            <a:pPr algn="ctr"/>
            <a:r>
              <a:rPr lang="en-IN" dirty="0"/>
              <a:t>PROPOSED SYSTEM</a:t>
            </a:r>
            <a:endParaRPr lang="en-IN" dirty="0"/>
          </a:p>
        </p:txBody>
      </p:sp>
      <p:sp>
        <p:nvSpPr>
          <p:cNvPr id="6" name="Rectangle 3"/>
          <p:cNvSpPr>
            <a:spLocks noGrp="1" noChangeArrowheads="1"/>
          </p:cNvSpPr>
          <p:nvPr>
            <p:ph idx="1"/>
          </p:nvPr>
        </p:nvSpPr>
        <p:spPr bwMode="auto">
          <a:xfrm>
            <a:off x="599440" y="1185392"/>
            <a:ext cx="10401808" cy="5160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spcAft>
                <a:spcPts val="800"/>
              </a:spcAft>
            </a:pPr>
            <a:r>
              <a:rPr sz="1400" b="0">
                <a:solidFill>
                  <a:srgbClr val="1E1E1E"/>
                </a:solidFill>
                <a:latin typeface="Calibri" panose="020F0502020204030204"/>
              </a:rPr>
              <a:t>The proposed VoltFleet AI platform introduces a unified, intelligence-driven architecture that bridges real-time IoT vehicle telematics with physics-informed machine learning and geospatial logistics.
</a:t>
            </a:r>
            <a:endParaRPr sz="1400" b="0">
              <a:solidFill>
                <a:srgbClr val="1E1E1E"/>
              </a:solidFill>
              <a:latin typeface="Calibri" panose="020F0502020204030204"/>
            </a:endParaRPr>
          </a:p>
          <a:p>
            <a:pPr marL="0" indent="0">
              <a:spcAft>
                <a:spcPts val="400"/>
              </a:spcAft>
              <a:buNone/>
            </a:pPr>
            <a:r>
              <a:rPr sz="1400" b="1">
                <a:solidFill>
                  <a:srgbClr val="1F4E79"/>
                </a:solidFill>
                <a:latin typeface="Calibri" panose="020F0502020204030204"/>
              </a:rPr>
              <a:t>Key Features of VoltFleet AI:</a:t>
            </a:r>
            <a:endParaRPr sz="1400" b="1">
              <a:solidFill>
                <a:srgbClr val="1F4E79"/>
              </a:solidFill>
              <a:latin typeface="Calibri" panose="020F0502020204030204"/>
            </a:endParaRPr>
          </a:p>
          <a:p>
            <a:pPr marL="0" indent="0">
              <a:spcAft>
                <a:spcPts val="300"/>
              </a:spcAft>
              <a:buNone/>
            </a:pPr>
            <a:r>
              <a:rPr sz="1400" b="1">
                <a:solidFill>
                  <a:srgbClr val="1F4E79"/>
                </a:solidFill>
                <a:latin typeface="Calibri" panose="020F0502020204030204"/>
              </a:rPr>
              <a:t>•  Live Geospatial Command Center: </a:t>
            </a:r>
            <a:r>
              <a:rPr sz="1400" b="0">
                <a:solidFill>
                  <a:srgbClr val="282828"/>
                </a:solidFill>
                <a:latin typeface="Calibri" panose="020F0502020204030204"/>
              </a:rPr>
              <a:t>Zero-API-key Leaflet night-highway map displaying live vehicle status, battery SOC %, speed, and health diagnostics.</a:t>
            </a:r>
            <a:endParaRPr sz="1400" b="0">
              <a:solidFill>
                <a:srgbClr val="282828"/>
              </a:solidFill>
              <a:latin typeface="Calibri" panose="020F0502020204030204"/>
            </a:endParaRPr>
          </a:p>
          <a:p>
            <a:pPr marL="0" indent="0">
              <a:spcAft>
                <a:spcPts val="300"/>
              </a:spcAft>
              <a:buNone/>
            </a:pPr>
            <a:r>
              <a:rPr sz="1400" b="1">
                <a:solidFill>
                  <a:srgbClr val="1F4E79"/>
                </a:solidFill>
                <a:latin typeface="Calibri" panose="020F0502020204030204"/>
              </a:rPr>
              <a:t>•  Physics-Informed ML Range Predictor: </a:t>
            </a:r>
            <a:r>
              <a:rPr sz="1400" b="0">
                <a:solidFill>
                  <a:srgbClr val="282828"/>
                </a:solidFill>
                <a:latin typeface="Calibri" panose="020F0502020204030204"/>
              </a:rPr>
              <a:t>HistGradientBoosting regression model trained on battery capacity, SOC %, speed, ambient temp (-10°C to 50°C), and elevation profiles.</a:t>
            </a:r>
            <a:endParaRPr sz="1400" b="0">
              <a:solidFill>
                <a:srgbClr val="282828"/>
              </a:solidFill>
              <a:latin typeface="Calibri" panose="020F0502020204030204"/>
            </a:endParaRPr>
          </a:p>
          <a:p>
            <a:pPr marL="0" indent="0">
              <a:spcAft>
                <a:spcPts val="300"/>
              </a:spcAft>
              <a:buNone/>
            </a:pPr>
            <a:r>
              <a:rPr sz="1400" b="1">
                <a:solidFill>
                  <a:srgbClr val="1F4E79"/>
                </a:solidFill>
                <a:latin typeface="Calibri" panose="020F0502020204030204"/>
              </a:rPr>
              <a:t>•  Dynamic Multi-Stop Route Optimizer: </a:t>
            </a:r>
            <a:r>
              <a:rPr sz="1400" b="0">
                <a:solidFill>
                  <a:srgbClr val="282828"/>
                </a:solidFill>
                <a:latin typeface="Calibri" panose="020F0502020204030204"/>
              </a:rPr>
              <a:t>Digital elevation modeling calculating gravitational penalties and downhill regen recovery; auto-inserts 150 kW DC charging waypoints.</a:t>
            </a:r>
            <a:endParaRPr sz="1400" b="0">
              <a:solidFill>
                <a:srgbClr val="282828"/>
              </a:solidFill>
              <a:latin typeface="Calibri" panose="020F0502020204030204"/>
            </a:endParaRPr>
          </a:p>
          <a:p>
            <a:pPr marL="0" indent="0">
              <a:spcAft>
                <a:spcPts val="300"/>
              </a:spcAft>
              <a:buNone/>
            </a:pPr>
            <a:r>
              <a:rPr sz="1400" b="1">
                <a:solidFill>
                  <a:srgbClr val="1F4E79"/>
                </a:solidFill>
                <a:latin typeface="Calibri" panose="020F0502020204030204"/>
              </a:rPr>
              <a:t>•  4-Pillar AI Driver Scoring: </a:t>
            </a:r>
            <a:r>
              <a:rPr sz="1400" b="0">
                <a:solidFill>
                  <a:srgbClr val="282828"/>
                </a:solidFill>
                <a:latin typeface="Calibri" panose="020F0502020204030204"/>
              </a:rPr>
              <a:t>Multiple Linear Regression model evaluates Safety, Efficiency, Battery Care, and Route Compliance with actionable driver coaching.</a:t>
            </a:r>
            <a:endParaRPr sz="1400" b="0">
              <a:solidFill>
                <a:srgbClr val="282828"/>
              </a:solidFill>
              <a:latin typeface="Calibri" panose="020F0502020204030204"/>
            </a:endParaRPr>
          </a:p>
          <a:p>
            <a:pPr marL="0" indent="0">
              <a:spcAft>
                <a:spcPts val="300"/>
              </a:spcAft>
              <a:buNone/>
            </a:pPr>
            <a:r>
              <a:rPr sz="1400" b="1">
                <a:solidFill>
                  <a:srgbClr val="1F4E79"/>
                </a:solidFill>
                <a:latin typeface="Calibri" panose="020F0502020204030204"/>
              </a:rPr>
              <a:t>•  Smart Charging &amp; Predictive Maintenance: </a:t>
            </a:r>
            <a:r>
              <a:rPr sz="1400" b="0">
                <a:solidFill>
                  <a:srgbClr val="282828"/>
                </a:solidFill>
                <a:latin typeface="Calibri" panose="020F0502020204030204"/>
              </a:rPr>
              <a:t>Off-peak Time-of-Use (ToU) tariff scheduling and automated sensor-driven maintenance tickets to maximize vehicle uptime.</a:t>
            </a:r>
            <a:endParaRPr sz="1400" b="0">
              <a:solidFill>
                <a:srgbClr val="282828"/>
              </a:solidFill>
              <a:latin typeface="Calibri" panose="020F0502020204030204"/>
            </a:endParaRPr>
          </a:p>
          <a:p>
            <a:pPr marL="0" indent="0">
              <a:spcBef>
                <a:spcPts val="600"/>
              </a:spcBef>
              <a:buNone/>
            </a:pPr>
            <a:r>
              <a:rPr sz="1400" b="1">
                <a:solidFill>
                  <a:srgbClr val="2E75B6"/>
                </a:solidFill>
                <a:latin typeface="Calibri" panose="020F0502020204030204"/>
              </a:rPr>
              <a:t>System Value: Eliminates en-route stranding, cuts charging costs by up to 31.4%, and extends battery lifecycle by 18–22%.</a:t>
            </a:r>
            <a:endParaRPr sz="1400" b="1">
              <a:solidFill>
                <a:srgbClr val="2E75B6"/>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608" y="66412"/>
            <a:ext cx="11860784" cy="1085732"/>
          </a:xfrm>
        </p:spPr>
        <p:txBody>
          <a:bodyPr>
            <a:noAutofit/>
          </a:bodyPr>
          <a:lstStyle/>
          <a:p>
            <a:pPr algn="ctr"/>
            <a:r>
              <a:rPr lang="en-IN" sz="3400" dirty="0"/>
              <a:t>SYSTEM ARCHITECTURE</a:t>
            </a:r>
            <a:endParaRPr lang="en-IN" sz="3400" dirty="0"/>
          </a:p>
        </p:txBody>
      </p:sp>
      <p:pic>
        <p:nvPicPr>
          <p:cNvPr id="992622295" name="Picture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809750" y="1151890"/>
            <a:ext cx="8316595" cy="50495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256" y="216332"/>
            <a:ext cx="9914859" cy="990676"/>
          </a:xfrm>
        </p:spPr>
        <p:txBody>
          <a:bodyPr/>
          <a:lstStyle/>
          <a:p>
            <a:pPr algn="ctr"/>
            <a:r>
              <a:rPr lang="en-IN" dirty="0"/>
              <a:t>MODULES</a:t>
            </a:r>
            <a:endParaRPr lang="en-IN" dirty="0"/>
          </a:p>
        </p:txBody>
      </p:sp>
      <p:sp>
        <p:nvSpPr>
          <p:cNvPr id="4" name="Content Placeholder 3"/>
          <p:cNvSpPr>
            <a:spLocks noGrp="1"/>
          </p:cNvSpPr>
          <p:nvPr>
            <p:ph idx="1"/>
          </p:nvPr>
        </p:nvSpPr>
        <p:spPr>
          <a:xfrm>
            <a:off x="528955" y="979805"/>
            <a:ext cx="10309225" cy="5285105"/>
          </a:xfrm>
        </p:spPr>
        <p:txBody>
          <a:bodyPr>
            <a:noAutofit/>
          </a:bodyPr>
          <a:lstStyle/>
          <a:p>
            <a:pPr marL="0" indent="0">
              <a:spcBef>
                <a:spcPts val="600"/>
              </a:spcBef>
              <a:spcAft>
                <a:spcPts val="200"/>
              </a:spcAft>
              <a:buNone/>
            </a:pPr>
            <a:r>
              <a:rPr sz="1600" b="1">
                <a:solidFill>
                  <a:srgbClr val="1F4E79"/>
                </a:solidFill>
                <a:latin typeface="Calibri" panose="020F0502020204030204"/>
              </a:rPr>
              <a:t>1. Live Interactive Fleet Command Center</a:t>
            </a:r>
            <a:endParaRPr lang="en-US" sz="1600" b="1" dirty="0">
              <a:solidFill>
                <a:schemeClr val="tx1"/>
              </a:solidFill>
              <a:latin typeface="Times New Roman" panose="02020603050405020304" pitchFamily="18" charset="0"/>
              <a:cs typeface="Times New Roman" panose="02020603050405020304" pitchFamily="18" charset="0"/>
            </a:endParaRPr>
          </a:p>
          <a:p>
            <a:pPr marL="0" indent="0">
              <a:spcAft>
                <a:spcPts val="200"/>
              </a:spcAft>
              <a:buNone/>
            </a:pPr>
            <a:r>
              <a:rPr sz="1400" b="0">
                <a:solidFill>
                  <a:srgbClr val="282828"/>
                </a:solidFill>
                <a:latin typeface="Calibri" panose="020F0502020204030204"/>
              </a:rPr>
              <a:t>•  Central operational dashboard with high-contrast, zero-API-key Leaflet night-highway map.</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Real-time vehicle telemetry pins display live status (Active, In Transit, Charging, Idle), battery SOC %, SOH %, speed, and inverter temperature.</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Dynamic Fleet KPI strip aggregates total mileage, active vehicle count, and fleet-wide energy efficiency in real time.</a:t>
            </a:r>
            <a:endParaRPr sz="1400" b="0">
              <a:solidFill>
                <a:srgbClr val="282828"/>
              </a:solidFill>
              <a:latin typeface="Calibri" panose="020F0502020204030204"/>
            </a:endParaRPr>
          </a:p>
          <a:p>
            <a:pPr marL="0" indent="0">
              <a:spcBef>
                <a:spcPts val="600"/>
              </a:spcBef>
              <a:spcAft>
                <a:spcPts val="200"/>
              </a:spcAft>
              <a:buNone/>
            </a:pPr>
            <a:r>
              <a:rPr sz="1600" b="1">
                <a:solidFill>
                  <a:srgbClr val="1F4E79"/>
                </a:solidFill>
                <a:latin typeface="Calibri" panose="020F0502020204030204"/>
              </a:rPr>
              <a:t>2. Role-Based Authentication &amp; Secure Telematics Ingestion</a:t>
            </a:r>
            <a:endParaRPr sz="1600" b="1">
              <a:solidFill>
                <a:srgbClr val="1F4E79"/>
              </a:solidFill>
              <a:latin typeface="Calibri" panose="020F0502020204030204"/>
            </a:endParaRPr>
          </a:p>
          <a:p>
            <a:pPr marL="0" indent="0">
              <a:spcAft>
                <a:spcPts val="200"/>
              </a:spcAft>
              <a:buNone/>
            </a:pPr>
            <a:r>
              <a:rPr sz="1400" b="0">
                <a:solidFill>
                  <a:srgbClr val="282828"/>
                </a:solidFill>
                <a:latin typeface="Calibri" panose="020F0502020204030204"/>
              </a:rPr>
              <a:t>•  Dual Role-Based Access Control (RBAC) separates Fleet Managers (dispatch, maintenance, analytics) from Commercial Drivers (personal routes, shift revenue).</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Cryptographic security with bcrypt password hashing (12 adaptive salt rounds) and signed JSON Web Tokens (JWT).</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Asynchronous telematics ingestion pipeline handles high-throughput vehicle sensor payloads with transactional integrity in SQLite/PostgreSQL.</a:t>
            </a:r>
            <a:endParaRPr sz="1400" b="0">
              <a:solidFill>
                <a:srgbClr val="282828"/>
              </a:solidFill>
              <a:latin typeface="Calibri" panose="020F0502020204030204"/>
            </a:endParaRPr>
          </a:p>
          <a:p>
            <a:pPr marL="0" indent="0">
              <a:spcBef>
                <a:spcPts val="600"/>
              </a:spcBef>
              <a:spcAft>
                <a:spcPts val="200"/>
              </a:spcAft>
              <a:buNone/>
            </a:pPr>
            <a:r>
              <a:rPr sz="1600" b="1">
                <a:solidFill>
                  <a:srgbClr val="1F4E79"/>
                </a:solidFill>
                <a:latin typeface="Calibri" panose="020F0502020204030204"/>
              </a:rPr>
              <a:t>3. Dynamic Multi-Stop Route Optimizer &amp; Global Elevation Engine</a:t>
            </a:r>
            <a:endParaRPr sz="1600" b="1">
              <a:solidFill>
                <a:srgbClr val="1F4E79"/>
              </a:solidFill>
              <a:latin typeface="Calibri" panose="020F0502020204030204"/>
            </a:endParaRPr>
          </a:p>
          <a:p>
            <a:pPr marL="0" indent="0">
              <a:spcAft>
                <a:spcPts val="200"/>
              </a:spcAft>
              <a:buNone/>
            </a:pPr>
            <a:r>
              <a:rPr sz="1400" b="0">
                <a:solidFill>
                  <a:srgbClr val="282828"/>
                </a:solidFill>
                <a:latin typeface="Calibri" panose="020F0502020204030204"/>
              </a:rPr>
              <a:t>•  Interactive multi-stop route planner integrated with OpenStreetMap and global coordinates database.</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Digital Elevation Modeling (DEM) calculates topographical altitude profiles, climbing penalties, and downhill regenerative energy recovery.</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Automated DC fast-charging stop recommendation ensures battery SOC never drops below safe margins (20%) along cross-city transit.</a:t>
            </a:r>
            <a:endParaRPr sz="1400" b="0">
              <a:solidFill>
                <a:srgbClr val="282828"/>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256" y="0"/>
            <a:ext cx="9914859" cy="990676"/>
          </a:xfrm>
        </p:spPr>
        <p:txBody>
          <a:bodyPr/>
          <a:lstStyle/>
          <a:p>
            <a:pPr algn="ctr"/>
            <a:r>
              <a:rPr lang="en-IN" dirty="0"/>
              <a:t>MODULES</a:t>
            </a:r>
            <a:endParaRPr lang="en-IN" dirty="0"/>
          </a:p>
        </p:txBody>
      </p:sp>
      <p:sp>
        <p:nvSpPr>
          <p:cNvPr id="4" name="Content Placeholder 3"/>
          <p:cNvSpPr>
            <a:spLocks noGrp="1"/>
          </p:cNvSpPr>
          <p:nvPr>
            <p:ph idx="1"/>
          </p:nvPr>
        </p:nvSpPr>
        <p:spPr>
          <a:xfrm>
            <a:off x="538750" y="753783"/>
            <a:ext cx="10288382" cy="5800306"/>
          </a:xfrm>
        </p:spPr>
        <p:txBody>
          <a:bodyPr>
            <a:noAutofit/>
          </a:bodyPr>
          <a:lstStyle/>
          <a:p>
            <a:pPr marL="0" indent="0">
              <a:spcBef>
                <a:spcPts val="600"/>
              </a:spcBef>
              <a:spcAft>
                <a:spcPts val="200"/>
              </a:spcAft>
              <a:buNone/>
            </a:pPr>
            <a:r>
              <a:rPr sz="1600" b="1">
                <a:solidFill>
                  <a:srgbClr val="1F4E79"/>
                </a:solidFill>
                <a:latin typeface="Calibri" panose="020F0502020204030204"/>
              </a:rPr>
              <a:t>4. ML AI Driver Performance Scoring</a:t>
            </a:r>
            <a:endParaRPr sz="1600" b="1">
              <a:solidFill>
                <a:srgbClr val="1F4E79"/>
              </a:solidFill>
              <a:latin typeface="Calibri" panose="020F0502020204030204"/>
            </a:endParaRPr>
          </a:p>
          <a:p>
            <a:pPr marL="0" indent="0">
              <a:spcAft>
                <a:spcPts val="200"/>
              </a:spcAft>
              <a:buNone/>
            </a:pPr>
            <a:r>
              <a:rPr sz="1400" b="0">
                <a:solidFill>
                  <a:srgbClr val="282828"/>
                </a:solidFill>
                <a:latin typeface="Calibri" panose="020F0502020204030204"/>
              </a:rPr>
              <a:t>•  Multiple Linear Regression model evaluates driver behavior across 4 key pillars: Safety, Efficiency, Battery Care, and Route Compliance.</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Personalized AI coaching recommendations automatically generated per operator (e.g., smooth deceleration to protect brake wear).</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Interactive multi-dimensional telemetry stream compares real-time speed vs energy efficiency vs motor power draw.</a:t>
            </a:r>
            <a:endParaRPr sz="1400" b="0">
              <a:solidFill>
                <a:srgbClr val="282828"/>
              </a:solidFill>
              <a:latin typeface="Calibri" panose="020F0502020204030204"/>
            </a:endParaRPr>
          </a:p>
          <a:p>
            <a:pPr marL="0" indent="0">
              <a:spcBef>
                <a:spcPts val="600"/>
              </a:spcBef>
              <a:spcAft>
                <a:spcPts val="200"/>
              </a:spcAft>
              <a:buNone/>
            </a:pPr>
            <a:r>
              <a:rPr sz="1600" b="1">
                <a:solidFill>
                  <a:srgbClr val="1F4E79"/>
                </a:solidFill>
                <a:latin typeface="Calibri" panose="020F0502020204030204"/>
              </a:rPr>
              <a:t>5. Physics-Informed ML Battery Range Predictor &amp; Health Analytics</a:t>
            </a:r>
            <a:endParaRPr sz="1600" b="1">
              <a:solidFill>
                <a:srgbClr val="1F4E79"/>
              </a:solidFill>
              <a:latin typeface="Calibri" panose="020F0502020204030204"/>
            </a:endParaRPr>
          </a:p>
          <a:p>
            <a:pPr marL="0" indent="0">
              <a:spcAft>
                <a:spcPts val="200"/>
              </a:spcAft>
              <a:buNone/>
            </a:pPr>
            <a:r>
              <a:rPr sz="1400" b="0">
                <a:solidFill>
                  <a:srgbClr val="282828"/>
                </a:solidFill>
                <a:latin typeface="Calibri" panose="020F0502020204030204"/>
              </a:rPr>
              <a:t>•  HistGradientBoosting regression model forecasts real-world driving range factoring battery SOC, velocity, ambient temp (-10°C to 50°C), and terrain.</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Interactive What-If Range Simulator allows dispatchers to simulate mission feasibility before departure and flags potential range deficits.</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Battery State of Health (SOH) analytics tracks cell delta-voltages, internal impedance growth, and triggers thermal runaway warnings (&gt;45°C).</a:t>
            </a:r>
            <a:endParaRPr sz="1400" b="0">
              <a:solidFill>
                <a:srgbClr val="282828"/>
              </a:solidFill>
              <a:latin typeface="Calibri" panose="020F0502020204030204"/>
            </a:endParaRPr>
          </a:p>
          <a:p>
            <a:pPr marL="0" indent="0">
              <a:spcBef>
                <a:spcPts val="600"/>
              </a:spcBef>
              <a:spcAft>
                <a:spcPts val="200"/>
              </a:spcAft>
              <a:buNone/>
            </a:pPr>
            <a:r>
              <a:rPr sz="1600" b="1">
                <a:solidFill>
                  <a:srgbClr val="1F4E79"/>
                </a:solidFill>
                <a:latin typeface="Calibri" panose="020F0502020204030204"/>
              </a:rPr>
              <a:t>6. Smart Charging Scheduler &amp; Predictive Maintenance Planner</a:t>
            </a:r>
            <a:endParaRPr sz="1600" b="1">
              <a:solidFill>
                <a:srgbClr val="1F4E79"/>
              </a:solidFill>
              <a:latin typeface="Calibri" panose="020F0502020204030204"/>
            </a:endParaRPr>
          </a:p>
          <a:p>
            <a:pPr marL="0" indent="0">
              <a:spcAft>
                <a:spcPts val="200"/>
              </a:spcAft>
              <a:buNone/>
            </a:pPr>
            <a:r>
              <a:rPr sz="1400" b="0">
                <a:solidFill>
                  <a:srgbClr val="282828"/>
                </a:solidFill>
                <a:latin typeface="Calibri" panose="020F0502020204030204"/>
              </a:rPr>
              <a:t>•  Off-Peak Tariff Optimization algorithms schedule depot charging during low-cost electricity windows (e.g., 23:00–06:00), reducing charging costs by up to 35%.</a:t>
            </a:r>
            <a:endParaRPr sz="1400" b="0">
              <a:solidFill>
                <a:srgbClr val="282828"/>
              </a:solidFill>
              <a:latin typeface="Calibri" panose="020F0502020204030204"/>
            </a:endParaRPr>
          </a:p>
          <a:p>
            <a:pPr marL="0" indent="0">
              <a:spcAft>
                <a:spcPts val="200"/>
              </a:spcAft>
              <a:buNone/>
            </a:pPr>
            <a:r>
              <a:rPr sz="1400" b="0">
                <a:solidFill>
                  <a:srgbClr val="282828"/>
                </a:solidFill>
                <a:latin typeface="Calibri" panose="020F0502020204030204"/>
              </a:rPr>
              <a:t>•  Smart charging port allocation matches vehicle battery chemistry, target departure times, and charger connector types (CCS2, 50kW–150kW DC).</a:t>
            </a:r>
            <a:endParaRPr sz="1400" b="0">
              <a:solidFill>
                <a:srgbClr val="282828"/>
              </a:solidFill>
              <a:latin typeface="Calibri" panose="020F0502020204030204"/>
            </a:endParaRPr>
          </a:p>
          <a:p>
            <a:pPr marL="0" indent="0">
              <a:spcAft>
                <a:spcPts val="200"/>
              </a:spcAft>
              <a:buNone/>
            </a:pPr>
            <a:endParaRPr sz="1400" b="0">
              <a:solidFill>
                <a:srgbClr val="282828"/>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8570" y="176745"/>
            <a:ext cx="9914859" cy="1329004"/>
          </a:xfrm>
        </p:spPr>
        <p:txBody>
          <a:bodyPr/>
          <a:lstStyle/>
          <a:p>
            <a:pPr algn="ctr"/>
            <a:r>
              <a:t>RESULTS &amp; PERFORMANCE EVALUATION</a:t>
            </a:r>
          </a:p>
        </p:txBody>
      </p:sp>
      <p:sp>
        <p:nvSpPr>
          <p:cNvPr id="3" name="Content Placeholder 2"/>
          <p:cNvSpPr>
            <a:spLocks noGrp="1"/>
          </p:cNvSpPr>
          <p:nvPr>
            <p:ph idx="1"/>
          </p:nvPr>
        </p:nvSpPr>
        <p:spPr>
          <a:xfrm>
            <a:off x="822960" y="1505749"/>
            <a:ext cx="10917936" cy="4919756"/>
          </a:xfrm>
        </p:spPr>
        <p:txBody>
          <a:bodyPr>
            <a:noAutofit/>
          </a:bodyPr>
          <a:lstStyle/>
          <a:p>
            <a:pPr marL="0" indent="0">
              <a:lnSpc>
                <a:spcPct val="150000"/>
              </a:lnSpc>
              <a:spcAft>
                <a:spcPts val="400"/>
              </a:spcAft>
              <a:buNone/>
            </a:pPr>
            <a:r>
              <a:rPr sz="1400" b="1">
                <a:solidFill>
                  <a:srgbClr val="1F4E79"/>
                </a:solidFill>
                <a:latin typeface="Calibri" panose="020F0502020204030204"/>
              </a:rPr>
              <a:t>1. Machine Learning Model Benchmark Comparison (VoltFleet EV Dataset)</a:t>
            </a:r>
            <a:endParaRPr sz="1400" b="1">
              <a:solidFill>
                <a:srgbClr val="1F4E79"/>
              </a:solidFill>
              <a:latin typeface="Calibri" panose="020F0502020204030204"/>
            </a:endParaRPr>
          </a:p>
          <a:p>
            <a:pPr marL="0" indent="0">
              <a:spcAft>
                <a:spcPts val="200"/>
              </a:spcAft>
              <a:buNone/>
            </a:pPr>
            <a:r>
              <a:rPr sz="1400" b="0">
                <a:solidFill>
                  <a:srgbClr val="1E1E1E"/>
                </a:solidFill>
                <a:latin typeface="Calibri" panose="020F0502020204030204"/>
              </a:rPr>
              <a:t> •  Random Forest          :  Accuracy = 97.60%  |  Precision = 97.58%  |  Recall = 99.73%  |  F1 = 98.64%  |  AUC = 0.9966</a:t>
            </a:r>
            <a:endParaRPr sz="1400" b="0">
              <a:solidFill>
                <a:srgbClr val="1E1E1E"/>
              </a:solidFill>
              <a:latin typeface="Calibri" panose="020F0502020204030204"/>
            </a:endParaRPr>
          </a:p>
          <a:p>
            <a:pPr marL="0" indent="0">
              <a:spcAft>
                <a:spcPts val="200"/>
              </a:spcAft>
              <a:buNone/>
            </a:pPr>
            <a:r>
              <a:rPr sz="1400" b="0">
                <a:solidFill>
                  <a:srgbClr val="1E1E1E"/>
                </a:solidFill>
                <a:latin typeface="Calibri" panose="020F0502020204030204"/>
              </a:rPr>
              <a:t> •  Logistic Regression    :  Accuracy = 98.40%  |  Precision = 98.55%  |  Recall = 99.63%  |  F1 = 99.09%  |  AUC = 0.9959</a:t>
            </a:r>
            <a:endParaRPr sz="1400" b="0">
              <a:solidFill>
                <a:srgbClr val="1E1E1E"/>
              </a:solidFill>
              <a:latin typeface="Calibri" panose="020F0502020204030204"/>
            </a:endParaRPr>
          </a:p>
          <a:p>
            <a:pPr marL="0" indent="0">
              <a:spcAft>
                <a:spcPts val="200"/>
              </a:spcAft>
              <a:buNone/>
            </a:pPr>
            <a:r>
              <a:rPr sz="1400" b="0">
                <a:solidFill>
                  <a:srgbClr val="1E1E1E"/>
                </a:solidFill>
                <a:latin typeface="Calibri" panose="020F0502020204030204"/>
              </a:rPr>
              <a:t>•  KNN                    :  Accuracy = 94.32%  |  Precision = 94.98%  |  Recall = 98.72%  |  F1 = 96.81%  |  AUC = 0.9433</a:t>
            </a:r>
            <a:endParaRPr sz="1400" b="0">
              <a:solidFill>
                <a:srgbClr val="1E1E1E"/>
              </a:solidFill>
              <a:latin typeface="Calibri" panose="020F0502020204030204"/>
            </a:endParaRPr>
          </a:p>
          <a:p>
            <a:pPr marL="0" indent="0">
              <a:spcAft>
                <a:spcPts val="200"/>
              </a:spcAft>
              <a:buNone/>
            </a:pPr>
            <a:r>
              <a:rPr sz="1400" b="0">
                <a:solidFill>
                  <a:srgbClr val="1E1E1E"/>
                </a:solidFill>
                <a:latin typeface="Calibri" panose="020F0502020204030204"/>
              </a:rPr>
              <a:t>•  Gaussian Naive Bayes   :  Accuracy = 92.24%  |  Precision = 94.54%  |  Recall = 96.71%  |  F1 = 95.61%  |  AUC = 0.9563</a:t>
            </a:r>
            <a:endParaRPr sz="1400" b="0">
              <a:solidFill>
                <a:srgbClr val="1E1E1E"/>
              </a:solidFill>
              <a:latin typeface="Calibri" panose="020F0502020204030204"/>
            </a:endParaRPr>
          </a:p>
          <a:p>
            <a:pPr marL="0" indent="0">
              <a:spcBef>
                <a:spcPts val="800"/>
              </a:spcBef>
              <a:spcAft>
                <a:spcPts val="400"/>
              </a:spcAft>
              <a:buNone/>
            </a:pPr>
            <a:r>
              <a:rPr sz="1400" b="1">
                <a:solidFill>
                  <a:srgbClr val="1F4E79"/>
                </a:solidFill>
                <a:latin typeface="Calibri" panose="020F0502020204030204"/>
              </a:rPr>
              <a:t>2. Illustrative Commercial Transit Workflow (Berlin to Munich - 585 km):</a:t>
            </a:r>
            <a:endParaRPr sz="1400" b="1">
              <a:solidFill>
                <a:srgbClr val="1F4E79"/>
              </a:solidFill>
              <a:latin typeface="Calibri" panose="020F0502020204030204"/>
            </a:endParaRPr>
          </a:p>
          <a:p>
            <a:pPr marL="0" indent="0">
              <a:spcAft>
                <a:spcPts val="300"/>
              </a:spcAft>
              <a:buNone/>
            </a:pPr>
            <a:r>
              <a:rPr sz="1400" b="0">
                <a:solidFill>
                  <a:srgbClr val="282828"/>
                </a:solidFill>
                <a:latin typeface="Calibri" panose="020F0502020204030204"/>
              </a:rPr>
              <a:t>•  Mission Feasibility &amp; Range Assurance: HistGradientBoosting model forecasted effective single-charge range of 308 km for Tata Curvv EV (55 kWh); route optimizer scheduled two 28-min charging stops at Leipzig (km 180) and Nuremberg (km 420), ensuring arrival with 24% residual SOC and zero emergency stops.</a:t>
            </a:r>
            <a:endParaRPr sz="1400" b="0">
              <a:solidFill>
                <a:srgbClr val="282828"/>
              </a:solidFill>
              <a:latin typeface="Calibri" panose="020F0502020204030204"/>
            </a:endParaRPr>
          </a:p>
          <a:p>
            <a:pPr marL="0" indent="0">
              <a:spcAft>
                <a:spcPts val="300"/>
              </a:spcAft>
              <a:buNone/>
            </a:pPr>
            <a:r>
              <a:rPr sz="1400" b="0">
                <a:solidFill>
                  <a:srgbClr val="282828"/>
                </a:solidFill>
                <a:latin typeface="Calibri" panose="020F0502020204030204"/>
              </a:rPr>
              <a:t>•  Operational Cost Reduction: Topographical route optimization combined with automated overnight off-peak charging reduced total journey energy expenditure from $68.40 to $46.90 (31.4% cost savings).</a:t>
            </a:r>
            <a:endParaRPr sz="1400" b="0">
              <a:solidFill>
                <a:srgbClr val="282828"/>
              </a:solidFill>
              <a:latin typeface="Calibri" panose="020F0502020204030204"/>
            </a:endParaRPr>
          </a:p>
          <a:p>
            <a:pPr marL="0" indent="0">
              <a:spcAft>
                <a:spcPts val="300"/>
              </a:spcAft>
              <a:buNone/>
            </a:pPr>
            <a:r>
              <a:rPr sz="1400" b="0">
                <a:solidFill>
                  <a:srgbClr val="282828"/>
                </a:solidFill>
                <a:latin typeface="Calibri" panose="020F0502020204030204"/>
              </a:rPr>
              <a:t>•  Battery Health Preservation: Proactive driver coaching on smooth deceleration reduced battery thermal discharge spikes, extending battery pack lifecycle by an estimated 18–22%.</a:t>
            </a:r>
            <a:endParaRPr sz="1400" b="0">
              <a:solidFill>
                <a:srgbClr val="282828"/>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noAutofit/>
          </a:bodyPr>
          <a:lstStyle/>
          <a:p>
            <a:pPr>
              <a:spcAft>
                <a:spcPts val="1000"/>
              </a:spcAft>
            </a:pPr>
            <a:r>
              <a:rPr sz="1600" b="0">
                <a:solidFill>
                  <a:srgbClr val="282828"/>
                </a:solidFill>
                <a:latin typeface="Calibri" panose="020F0502020204030204"/>
              </a:rPr>
              <a:t>[1] J. Meng et al., “Machine Learning Applied to Electrified Vehicle Battery State of Charge and State of Health Estimation: State-of-the-Art,” IEEE Transactions on Transportation Electrification, vol. 9, no. 1, pp. 1106–1124, 2023.</a:t>
            </a:r>
            <a:endParaRPr sz="1600" b="0">
              <a:solidFill>
                <a:srgbClr val="282828"/>
              </a:solidFill>
              <a:latin typeface="Calibri" panose="020F0502020204030204"/>
            </a:endParaRPr>
          </a:p>
          <a:p>
            <a:pPr>
              <a:spcAft>
                <a:spcPts val="1000"/>
              </a:spcAft>
            </a:pPr>
            <a:r>
              <a:rPr sz="1600" b="0">
                <a:solidFill>
                  <a:srgbClr val="282828"/>
                </a:solidFill>
                <a:latin typeface="Calibri" panose="020F0502020204030204"/>
              </a:rPr>
              <a:t>[2] M. R. Sarker et al., “Predicting SoH and RUL of Li-ion Batteries in Electric Vehicles: A Comprehensive Review and Chemistry Insights,” in 2023 IEEE International Conference on Electrical Systems for Aircraft, Railway and Ship Propulsion (ESARS-ITEC), 2023, pp. 1–8.</a:t>
            </a:r>
            <a:endParaRPr sz="1600" b="0">
              <a:solidFill>
                <a:srgbClr val="282828"/>
              </a:solidFill>
              <a:latin typeface="Calibri" panose="020F0502020204030204"/>
            </a:endParaRPr>
          </a:p>
          <a:p>
            <a:pPr>
              <a:spcAft>
                <a:spcPts val="1000"/>
              </a:spcAft>
            </a:pPr>
            <a:r>
              <a:rPr sz="1600" b="0">
                <a:solidFill>
                  <a:srgbClr val="282828"/>
                </a:solidFill>
                <a:latin typeface="Calibri" panose="020F0502020204030204"/>
              </a:rPr>
              <a:t>[3] H. Nour et al., “Smart Charging Infrastructure Optimization and Peak-Load Tariff Management for Electric Vehicle Fleets,” Renewable and Sustainable Energy Reviews, vol. 125, p. 109819, 2020.</a:t>
            </a:r>
            <a:endParaRPr sz="1600" b="0">
              <a:solidFill>
                <a:srgbClr val="282828"/>
              </a:solidFill>
              <a:latin typeface="Calibri" panose="020F0502020204030204"/>
            </a:endParaRPr>
          </a:p>
          <a:p>
            <a:pPr>
              <a:spcAft>
                <a:spcPts val="1000"/>
              </a:spcAft>
            </a:pPr>
            <a:r>
              <a:rPr sz="1600" b="0">
                <a:solidFill>
                  <a:srgbClr val="282828"/>
                </a:solidFill>
                <a:latin typeface="Calibri" panose="020F0502020204030204"/>
              </a:rPr>
              <a:t>[4] P. Sharma et al., “A Cloud Based Predictive and Preventive Maintenance for Electric Vehicle Fleet Management System,” in 2024 IEEE 1st International Conference on Green Energy and Smart Materials (GESM), 2024, pp. 1–6.</a:t>
            </a:r>
            <a:endParaRPr sz="1600" b="0">
              <a:solidFill>
                <a:srgbClr val="282828"/>
              </a:solidFill>
              <a:latin typeface="Calibri" panose="020F0502020204030204"/>
            </a:endParaRPr>
          </a:p>
          <a:p>
            <a:pPr>
              <a:spcAft>
                <a:spcPts val="1000"/>
              </a:spcAft>
            </a:pPr>
            <a:r>
              <a:rPr sz="1600" b="0">
                <a:solidFill>
                  <a:srgbClr val="282828"/>
                </a:solidFill>
                <a:latin typeface="Calibri" panose="020F0502020204030204"/>
              </a:rPr>
              <a:t>[5] A. Kumar et al., “Advancements in AI-Powered Electric Vehicle Routing: Multi-Constraint Optimization and Infrastructure Integration Approaches for Evolving EVs—A Survey,” IEEE Access, vol. 12, pp. 45120–45142, 2024.</a:t>
            </a:r>
            <a:endParaRPr sz="1600" b="0">
              <a:solidFill>
                <a:srgbClr val="282828"/>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marL="0" indent="0">
              <a:spcAft>
                <a:spcPts val="1400"/>
              </a:spcAft>
              <a:buNone/>
            </a:pPr>
            <a:r>
              <a:rPr sz="1800" b="1">
                <a:solidFill>
                  <a:srgbClr val="1F4E79"/>
                </a:solidFill>
                <a:latin typeface="Calibri" panose="020F0502020204030204"/>
              </a:rPr>
              <a:t>VoltFleet AI: Intelligent EV Fleet Management, Predictive Battery Analytics &amp; Route Optimization
</a:t>
            </a:r>
            <a:endParaRPr sz="1800" b="1">
              <a:solidFill>
                <a:srgbClr val="1F4E79"/>
              </a:solidFill>
              <a:latin typeface="Calibri" panose="020F0502020204030204"/>
            </a:endParaRPr>
          </a:p>
          <a:p>
            <a:pPr marL="0" indent="0">
              <a:spcAft>
                <a:spcPts val="1400"/>
              </a:spcAft>
              <a:buNone/>
            </a:pPr>
            <a:r>
              <a:rPr sz="1600" b="1">
                <a:solidFill>
                  <a:srgbClr val="2E75B6"/>
                </a:solidFill>
                <a:latin typeface="Calibri" panose="020F0502020204030204"/>
              </a:rPr>
              <a:t>Department of Computer Science and Engineering
Project Phase – I Final Review
</a:t>
            </a:r>
            <a:endParaRPr sz="1600" b="1">
              <a:solidFill>
                <a:srgbClr val="2E75B6"/>
              </a:solidFill>
              <a:latin typeface="Calibri" panose="020F0502020204030204"/>
            </a:endParaRPr>
          </a:p>
          <a:p>
            <a:pPr marL="0" indent="0">
              <a:spcAft>
                <a:spcPts val="1400"/>
              </a:spcAft>
              <a:buNone/>
            </a:pPr>
            <a:r>
              <a:rPr sz="2000" b="1">
                <a:solidFill>
                  <a:srgbClr val="000000"/>
                </a:solidFill>
                <a:latin typeface="Calibri" panose="020F0502020204030204"/>
              </a:rPr>
              <a:t>Questions &amp; Discussion</a:t>
            </a:r>
            <a:endParaRPr sz="2000" b="1">
              <a:solidFill>
                <a:srgbClr val="000000"/>
              </a:solidFill>
              <a:latin typeface="Calibri" panose="020F0502020204030204"/>
            </a:endParaRPr>
          </a:p>
          <a:p>
            <a:pPr>
              <a:spcAft>
                <a:spcPts val="400"/>
              </a:spcAft>
            </a:pPr>
            <a:r>
              <a:rPr sz="1300" b="0">
                <a:solidFill>
                  <a:srgbClr val="3C3C3C"/>
                </a:solidFill>
                <a:latin typeface="Calibri" panose="020F0502020204030204"/>
              </a:rPr>
              <a:t>Team Members: Mithilesh S (23UCS100) | Mathivanan M (23UCS099) | Vishnu K N (23UCS079) | Nishan S (23UCS0108)
Project Guide: Mrs. P. NIRMALADEVI, Ass</a:t>
            </a:r>
            <a:r>
              <a:rPr lang="en-IN" sz="1300" b="0">
                <a:solidFill>
                  <a:srgbClr val="3C3C3C"/>
                </a:solidFill>
                <a:latin typeface="Calibri" panose="020F0502020204030204"/>
              </a:rPr>
              <a:t>istant</a:t>
            </a:r>
            <a:r>
              <a:rPr sz="1300" b="0">
                <a:solidFill>
                  <a:srgbClr val="3C3C3C"/>
                </a:solidFill>
                <a:latin typeface="Calibri" panose="020F0502020204030204"/>
              </a:rPr>
              <a:t> Professor, Department of CSE</a:t>
            </a:r>
            <a:endParaRPr sz="1300" b="0">
              <a:solidFill>
                <a:srgbClr val="3C3C3C"/>
              </a:solidFill>
              <a:latin typeface="Calibri" panose="020F0502020204030204"/>
            </a:endParaRPr>
          </a:p>
        </p:txBody>
      </p:sp>
    </p:spTree>
  </p:cSld>
  <p:clrMapOvr>
    <a:masterClrMapping/>
  </p:clrMapOvr>
</p:sld>
</file>

<file path=ppt/theme/theme1.xml><?xml version="1.0" encoding="utf-8"?>
<a:theme xmlns:a="http://schemas.openxmlformats.org/drawingml/2006/main" name="ModOverlayVTI">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14770</Words>
  <Application>WPS Presentation</Application>
  <PresentationFormat>Widescreen</PresentationFormat>
  <Paragraphs>212</Paragraphs>
  <Slides>16</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Arial</vt:lpstr>
      <vt:lpstr>SimSun</vt:lpstr>
      <vt:lpstr>Wingdings</vt:lpstr>
      <vt:lpstr>Calibri</vt:lpstr>
      <vt:lpstr>Times New Roman</vt:lpstr>
      <vt:lpstr>Arial Nova Light</vt:lpstr>
      <vt:lpstr>Microsoft YaHei</vt:lpstr>
      <vt:lpstr>Arial Unicode MS</vt:lpstr>
      <vt:lpstr>Elephant</vt:lpstr>
      <vt:lpstr>ModOverlayVTI</vt:lpstr>
      <vt:lpstr>VoltFleet AI: Intelligent EV Fleet Management, Predictive Battery Analytics &amp; Route Optimization</vt:lpstr>
      <vt:lpstr>AGENDA</vt:lpstr>
      <vt:lpstr>ABSTRACT</vt:lpstr>
      <vt:lpstr>INTRODUCTION </vt:lpstr>
      <vt:lpstr>INTRODUCTION </vt:lpstr>
      <vt:lpstr>OBJECTIVES</vt:lpstr>
      <vt:lpstr>LITERATURE REVIEW</vt:lpstr>
      <vt:lpstr>EXISTING SYSTEM ARCHITECTURE &amp; FLOW</vt:lpstr>
      <vt:lpstr>EXISTING SYSTEM</vt:lpstr>
      <vt:lpstr>PROPOSED SYSTEM</vt:lpstr>
      <vt:lpstr>SYSTEM ARCHITECTURE</vt:lpstr>
      <vt:lpstr>MODULES</vt:lpstr>
      <vt:lpstr>MODULES</vt:lpstr>
      <vt:lpstr>RESULTS &amp; PERFORMANCE EVALUATION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Karthik</dc:title>
  <dc:creator>Karthik mohan</dc:creator>
  <cp:lastModifiedBy>mithi</cp:lastModifiedBy>
  <cp:revision>32</cp:revision>
  <dcterms:created xsi:type="dcterms:W3CDTF">2025-07-01T09:44:00Z</dcterms:created>
  <dcterms:modified xsi:type="dcterms:W3CDTF">2026-09-24T06:39:10Z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A5581E28AD984C86872012326D26C6DC_12</vt:lpwstr>
  </property>
  <property fmtid="{D5CDD505-2E9C-101B-9397-08002B2CF9AE}" pid="3" name="KSOProductBuildVer">
    <vt:lpwstr>1033-12.1.0.28485</vt:lpwstr>
  </property>
</Properties>
</file>