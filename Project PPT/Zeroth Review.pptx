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7" r:id="rId9"/>
    <p:sldId id="271" r:id="rId10"/>
  </p:sldIdLst>
  <p:sldSz cx="9144000" cy="5143500" type="screen16x9"/>
  <p:notesSz cx="5143500" cy="9144000"/>
  <p:embeddedFontLst>
    <p:embeddedFont>
      <p:font typeface="Inter" panose="020B0604020202020204" charset="0"/>
      <p:regular r:id="rId1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122" d="100"/>
          <a:sy n="122" d="100"/>
        </p:scale>
        <p:origin x="23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350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09600" y="2316956"/>
            <a:ext cx="5715000" cy="552450"/>
          </a:xfrm>
          <a:prstGeom prst="rect">
            <a:avLst/>
          </a:prstGeom>
          <a:noFill/>
          <a:ln/>
        </p:spPr>
      </p:sp>
      <p:sp>
        <p:nvSpPr>
          <p:cNvPr id="3" name="Text 1"/>
          <p:cNvSpPr/>
          <p:nvPr/>
        </p:nvSpPr>
        <p:spPr>
          <a:xfrm>
            <a:off x="609600" y="2316956"/>
            <a:ext cx="3605213" cy="552450"/>
          </a:xfrm>
          <a:prstGeom prst="rect">
            <a:avLst/>
          </a:prstGeom>
          <a:noFill/>
          <a:ln/>
        </p:spPr>
        <p:txBody>
          <a:bodyPr wrap="square" lIns="0" tIns="0" rIns="0" bIns="0" rtlCol="0" anchor="ctr"/>
          <a:lstStyle/>
          <a:p>
            <a:pPr marL="0" indent="0" algn="l">
              <a:lnSpc>
                <a:spcPts val="2052"/>
              </a:lnSpc>
              <a:buNone/>
            </a:pPr>
            <a:r>
              <a:rPr lang="en-US" sz="1710" b="1" kern="0" spc="-38">
                <a:solidFill>
                  <a:srgbClr val="00457E">
                    <a:alpha val="99000"/>
                  </a:srgbClr>
                </a:solidFill>
                <a:latin typeface="Inter" pitchFamily="34" charset="0"/>
                <a:ea typeface="Inter" pitchFamily="34" charset="-122"/>
                <a:cs typeface="Inter" pitchFamily="34" charset="-120"/>
              </a:rPr>
              <a:t>AI-Driven Multimodal Lecture Video Analysis and Intelligent Note Generation Platform</a:t>
            </a:r>
            <a:endParaRPr lang="en-US" sz="1710" dirty="0"/>
          </a:p>
        </p:txBody>
      </p:sp>
      <p:sp>
        <p:nvSpPr>
          <p:cNvPr id="4" name="Text 2"/>
          <p:cNvSpPr/>
          <p:nvPr/>
        </p:nvSpPr>
        <p:spPr>
          <a:xfrm>
            <a:off x="3012510" y="1459283"/>
            <a:ext cx="2250053" cy="345706"/>
          </a:xfrm>
          <a:prstGeom prst="rect">
            <a:avLst/>
          </a:prstGeom>
          <a:noFill/>
          <a:ln/>
        </p:spPr>
        <p:txBody>
          <a:bodyPr wrap="square" lIns="0" tIns="0" rIns="0" bIns="0" rtlCol="0" anchor="ctr"/>
          <a:lstStyle/>
          <a:p>
            <a:pPr marL="0" indent="0" algn="ctr">
              <a:lnSpc>
                <a:spcPts val="1197"/>
              </a:lnSpc>
              <a:buNone/>
            </a:pPr>
            <a:r>
              <a:rPr lang="en-US" sz="855" kern="0" spc="103">
                <a:solidFill>
                  <a:srgbClr val="000000">
                    <a:alpha val="99000"/>
                  </a:srgbClr>
                </a:solidFill>
                <a:latin typeface="Inter" pitchFamily="34" charset="0"/>
                <a:ea typeface="Inter" pitchFamily="34" charset="-122"/>
                <a:cs typeface="Inter" pitchFamily="34" charset="-120"/>
              </a:rPr>
              <a:t>Zeroth PROJECT REVIEW – Domain Presentation </a:t>
            </a:r>
            <a:endParaRPr lang="en-US" sz="855" dirty="0"/>
          </a:p>
        </p:txBody>
      </p:sp>
      <p:pic>
        <p:nvPicPr>
          <p:cNvPr id="5" name="Image 0" descr="preencoded.png"/>
          <p:cNvPicPr>
            <a:picLocks noChangeAspect="1"/>
          </p:cNvPicPr>
          <p:nvPr/>
        </p:nvPicPr>
        <p:blipFill>
          <a:blip r:embed="rId3"/>
          <a:srcRect/>
          <a:stretch/>
        </p:blipFill>
        <p:spPr>
          <a:xfrm>
            <a:off x="2643188" y="247650"/>
            <a:ext cx="3857625" cy="752475"/>
          </a:xfrm>
          <a:prstGeom prst="rect">
            <a:avLst/>
          </a:prstGeom>
        </p:spPr>
      </p:pic>
      <p:sp>
        <p:nvSpPr>
          <p:cNvPr id="6" name="Text 3"/>
          <p:cNvSpPr/>
          <p:nvPr/>
        </p:nvSpPr>
        <p:spPr>
          <a:xfrm>
            <a:off x="5391150" y="2314575"/>
            <a:ext cx="3543300" cy="1666875"/>
          </a:xfrm>
          <a:prstGeom prst="rect">
            <a:avLst/>
          </a:prstGeom>
          <a:noFill/>
          <a:ln/>
        </p:spPr>
        <p:txBody>
          <a:bodyPr wrap="square" lIns="0" tIns="0" rIns="0" bIns="0" rtlCol="0" anchor="ctr"/>
          <a:lstStyle/>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Team Members:</a:t>
            </a:r>
            <a:endParaRPr lang="en-US" sz="1283" dirty="0"/>
          </a:p>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1</a:t>
            </a:r>
            <a:r>
              <a:rPr lang="en-US" sz="1283" b="1" kern="0" spc="-13">
                <a:solidFill>
                  <a:srgbClr val="4682B4">
                    <a:alpha val="99000"/>
                  </a:srgbClr>
                </a:solidFill>
                <a:latin typeface="Inter" pitchFamily="34" charset="0"/>
                <a:ea typeface="Inter" pitchFamily="34" charset="-122"/>
                <a:cs typeface="Inter" pitchFamily="34" charset="-120"/>
              </a:rPr>
              <a:t>. Mohan B  	    -  23UCS102</a:t>
            </a:r>
            <a:endParaRPr lang="en-US" sz="1283" dirty="0"/>
          </a:p>
          <a:p>
            <a:pPr marL="0" indent="0" algn="l">
              <a:lnSpc>
                <a:spcPts val="1795"/>
              </a:lnSpc>
              <a:buNone/>
            </a:pPr>
            <a:r>
              <a:rPr lang="en-US" sz="1283" b="1" kern="0" spc="-13">
                <a:solidFill>
                  <a:srgbClr val="4682B4">
                    <a:alpha val="99000"/>
                  </a:srgbClr>
                </a:solidFill>
                <a:latin typeface="Inter" pitchFamily="34" charset="0"/>
                <a:ea typeface="Inter" pitchFamily="34" charset="-122"/>
                <a:cs typeface="Inter" pitchFamily="34" charset="-120"/>
              </a:rPr>
              <a:t>           </a:t>
            </a:r>
            <a:r>
              <a:rPr lang="en-US" sz="1283" b="1" kern="0" spc="-13" dirty="0">
                <a:solidFill>
                  <a:srgbClr val="4682B4">
                    <a:alpha val="99000"/>
                  </a:srgbClr>
                </a:solidFill>
                <a:latin typeface="Inter" pitchFamily="34" charset="0"/>
                <a:ea typeface="Inter" pitchFamily="34" charset="-122"/>
                <a:cs typeface="Inter" pitchFamily="34" charset="-120"/>
              </a:rPr>
              <a:t>2</a:t>
            </a:r>
            <a:r>
              <a:rPr lang="en-US" sz="1283" b="1" kern="0" spc="-13">
                <a:solidFill>
                  <a:srgbClr val="4682B4">
                    <a:alpha val="99000"/>
                  </a:srgbClr>
                </a:solidFill>
                <a:latin typeface="Inter" pitchFamily="34" charset="0"/>
                <a:ea typeface="Inter" pitchFamily="34" charset="-122"/>
                <a:cs typeface="Inter" pitchFamily="34" charset="-120"/>
              </a:rPr>
              <a:t>. Hemnath S            -  23UCS065</a:t>
            </a:r>
            <a:endParaRPr lang="en-US" sz="1283" dirty="0"/>
          </a:p>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3</a:t>
            </a:r>
            <a:r>
              <a:rPr lang="en-US" sz="1283" b="1" kern="0" spc="-13">
                <a:solidFill>
                  <a:srgbClr val="4682B4">
                    <a:alpha val="99000"/>
                  </a:srgbClr>
                </a:solidFill>
                <a:latin typeface="Inter" pitchFamily="34" charset="0"/>
                <a:ea typeface="Inter" pitchFamily="34" charset="-122"/>
                <a:cs typeface="Inter" pitchFamily="34" charset="-120"/>
              </a:rPr>
              <a:t>. Anas K                   -  23UCS013</a:t>
            </a:r>
            <a:endParaRPr lang="en-US" sz="1283" dirty="0"/>
          </a:p>
        </p:txBody>
      </p:sp>
      <p:sp>
        <p:nvSpPr>
          <p:cNvPr id="7" name="Text 4"/>
          <p:cNvSpPr/>
          <p:nvPr/>
        </p:nvSpPr>
        <p:spPr>
          <a:xfrm>
            <a:off x="609600" y="3200400"/>
            <a:ext cx="2033588" cy="390525"/>
          </a:xfrm>
          <a:prstGeom prst="rect">
            <a:avLst/>
          </a:prstGeom>
          <a:noFill/>
          <a:ln/>
        </p:spPr>
        <p:txBody>
          <a:bodyPr wrap="square" lIns="0" tIns="0" rIns="0" bIns="0" rtlCol="0" anchor="ctr"/>
          <a:lstStyle/>
          <a:p>
            <a:pPr marL="0" indent="0" algn="l">
              <a:lnSpc>
                <a:spcPts val="1453"/>
              </a:lnSpc>
              <a:buNone/>
            </a:pPr>
            <a:r>
              <a:rPr lang="en-US" sz="1069" b="1" kern="0" spc="-11" dirty="0">
                <a:solidFill>
                  <a:srgbClr val="4682B4">
                    <a:alpha val="99000"/>
                  </a:srgbClr>
                </a:solidFill>
                <a:latin typeface="Inter" pitchFamily="34" charset="0"/>
                <a:ea typeface="Inter" pitchFamily="34" charset="-122"/>
                <a:cs typeface="Inter" pitchFamily="34" charset="-120"/>
              </a:rPr>
              <a:t>Guide Name</a:t>
            </a:r>
            <a:r>
              <a:rPr lang="en-US" sz="1069" b="1" kern="0" spc="-11">
                <a:solidFill>
                  <a:srgbClr val="4682B4">
                    <a:alpha val="99000"/>
                  </a:srgbClr>
                </a:solidFill>
                <a:latin typeface="Inter" pitchFamily="34" charset="0"/>
                <a:ea typeface="Inter" pitchFamily="34" charset="-122"/>
                <a:cs typeface="Inter" pitchFamily="34" charset="-120"/>
              </a:rPr>
              <a:t>:  Dr.N.Shanmugam </a:t>
            </a:r>
            <a:endParaRPr lang="en-US" sz="1069" dirty="0"/>
          </a:p>
          <a:p>
            <a:pPr marL="0" indent="0" algn="l">
              <a:lnSpc>
                <a:spcPts val="1453"/>
              </a:lnSpc>
              <a:buNone/>
            </a:pPr>
            <a:r>
              <a:rPr lang="en-US" sz="1069" b="1" kern="0" spc="-11">
                <a:solidFill>
                  <a:srgbClr val="4682B4">
                    <a:alpha val="99000"/>
                  </a:srgbClr>
                </a:solidFill>
                <a:latin typeface="Inter" pitchFamily="34" charset="0"/>
                <a:ea typeface="Inter" pitchFamily="34" charset="-122"/>
                <a:cs typeface="Inter" pitchFamily="34" charset="-120"/>
              </a:rPr>
              <a:t>Associate </a:t>
            </a:r>
            <a:r>
              <a:rPr lang="en-US" sz="1069" b="1" kern="0" spc="-11" dirty="0">
                <a:solidFill>
                  <a:srgbClr val="4682B4">
                    <a:alpha val="99000"/>
                  </a:srgbClr>
                </a:solidFill>
                <a:latin typeface="Inter" pitchFamily="34" charset="0"/>
                <a:ea typeface="Inter" pitchFamily="34" charset="-122"/>
                <a:cs typeface="Inter" pitchFamily="34" charset="-120"/>
              </a:rPr>
              <a:t>Professor</a:t>
            </a:r>
            <a:endParaRPr lang="en-US" sz="1069" dirty="0"/>
          </a:p>
        </p:txBody>
      </p:sp>
      <p:sp>
        <p:nvSpPr>
          <p:cNvPr id="8" name="Text 5"/>
          <p:cNvSpPr/>
          <p:nvPr/>
        </p:nvSpPr>
        <p:spPr>
          <a:xfrm>
            <a:off x="2781300" y="1114425"/>
            <a:ext cx="3576638" cy="152400"/>
          </a:xfrm>
          <a:prstGeom prst="rect">
            <a:avLst/>
          </a:prstGeom>
          <a:noFill/>
          <a:ln/>
        </p:spPr>
        <p:txBody>
          <a:bodyPr wrap="square" lIns="0" tIns="0" rIns="0" bIns="0" rtlCol="0" anchor="ctr"/>
          <a:lstStyle/>
          <a:p>
            <a:pPr marL="0" indent="0" algn="l">
              <a:lnSpc>
                <a:spcPts val="1129"/>
              </a:lnSpc>
              <a:buNone/>
            </a:pPr>
            <a:r>
              <a:rPr lang="en-US" sz="855" b="1" kern="0" spc="51" dirty="0">
                <a:solidFill>
                  <a:srgbClr val="000000">
                    <a:alpha val="99000"/>
                  </a:srgbClr>
                </a:solidFill>
                <a:latin typeface="Inter" pitchFamily="34" charset="0"/>
                <a:ea typeface="Inter" pitchFamily="34" charset="-122"/>
                <a:cs typeface="Inter" pitchFamily="34" charset="-120"/>
              </a:rPr>
              <a:t>DEPARTMENT OF COMPUTER SCIENCE AND ENGINEERING</a:t>
            </a:r>
            <a:endParaRPr lang="en-US" sz="85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7213" y="1943100"/>
            <a:ext cx="2209800" cy="1252538"/>
          </a:xfrm>
          <a:prstGeom prst="roundRect">
            <a:avLst>
              <a:gd name="adj" fmla="val 11681"/>
            </a:avLst>
          </a:prstGeom>
          <a:solidFill>
            <a:srgbClr val="FFFFFF"/>
          </a:solidFill>
          <a:ln/>
        </p:spPr>
        <p:txBody>
          <a:bodyPr wrap="square" rtlCol="0" anchor="ctr"/>
          <a:lstStyle/>
          <a:p>
            <a:pPr marL="0" indent="0">
              <a:buNone/>
            </a:pPr>
            <a:endParaRPr lang="en-US" dirty="0"/>
          </a:p>
        </p:txBody>
      </p:sp>
      <p:sp>
        <p:nvSpPr>
          <p:cNvPr id="3" name="Text 1"/>
          <p:cNvSpPr/>
          <p:nvPr/>
        </p:nvSpPr>
        <p:spPr>
          <a:xfrm>
            <a:off x="9525" y="-4762"/>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
        <p:nvSpPr>
          <p:cNvPr id="4" name="Text 2"/>
          <p:cNvSpPr/>
          <p:nvPr/>
        </p:nvSpPr>
        <p:spPr>
          <a:xfrm>
            <a:off x="714375" y="2114550"/>
            <a:ext cx="1866900" cy="6858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Domain Introduction</a:t>
            </a:r>
            <a:endParaRPr lang="en-US" sz="2138" dirty="0"/>
          </a:p>
        </p:txBody>
      </p:sp>
      <p:sp>
        <p:nvSpPr>
          <p:cNvPr id="5" name="Text 3"/>
          <p:cNvSpPr/>
          <p:nvPr/>
        </p:nvSpPr>
        <p:spPr>
          <a:xfrm>
            <a:off x="3448050" y="857250"/>
            <a:ext cx="5086350" cy="3429000"/>
          </a:xfrm>
          <a:prstGeom prst="rect">
            <a:avLst/>
          </a:prstGeom>
          <a:noFill/>
          <a:ln/>
        </p:spPr>
        <p:txBody>
          <a:bodyPr wrap="square" lIns="0" tIns="0" rIns="0" bIns="0" rtlCol="0" anchor="ctr"/>
          <a:lstStyle/>
          <a:p>
            <a:pPr marL="342900" indent="-342900">
              <a:lnSpc>
                <a:spcPts val="1432"/>
              </a:lnSpc>
              <a:buSzPct val="100000"/>
              <a:buChar char="•"/>
            </a:pPr>
            <a:r>
              <a:rPr lang="en-US" sz="1069" kern="0" spc="-5" dirty="0">
                <a:solidFill>
                  <a:srgbClr val="000000">
                    <a:alpha val="99000"/>
                  </a:srgbClr>
                </a:solidFill>
                <a:latin typeface="Inter" pitchFamily="34" charset="0"/>
                <a:ea typeface="Inter" pitchFamily="34" charset="-122"/>
                <a:cs typeface="Inter" pitchFamily="34" charset="-120"/>
              </a:rPr>
              <a:t>Speech Recognition (ASR) is a technology that converts spoken audio into text. It is used to make verbal information machine-readable, allowing further analysis and processing.</a:t>
            </a:r>
            <a:endParaRPr lang="en-US" sz="1069" dirty="0"/>
          </a:p>
          <a:p>
            <a:pPr marL="342900" indent="-342900">
              <a:lnSpc>
                <a:spcPts val="1432"/>
              </a:lnSpc>
              <a:buSzPct val="100000"/>
              <a:buChar char="•"/>
            </a:pPr>
            <a:r>
              <a:rPr lang="en-US" sz="1069" kern="0" spc="-5" dirty="0">
                <a:solidFill>
                  <a:srgbClr val="000000">
                    <a:alpha val="99000"/>
                  </a:srgbClr>
                </a:solidFill>
                <a:latin typeface="Inter" pitchFamily="34" charset="0"/>
                <a:ea typeface="Inter" pitchFamily="34" charset="-122"/>
                <a:cs typeface="Inter" pitchFamily="34" charset="-120"/>
              </a:rPr>
              <a:t>Computer Vision and Optical Character Recognition (OCR) form the domain that enables computers to interpret visual data, with OCR specifically designed to extract text from images. They are used to identify and digitize written or printed content so it can be processed programmatically.</a:t>
            </a:r>
            <a:endParaRPr lang="en-US" sz="1069" dirty="0"/>
          </a:p>
          <a:p>
            <a:pPr marL="342900" indent="-342900">
              <a:lnSpc>
                <a:spcPts val="1432"/>
              </a:lnSpc>
              <a:buSzPct val="100000"/>
              <a:buChar char="•"/>
            </a:pPr>
            <a:r>
              <a:rPr lang="en-US" sz="1069" kern="0" spc="-5" dirty="0">
                <a:solidFill>
                  <a:srgbClr val="000000">
                    <a:alpha val="99000"/>
                  </a:srgbClr>
                </a:solidFill>
                <a:latin typeface="Inter" pitchFamily="34" charset="0"/>
                <a:ea typeface="Inter" pitchFamily="34" charset="-122"/>
                <a:cs typeface="Inter" pitchFamily="34" charset="-120"/>
              </a:rPr>
              <a:t>Natural Language Processing (NLP) is an area of AI concerned with understanding, interpreting, and generating human language. It is used to organize, summarize, and transform raw textual data into meaningful and structured information.</a:t>
            </a:r>
            <a:endParaRPr lang="en-US" sz="1069" dirty="0"/>
          </a:p>
          <a:p>
            <a:pPr marL="342900" indent="-342900">
              <a:lnSpc>
                <a:spcPts val="1432"/>
              </a:lnSpc>
              <a:buSzPct val="100000"/>
              <a:buChar char="•"/>
            </a:pPr>
            <a:r>
              <a:rPr lang="en-US" sz="1069" kern="0" spc="-5" dirty="0">
                <a:solidFill>
                  <a:srgbClr val="000000">
                    <a:alpha val="99000"/>
                  </a:srgbClr>
                </a:solidFill>
                <a:latin typeface="Inter" pitchFamily="34" charset="0"/>
                <a:ea typeface="Inter" pitchFamily="34" charset="-122"/>
                <a:cs typeface="Inter" pitchFamily="34" charset="-120"/>
              </a:rPr>
              <a:t>Web and Database Technologies provide the supporting infrastructure for applications. They are used to store, manage, and deliver processed information efficiently through interactive interfaces.</a:t>
            </a:r>
            <a:endParaRPr lang="en-US" sz="1069" dirty="0"/>
          </a:p>
        </p:txBody>
      </p:sp>
      <p:sp>
        <p:nvSpPr>
          <p:cNvPr id="6" name="Text 4"/>
          <p:cNvSpPr/>
          <p:nvPr/>
        </p:nvSpPr>
        <p:spPr>
          <a:xfrm>
            <a:off x="714375" y="2847975"/>
            <a:ext cx="1514475" cy="147638"/>
          </a:xfrm>
          <a:prstGeom prst="rect">
            <a:avLst/>
          </a:prstGeom>
          <a:noFill/>
          <a:ln/>
        </p:spPr>
        <p:txBody>
          <a:bodyPr wrap="square" lIns="0" tIns="0" rIns="0" bIns="0" rtlCol="0" anchor="ctr"/>
          <a:lstStyle/>
          <a:p>
            <a:pPr marL="0" indent="0" algn="l">
              <a:lnSpc>
                <a:spcPts val="1097"/>
              </a:lnSpc>
              <a:buNone/>
            </a:pPr>
            <a:r>
              <a:rPr lang="en-US" sz="784" b="1" dirty="0">
                <a:solidFill>
                  <a:srgbClr val="4682B4">
                    <a:alpha val="99000"/>
                  </a:srgbClr>
                </a:solidFill>
                <a:latin typeface="Inter" pitchFamily="34" charset="0"/>
                <a:ea typeface="Inter" pitchFamily="34" charset="-122"/>
                <a:cs typeface="Inter" pitchFamily="34" charset="-120"/>
              </a:rPr>
              <a:t>Multimodal Machine Learning</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1975" y="2252663"/>
            <a:ext cx="1557338" cy="638175"/>
          </a:xfrm>
          <a:prstGeom prst="roundRect">
            <a:avLst>
              <a:gd name="adj" fmla="val 22925"/>
            </a:avLst>
          </a:prstGeom>
          <a:solidFill>
            <a:srgbClr val="FFFFFF"/>
          </a:solidFill>
          <a:ln/>
        </p:spPr>
        <p:txBody>
          <a:bodyPr wrap="square" rtlCol="0" anchor="ctr"/>
          <a:lstStyle/>
          <a:p>
            <a:pPr marL="0" indent="0">
              <a:buNone/>
            </a:pPr>
            <a:endParaRPr lang="en-US" dirty="0"/>
          </a:p>
        </p:txBody>
      </p:sp>
      <p:sp>
        <p:nvSpPr>
          <p:cNvPr id="3" name="Text 1"/>
          <p:cNvSpPr/>
          <p:nvPr/>
        </p:nvSpPr>
        <p:spPr>
          <a:xfrm>
            <a:off x="0" y="0"/>
            <a:ext cx="2767013" cy="5143500"/>
          </a:xfrm>
          <a:prstGeom prst="rect">
            <a:avLst/>
          </a:prstGeom>
          <a:solidFill>
            <a:srgbClr val="009AE7">
              <a:alpha val="30000"/>
            </a:srgbClr>
          </a:solidFill>
          <a:ln/>
        </p:spPr>
        <p:txBody>
          <a:bodyPr wrap="square" rtlCol="0" anchor="ctr"/>
          <a:lstStyle/>
          <a:p>
            <a:pPr marL="0" indent="0">
              <a:buNone/>
            </a:pPr>
            <a:endParaRPr lang="en-US" dirty="0"/>
          </a:p>
        </p:txBody>
      </p:sp>
      <p:sp>
        <p:nvSpPr>
          <p:cNvPr id="4" name="Text 2"/>
          <p:cNvSpPr/>
          <p:nvPr/>
        </p:nvSpPr>
        <p:spPr>
          <a:xfrm>
            <a:off x="747713" y="2400300"/>
            <a:ext cx="1866900" cy="342900"/>
          </a:xfrm>
          <a:prstGeom prst="rect">
            <a:avLst/>
          </a:prstGeom>
          <a:noFill/>
          <a:ln/>
        </p:spPr>
        <p:txBody>
          <a:bodyPr wrap="square" lIns="0" tIns="0" rIns="0" bIns="0" rtlCol="0" anchor="ctr"/>
          <a:lstStyle/>
          <a:p>
            <a:pPr marL="0" indent="0" algn="l">
              <a:lnSpc>
                <a:spcPts val="2565"/>
              </a:lnSpc>
              <a:buNone/>
            </a:pPr>
            <a:r>
              <a:rPr lang="en-US" sz="2138" b="1" kern="0" spc="-47">
                <a:solidFill>
                  <a:srgbClr val="00457E">
                    <a:alpha val="99000"/>
                  </a:srgbClr>
                </a:solidFill>
                <a:latin typeface="Inter" pitchFamily="34" charset="0"/>
                <a:ea typeface="Inter" pitchFamily="34" charset="-122"/>
                <a:cs typeface="Inter" pitchFamily="34" charset="-120"/>
              </a:rPr>
              <a:t>Automatic Speech Recognition</a:t>
            </a:r>
            <a:endParaRPr lang="en-US" sz="2138" dirty="0"/>
          </a:p>
        </p:txBody>
      </p:sp>
      <p:sp>
        <p:nvSpPr>
          <p:cNvPr id="5" name="Text 3"/>
          <p:cNvSpPr/>
          <p:nvPr/>
        </p:nvSpPr>
        <p:spPr>
          <a:xfrm>
            <a:off x="3067050" y="292894"/>
            <a:ext cx="5662613" cy="952500"/>
          </a:xfrm>
          <a:prstGeom prst="rect">
            <a:avLst/>
          </a:prstGeom>
          <a:noFill/>
          <a:ln/>
        </p:spPr>
        <p:txBody>
          <a:bodyPr wrap="square" lIns="0" tIns="0" rIns="0" bIns="0" rtlCol="0" anchor="ctr"/>
          <a:lstStyle/>
          <a:p>
            <a:r>
              <a:rPr lang="en-IN" sz="1100" b="1"/>
              <a:t>Purpose:</a:t>
            </a:r>
            <a:r>
              <a:rPr lang="en-IN" sz="1100"/>
              <a:t> Convert the lecturer's spoken content into machine-readable text.</a:t>
            </a:r>
            <a:endParaRPr lang="en-US" sz="1069" dirty="0"/>
          </a:p>
        </p:txBody>
      </p:sp>
      <p:sp>
        <p:nvSpPr>
          <p:cNvPr id="6" name="Text 4"/>
          <p:cNvSpPr/>
          <p:nvPr/>
        </p:nvSpPr>
        <p:spPr>
          <a:xfrm>
            <a:off x="3067050" y="381000"/>
            <a:ext cx="552450" cy="185738"/>
          </a:xfrm>
          <a:prstGeom prst="rect">
            <a:avLst/>
          </a:prstGeom>
          <a:noFill/>
          <a:ln/>
        </p:spPr>
        <p:txBody>
          <a:bodyPr wrap="square" lIns="0" tIns="0" rIns="0" bIns="0" rtlCol="0" anchor="ctr"/>
          <a:lstStyle/>
          <a:p>
            <a:pPr marL="0" indent="0" algn="l">
              <a:lnSpc>
                <a:spcPts val="1397"/>
              </a:lnSpc>
              <a:buNone/>
            </a:pPr>
            <a:r>
              <a:rPr lang="en-US" sz="998" b="1" dirty="0">
                <a:solidFill>
                  <a:srgbClr val="4682B4">
                    <a:alpha val="99000"/>
                  </a:srgbClr>
                </a:solidFill>
                <a:latin typeface="Inter" pitchFamily="34" charset="0"/>
                <a:ea typeface="Inter" pitchFamily="34" charset="-122"/>
                <a:cs typeface="Inter" pitchFamily="34" charset="-120"/>
              </a:rPr>
              <a:t>Our Idea</a:t>
            </a:r>
            <a:endParaRPr lang="en-US" sz="998" dirty="0"/>
          </a:p>
        </p:txBody>
      </p:sp>
      <p:sp>
        <p:nvSpPr>
          <p:cNvPr id="7" name="Text 5"/>
          <p:cNvSpPr/>
          <p:nvPr/>
        </p:nvSpPr>
        <p:spPr>
          <a:xfrm>
            <a:off x="3067049" y="2118203"/>
            <a:ext cx="5662613" cy="1249993"/>
          </a:xfrm>
          <a:prstGeom prst="rect">
            <a:avLst/>
          </a:prstGeom>
          <a:noFill/>
          <a:ln/>
        </p:spPr>
        <p:txBody>
          <a:bodyPr wrap="square" lIns="0" tIns="0" rIns="0" bIns="0" rtlCol="0" anchor="ctr"/>
          <a:lstStyle/>
          <a:p>
            <a:pPr>
              <a:lnSpc>
                <a:spcPct val="150000"/>
              </a:lnSpc>
            </a:pPr>
            <a:r>
              <a:rPr lang="en-IN" sz="1100" b="1"/>
              <a:t>Technologies / Techniques :</a:t>
            </a:r>
          </a:p>
          <a:p>
            <a:pPr>
              <a:lnSpc>
                <a:spcPct val="150000"/>
              </a:lnSpc>
            </a:pPr>
            <a:endParaRPr lang="en-IN" sz="1100" b="1"/>
          </a:p>
          <a:p>
            <a:pPr lvl="0">
              <a:lnSpc>
                <a:spcPct val="150000"/>
              </a:lnSpc>
            </a:pPr>
            <a:r>
              <a:rPr lang="en-IN" sz="1100" b="1"/>
              <a:t>1) Faster Whisper</a:t>
            </a:r>
            <a:r>
              <a:rPr lang="en-IN" sz="1100"/>
              <a:t> for automatic speech recognition. </a:t>
            </a:r>
          </a:p>
          <a:p>
            <a:pPr lvl="0">
              <a:lnSpc>
                <a:spcPct val="150000"/>
              </a:lnSpc>
            </a:pPr>
            <a:r>
              <a:rPr lang="en-IN" sz="1100"/>
              <a:t>2) Audio extraction from uploaded lecture videos. </a:t>
            </a:r>
          </a:p>
          <a:p>
            <a:pPr lvl="0">
              <a:lnSpc>
                <a:spcPct val="150000"/>
              </a:lnSpc>
            </a:pPr>
            <a:r>
              <a:rPr lang="en-IN" sz="1100"/>
              <a:t>3) Language detection. </a:t>
            </a:r>
          </a:p>
          <a:p>
            <a:pPr lvl="0">
              <a:lnSpc>
                <a:spcPct val="150000"/>
              </a:lnSpc>
            </a:pPr>
            <a:r>
              <a:rPr lang="en-IN" sz="1100"/>
              <a:t>4) Timestamp-based transcription. </a:t>
            </a:r>
          </a:p>
          <a:p>
            <a:pPr lvl="0">
              <a:lnSpc>
                <a:spcPct val="150000"/>
              </a:lnSpc>
            </a:pPr>
            <a:r>
              <a:rPr lang="en-IN" sz="1100"/>
              <a:t>5) Segmentation of speech into meaningful time intervals. </a:t>
            </a:r>
          </a:p>
          <a:p>
            <a:pPr lvl="0">
              <a:lnSpc>
                <a:spcPct val="150000"/>
              </a:lnSpc>
            </a:pPr>
            <a:endParaRPr lang="en-IN" sz="1100"/>
          </a:p>
          <a:p>
            <a:pPr>
              <a:lnSpc>
                <a:spcPct val="150000"/>
              </a:lnSpc>
            </a:pPr>
            <a:r>
              <a:rPr lang="en-IN" sz="1100" b="1"/>
              <a:t>Role in Our System</a:t>
            </a:r>
          </a:p>
          <a:p>
            <a:pPr>
              <a:lnSpc>
                <a:spcPct val="150000"/>
              </a:lnSpc>
            </a:pPr>
            <a:r>
              <a:rPr lang="en-IN" sz="1100"/>
              <a:t>The ASR module captures the </a:t>
            </a:r>
            <a:r>
              <a:rPr lang="en-IN" sz="1100" b="1"/>
              <a:t>spoken explanations of the lecturer</a:t>
            </a:r>
            <a:r>
              <a:rPr lang="en-IN" sz="1100"/>
              <a:t>, including concepts that may not appear directly on the presentation slides.</a:t>
            </a:r>
          </a:p>
          <a:p>
            <a:pPr>
              <a:lnSpc>
                <a:spcPct val="150000"/>
              </a:lnSpc>
            </a:pPr>
            <a:endParaRPr lang="en-IN" sz="1100"/>
          </a:p>
          <a:p>
            <a:pPr>
              <a:lnSpc>
                <a:spcPct val="150000"/>
              </a:lnSpc>
            </a:pPr>
            <a:r>
              <a:rPr lang="en-IN" sz="1100" b="1"/>
              <a:t>Input:</a:t>
            </a:r>
            <a:r>
              <a:rPr lang="en-IN" sz="1100"/>
              <a:t> Lecture audio</a:t>
            </a:r>
            <a:br>
              <a:rPr lang="en-IN" sz="1100"/>
            </a:br>
            <a:r>
              <a:rPr lang="en-IN" sz="1100" b="1"/>
              <a:t>Output:</a:t>
            </a:r>
            <a:r>
              <a:rPr lang="en-IN" sz="1100"/>
              <a:t> Timestamped textual transcript</a:t>
            </a:r>
          </a:p>
          <a:p>
            <a:endParaRPr lang="en-IN"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2413" y="2014538"/>
            <a:ext cx="2732724"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90550" y="2214563"/>
            <a:ext cx="2052781" cy="495300"/>
          </a:xfrm>
          <a:prstGeom prst="rect">
            <a:avLst/>
          </a:prstGeom>
          <a:noFill/>
          <a:ln/>
        </p:spPr>
        <p:txBody>
          <a:bodyPr wrap="square" lIns="0" tIns="0" rIns="0" bIns="0" rtlCol="0" anchor="ctr"/>
          <a:lstStyle/>
          <a:p>
            <a:pPr>
              <a:lnSpc>
                <a:spcPts val="2565"/>
              </a:lnSpc>
            </a:pPr>
            <a:r>
              <a:rPr lang="en-US" sz="2000" b="1" kern="0" spc="-47">
                <a:solidFill>
                  <a:srgbClr val="00457E">
                    <a:alpha val="99000"/>
                  </a:srgbClr>
                </a:solidFill>
                <a:latin typeface="Inter" pitchFamily="34" charset="0"/>
                <a:ea typeface="Inter" pitchFamily="34" charset="-122"/>
                <a:cs typeface="Inter" pitchFamily="34" charset="-120"/>
              </a:rPr>
              <a:t>Computer Vision and OCR</a:t>
            </a:r>
            <a:endParaRPr lang="en-US" sz="2000" dirty="0"/>
          </a:p>
        </p:txBody>
      </p:sp>
      <p:sp>
        <p:nvSpPr>
          <p:cNvPr id="4" name="Text 2"/>
          <p:cNvSpPr/>
          <p:nvPr/>
        </p:nvSpPr>
        <p:spPr>
          <a:xfrm>
            <a:off x="3448050" y="628650"/>
            <a:ext cx="5086350" cy="3890962"/>
          </a:xfrm>
          <a:prstGeom prst="rect">
            <a:avLst/>
          </a:prstGeom>
          <a:noFill/>
          <a:ln/>
        </p:spPr>
        <p:txBody>
          <a:bodyPr wrap="square" lIns="0" tIns="0" rIns="0" bIns="0" rtlCol="0" anchor="ctr"/>
          <a:lstStyle/>
          <a:p>
            <a:r>
              <a:rPr lang="en-IN" sz="1200" b="1"/>
              <a:t>Purpose:</a:t>
            </a:r>
            <a:r>
              <a:rPr lang="en-IN" sz="1200"/>
              <a:t> Understand the visual information present inside lecture videos.</a:t>
            </a:r>
          </a:p>
          <a:p>
            <a:r>
              <a:rPr lang="en-IN" sz="1200" b="1"/>
              <a:t>Processing Pipeline</a:t>
            </a:r>
          </a:p>
          <a:p>
            <a:r>
              <a:rPr lang="en-IN" sz="1200" b="1"/>
              <a:t>Video → Frame Extraction → Image Pre-processing → OCR → Extracted Text</a:t>
            </a:r>
            <a:endParaRPr lang="en-IN" sz="1200"/>
          </a:p>
          <a:p>
            <a:r>
              <a:rPr lang="en-IN" sz="1200" b="1"/>
              <a:t>Techniques Used</a:t>
            </a:r>
          </a:p>
          <a:p>
            <a:pPr lvl="0"/>
            <a:r>
              <a:rPr lang="en-IN" sz="1200"/>
              <a:t>Key-frame extraction </a:t>
            </a:r>
          </a:p>
          <a:p>
            <a:pPr lvl="0"/>
            <a:r>
              <a:rPr lang="en-IN" sz="1200"/>
              <a:t>Grayscale conversion </a:t>
            </a:r>
          </a:p>
          <a:p>
            <a:pPr lvl="0"/>
            <a:r>
              <a:rPr lang="en-IN" sz="1200"/>
              <a:t>Thresholding </a:t>
            </a:r>
          </a:p>
          <a:p>
            <a:pPr lvl="0"/>
            <a:r>
              <a:rPr lang="en-IN" sz="1200"/>
              <a:t>Contrast enhancement </a:t>
            </a:r>
          </a:p>
          <a:p>
            <a:pPr lvl="0"/>
            <a:r>
              <a:rPr lang="en-IN" sz="1200" b="1"/>
              <a:t>OCR-based text extraction</a:t>
            </a:r>
            <a:r>
              <a:rPr lang="en-IN" sz="1200"/>
              <a:t> </a:t>
            </a:r>
          </a:p>
          <a:p>
            <a:r>
              <a:rPr lang="en-IN" sz="1200" b="1"/>
              <a:t>Role in Our System</a:t>
            </a:r>
          </a:p>
          <a:p>
            <a:r>
              <a:rPr lang="en-IN" sz="1200"/>
              <a:t>This module captures information that </a:t>
            </a:r>
            <a:r>
              <a:rPr lang="en-IN" sz="1200" b="1"/>
              <a:t>audio transcription cannot provide</a:t>
            </a:r>
            <a:r>
              <a:rPr lang="en-IN" sz="1200"/>
              <a:t>, such as:</a:t>
            </a:r>
          </a:p>
          <a:p>
            <a:pPr lvl="0"/>
            <a:r>
              <a:rPr lang="en-IN" sz="1200"/>
              <a:t>- Slide text </a:t>
            </a:r>
          </a:p>
          <a:p>
            <a:pPr lvl="0"/>
            <a:r>
              <a:rPr lang="en-IN" sz="1200"/>
              <a:t>- Programming code </a:t>
            </a:r>
          </a:p>
          <a:p>
            <a:pPr lvl="0"/>
            <a:r>
              <a:rPr lang="en-IN" sz="1200"/>
              <a:t>- Diagrams and labels </a:t>
            </a:r>
          </a:p>
          <a:p>
            <a:pPr lvl="0"/>
            <a:r>
              <a:rPr lang="en-IN" sz="1200"/>
              <a:t>- Important keywords </a:t>
            </a:r>
          </a:p>
          <a:p>
            <a:r>
              <a:rPr lang="en-IN" sz="1200" b="1"/>
              <a:t>Input:</a:t>
            </a:r>
            <a:r>
              <a:rPr lang="en-IN" sz="1200"/>
              <a:t> Selected video frames</a:t>
            </a:r>
            <a:br>
              <a:rPr lang="en-IN" sz="1200"/>
            </a:br>
            <a:r>
              <a:rPr lang="en-IN" sz="1200" b="1"/>
              <a:t>Output:</a:t>
            </a:r>
            <a:r>
              <a:rPr lang="en-IN" sz="1200"/>
              <a:t> Machine-readable visual text</a:t>
            </a:r>
          </a:p>
        </p:txBody>
      </p:sp>
      <p:sp>
        <p:nvSpPr>
          <p:cNvPr id="5" name="Text 3"/>
          <p:cNvSpPr/>
          <p:nvPr/>
        </p:nvSpPr>
        <p:spPr>
          <a:xfrm>
            <a:off x="590550" y="2938463"/>
            <a:ext cx="1795463" cy="323850"/>
          </a:xfrm>
          <a:prstGeom prst="rect">
            <a:avLst/>
          </a:prstGeom>
          <a:noFill/>
          <a:ln/>
        </p:spPr>
        <p:txBody>
          <a:bodyPr wrap="square" lIns="0" tIns="0" rIns="0" bIns="0" rtlCol="0" anchor="ctr"/>
          <a:lstStyle/>
          <a:p>
            <a:pPr marL="0" indent="0" algn="l">
              <a:lnSpc>
                <a:spcPts val="1197"/>
              </a:lnSpc>
              <a:buNone/>
            </a:pPr>
            <a:r>
              <a:rPr lang="en-US" sz="855" b="1" dirty="0">
                <a:solidFill>
                  <a:srgbClr val="4682B4">
                    <a:alpha val="99000"/>
                  </a:srgbClr>
                </a:solidFill>
                <a:latin typeface="Inter" pitchFamily="34" charset="0"/>
                <a:ea typeface="Inter" pitchFamily="34" charset="-122"/>
                <a:cs typeface="Inter" pitchFamily="34" charset="-120"/>
              </a:rPr>
              <a:t>AI-Powered Multi-Modal Lecture Note Generator</a:t>
            </a:r>
            <a:endParaRPr lang="en-US" sz="855" dirty="0"/>
          </a:p>
        </p:txBody>
      </p:sp>
      <p:sp>
        <p:nvSpPr>
          <p:cNvPr id="6" name="Text 4"/>
          <p:cNvSpPr/>
          <p:nvPr/>
        </p:nvSpPr>
        <p:spPr>
          <a:xfrm>
            <a:off x="0" y="0"/>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2413" y="2014538"/>
            <a:ext cx="2058991"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06127" y="2157413"/>
            <a:ext cx="2058991" cy="552450"/>
          </a:xfrm>
          <a:prstGeom prst="rect">
            <a:avLst/>
          </a:prstGeom>
          <a:noFill/>
          <a:ln/>
        </p:spPr>
        <p:txBody>
          <a:bodyPr wrap="square" lIns="0" tIns="0" rIns="0" bIns="0" rtlCol="0" anchor="ctr"/>
          <a:lstStyle/>
          <a:p>
            <a:pPr lvl="1" algn="ctr">
              <a:lnSpc>
                <a:spcPts val="2052"/>
              </a:lnSpc>
            </a:pPr>
            <a:r>
              <a:rPr lang="en-US" sz="2138" b="1" kern="0" spc="-47">
                <a:solidFill>
                  <a:srgbClr val="00457E">
                    <a:alpha val="99000"/>
                  </a:srgbClr>
                </a:solidFill>
                <a:latin typeface="Inter" pitchFamily="34" charset="0"/>
                <a:ea typeface="Inter" pitchFamily="34" charset="-122"/>
                <a:cs typeface="Inter" pitchFamily="34" charset="-120"/>
              </a:rPr>
              <a:t>Natural Language Processing</a:t>
            </a:r>
            <a:endParaRPr lang="en-US" sz="2138" dirty="0"/>
          </a:p>
        </p:txBody>
      </p:sp>
      <p:sp>
        <p:nvSpPr>
          <p:cNvPr id="4" name="Text 2"/>
          <p:cNvSpPr/>
          <p:nvPr/>
        </p:nvSpPr>
        <p:spPr>
          <a:xfrm>
            <a:off x="3448050" y="628650"/>
            <a:ext cx="5086350" cy="3890962"/>
          </a:xfrm>
          <a:prstGeom prst="rect">
            <a:avLst/>
          </a:prstGeom>
          <a:noFill/>
          <a:ln/>
        </p:spPr>
        <p:txBody>
          <a:bodyPr wrap="square" lIns="0" tIns="0" rIns="0" bIns="0" rtlCol="0" anchor="ctr"/>
          <a:lstStyle/>
          <a:p>
            <a:pPr>
              <a:lnSpc>
                <a:spcPct val="150000"/>
              </a:lnSpc>
            </a:pPr>
            <a:r>
              <a:rPr lang="en-IN" sz="1200" b="1"/>
              <a:t>Purpose:</a:t>
            </a:r>
            <a:r>
              <a:rPr lang="en-IN" sz="1200"/>
              <a:t> Convert raw ASR and OCR outputs into meaningful and structured learning content.</a:t>
            </a:r>
          </a:p>
          <a:p>
            <a:pPr>
              <a:lnSpc>
                <a:spcPct val="150000"/>
              </a:lnSpc>
            </a:pPr>
            <a:r>
              <a:rPr lang="en-IN" sz="1200" b="1"/>
              <a:t>Major Processing Tasks</a:t>
            </a:r>
          </a:p>
          <a:p>
            <a:pPr lvl="0">
              <a:lnSpc>
                <a:spcPct val="150000"/>
              </a:lnSpc>
            </a:pPr>
            <a:r>
              <a:rPr lang="en-IN" sz="1200"/>
              <a:t>Text cleaning and normalization </a:t>
            </a:r>
          </a:p>
          <a:p>
            <a:pPr lvl="0">
              <a:lnSpc>
                <a:spcPct val="150000"/>
              </a:lnSpc>
            </a:pPr>
            <a:r>
              <a:rPr lang="en-IN" sz="1200"/>
              <a:t>Combining ASR and OCR information </a:t>
            </a:r>
          </a:p>
          <a:p>
            <a:pPr lvl="0">
              <a:lnSpc>
                <a:spcPct val="150000"/>
              </a:lnSpc>
            </a:pPr>
            <a:r>
              <a:rPr lang="en-IN" sz="1200"/>
              <a:t>Contextual understanding </a:t>
            </a:r>
          </a:p>
          <a:p>
            <a:pPr lvl="0">
              <a:lnSpc>
                <a:spcPct val="150000"/>
              </a:lnSpc>
            </a:pPr>
            <a:r>
              <a:rPr lang="en-IN" sz="1200"/>
              <a:t>Keyword extraction </a:t>
            </a:r>
          </a:p>
          <a:p>
            <a:pPr lvl="0">
              <a:lnSpc>
                <a:spcPct val="150000"/>
              </a:lnSpc>
            </a:pPr>
            <a:r>
              <a:rPr lang="en-IN" sz="1200"/>
              <a:t>Content summarization </a:t>
            </a:r>
          </a:p>
          <a:p>
            <a:pPr lvl="0">
              <a:lnSpc>
                <a:spcPct val="150000"/>
              </a:lnSpc>
            </a:pPr>
            <a:r>
              <a:rPr lang="en-IN" sz="1200"/>
              <a:t>Structured note generation </a:t>
            </a:r>
          </a:p>
          <a:p>
            <a:pPr lvl="0">
              <a:lnSpc>
                <a:spcPct val="150000"/>
              </a:lnSpc>
            </a:pPr>
            <a:r>
              <a:rPr lang="en-IN" sz="1200"/>
              <a:t>Question generation for revision </a:t>
            </a:r>
          </a:p>
          <a:p>
            <a:pPr>
              <a:lnSpc>
                <a:spcPct val="150000"/>
              </a:lnSpc>
            </a:pPr>
            <a:r>
              <a:rPr lang="en-IN" sz="1200" b="1"/>
              <a:t>Role in Our System</a:t>
            </a:r>
          </a:p>
          <a:p>
            <a:pPr>
              <a:lnSpc>
                <a:spcPct val="150000"/>
              </a:lnSpc>
            </a:pPr>
            <a:r>
              <a:rPr lang="en-IN" sz="1200"/>
              <a:t>NLP acts as the </a:t>
            </a:r>
            <a:r>
              <a:rPr lang="en-IN" sz="1200" b="1"/>
              <a:t>intelligence layer</a:t>
            </a:r>
            <a:r>
              <a:rPr lang="en-IN" sz="1200"/>
              <a:t> of the system.</a:t>
            </a:r>
          </a:p>
          <a:p>
            <a:pPr>
              <a:lnSpc>
                <a:spcPct val="150000"/>
              </a:lnSpc>
            </a:pPr>
            <a:r>
              <a:rPr lang="en-IN" sz="1200" b="1"/>
              <a:t>ASR Text + OCR Text → Context Understanding → Summary → Structured Notes + Questions</a:t>
            </a:r>
            <a:endParaRPr lang="en-IN" sz="1200"/>
          </a:p>
          <a:p>
            <a:pPr>
              <a:lnSpc>
                <a:spcPct val="150000"/>
              </a:lnSpc>
            </a:pPr>
            <a:r>
              <a:rPr lang="en-IN" sz="1200"/>
              <a:t>This allows the system to produce notes that contain both the </a:t>
            </a:r>
            <a:r>
              <a:rPr lang="en-IN" sz="1200" b="1"/>
              <a:t>lecturer's explanation and information displayed visually</a:t>
            </a:r>
            <a:r>
              <a:rPr lang="en-IN" sz="1200"/>
              <a:t>.</a:t>
            </a:r>
          </a:p>
        </p:txBody>
      </p:sp>
      <p:sp>
        <p:nvSpPr>
          <p:cNvPr id="5" name="Text 3"/>
          <p:cNvSpPr/>
          <p:nvPr/>
        </p:nvSpPr>
        <p:spPr>
          <a:xfrm>
            <a:off x="1001966" y="2938463"/>
            <a:ext cx="1795463" cy="323850"/>
          </a:xfrm>
          <a:prstGeom prst="rect">
            <a:avLst/>
          </a:prstGeom>
          <a:noFill/>
          <a:ln/>
        </p:spPr>
        <p:txBody>
          <a:bodyPr wrap="square" lIns="0" tIns="0" rIns="0" bIns="0" rtlCol="0" anchor="ctr"/>
          <a:lstStyle/>
          <a:p>
            <a:pPr marL="0" indent="0" algn="l">
              <a:lnSpc>
                <a:spcPts val="1197"/>
              </a:lnSpc>
              <a:buNone/>
            </a:pPr>
            <a:r>
              <a:rPr lang="en-US" sz="855" b="1" dirty="0">
                <a:solidFill>
                  <a:srgbClr val="4682B4">
                    <a:alpha val="99000"/>
                  </a:srgbClr>
                </a:solidFill>
                <a:latin typeface="Inter" pitchFamily="34" charset="0"/>
                <a:ea typeface="Inter" pitchFamily="34" charset="-122"/>
                <a:cs typeface="Inter" pitchFamily="34" charset="-120"/>
              </a:rPr>
              <a:t>AI-Powered Multi-Modal Lecture Note Generator</a:t>
            </a:r>
            <a:endParaRPr lang="en-US" sz="855" dirty="0"/>
          </a:p>
        </p:txBody>
      </p:sp>
      <p:sp>
        <p:nvSpPr>
          <p:cNvPr id="6" name="Text 4"/>
          <p:cNvSpPr/>
          <p:nvPr/>
        </p:nvSpPr>
        <p:spPr>
          <a:xfrm>
            <a:off x="0" y="0"/>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609600"/>
            <a:ext cx="7543800" cy="276225"/>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Sub Domains and Issues </a:t>
            </a:r>
            <a:endParaRPr lang="en-US" sz="1710" dirty="0"/>
          </a:p>
        </p:txBody>
      </p:sp>
      <p:sp>
        <p:nvSpPr>
          <p:cNvPr id="3" name="Shape 1"/>
          <p:cNvSpPr/>
          <p:nvPr/>
        </p:nvSpPr>
        <p:spPr>
          <a:xfrm>
            <a:off x="609600" y="1304925"/>
            <a:ext cx="2438400" cy="3228975"/>
          </a:xfrm>
          <a:prstGeom prst="roundRect">
            <a:avLst>
              <a:gd name="adj" fmla="val 6000"/>
            </a:avLst>
          </a:prstGeom>
          <a:solidFill>
            <a:srgbClr val="AEE4FF"/>
          </a:solidFill>
          <a:ln/>
        </p:spPr>
      </p:sp>
      <p:sp>
        <p:nvSpPr>
          <p:cNvPr id="4" name="Text 2"/>
          <p:cNvSpPr/>
          <p:nvPr/>
        </p:nvSpPr>
        <p:spPr>
          <a:xfrm>
            <a:off x="838200" y="1495425"/>
            <a:ext cx="2008187" cy="4572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Automatic Speech Recognition (ASR)</a:t>
            </a:r>
            <a:endParaRPr lang="en-US" sz="1283" dirty="0"/>
          </a:p>
        </p:txBody>
      </p:sp>
      <p:sp>
        <p:nvSpPr>
          <p:cNvPr id="5" name="Text 3"/>
          <p:cNvSpPr/>
          <p:nvPr/>
        </p:nvSpPr>
        <p:spPr>
          <a:xfrm>
            <a:off x="823913" y="2214563"/>
            <a:ext cx="2008187" cy="2166938"/>
          </a:xfrm>
          <a:prstGeom prst="rect">
            <a:avLst/>
          </a:prstGeom>
          <a:noFill/>
          <a:ln/>
        </p:spPr>
        <p:txBody>
          <a:bodyPr wrap="square" lIns="0" tIns="0" rIns="0" bIns="0" rtlCol="0" anchor="ctr"/>
          <a:lstStyle/>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Accuracy drops with noisy environments.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Difficulty handling diverse accents and fast-paced delivery.</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Errors in transcribing domain-specific or technical terms.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Speaker identification and punctuation are often unreliable.</a:t>
            </a:r>
            <a:endParaRPr lang="en-US" sz="926" dirty="0"/>
          </a:p>
        </p:txBody>
      </p:sp>
      <p:sp>
        <p:nvSpPr>
          <p:cNvPr id="6" name="Shape 4"/>
          <p:cNvSpPr/>
          <p:nvPr/>
        </p:nvSpPr>
        <p:spPr>
          <a:xfrm>
            <a:off x="3352800" y="1304925"/>
            <a:ext cx="2438400" cy="3228975"/>
          </a:xfrm>
          <a:prstGeom prst="roundRect">
            <a:avLst>
              <a:gd name="adj" fmla="val 6000"/>
            </a:avLst>
          </a:prstGeom>
          <a:solidFill>
            <a:srgbClr val="AEE4FF"/>
          </a:solidFill>
          <a:ln/>
        </p:spPr>
      </p:sp>
      <p:sp>
        <p:nvSpPr>
          <p:cNvPr id="7" name="Text 5"/>
          <p:cNvSpPr/>
          <p:nvPr/>
        </p:nvSpPr>
        <p:spPr>
          <a:xfrm>
            <a:off x="3581400" y="1495425"/>
            <a:ext cx="2008187" cy="4572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Optical Character Recognition (OCR)</a:t>
            </a:r>
            <a:endParaRPr lang="en-US" sz="1283" dirty="0"/>
          </a:p>
        </p:txBody>
      </p:sp>
      <p:sp>
        <p:nvSpPr>
          <p:cNvPr id="8" name="Text 6"/>
          <p:cNvSpPr/>
          <p:nvPr/>
        </p:nvSpPr>
        <p:spPr>
          <a:xfrm>
            <a:off x="3581400" y="2124075"/>
            <a:ext cx="2008187" cy="2166938"/>
          </a:xfrm>
          <a:prstGeom prst="rect">
            <a:avLst/>
          </a:prstGeom>
          <a:noFill/>
          <a:ln/>
        </p:spPr>
        <p:txBody>
          <a:bodyPr wrap="square" lIns="0" tIns="0" rIns="0" bIns="0" rtlCol="0" anchor="ctr"/>
          <a:lstStyle/>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Low-quality images, glare, or poor resolution reduce accuracy.</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Handwritten content on whiteboards is hard to interpret.</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Mixed content causes confusion.</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Variation in layouts complicates recognition.</a:t>
            </a:r>
            <a:endParaRPr lang="en-US" sz="926" dirty="0"/>
          </a:p>
        </p:txBody>
      </p:sp>
      <p:sp>
        <p:nvSpPr>
          <p:cNvPr id="9" name="Shape 7"/>
          <p:cNvSpPr/>
          <p:nvPr/>
        </p:nvSpPr>
        <p:spPr>
          <a:xfrm>
            <a:off x="6096000" y="1304925"/>
            <a:ext cx="2438400" cy="3228975"/>
          </a:xfrm>
          <a:prstGeom prst="roundRect">
            <a:avLst>
              <a:gd name="adj" fmla="val 6000"/>
            </a:avLst>
          </a:prstGeom>
          <a:solidFill>
            <a:srgbClr val="AEE4FF"/>
          </a:solidFill>
          <a:ln/>
        </p:spPr>
      </p:sp>
      <p:sp>
        <p:nvSpPr>
          <p:cNvPr id="10" name="Text 8"/>
          <p:cNvSpPr/>
          <p:nvPr/>
        </p:nvSpPr>
        <p:spPr>
          <a:xfrm>
            <a:off x="6324600" y="1495425"/>
            <a:ext cx="2008187"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Computer Vision (CV)</a:t>
            </a:r>
            <a:endParaRPr lang="en-US" sz="1283" dirty="0"/>
          </a:p>
        </p:txBody>
      </p:sp>
      <p:sp>
        <p:nvSpPr>
          <p:cNvPr id="11" name="Text 9"/>
          <p:cNvSpPr/>
          <p:nvPr/>
        </p:nvSpPr>
        <p:spPr>
          <a:xfrm>
            <a:off x="6324600" y="1957388"/>
            <a:ext cx="2008187" cy="2333625"/>
          </a:xfrm>
          <a:prstGeom prst="rect">
            <a:avLst/>
          </a:prstGeom>
          <a:noFill/>
          <a:ln/>
        </p:spPr>
        <p:txBody>
          <a:bodyPr wrap="square" lIns="0" tIns="0" rIns="0" bIns="0" rtlCol="0" anchor="ctr"/>
          <a:lstStyle/>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Detecting slide/board transitions in varied lighting conditions.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Identifying “key frames” without missing relevant content.</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Handling occlusions (e.g., lecturer blocking the board).</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Real-time frame processing demands high computational power.</a:t>
            </a:r>
            <a:endParaRPr lang="en-US" sz="92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609600"/>
            <a:ext cx="7543800" cy="276225"/>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Sub Domains and Issues </a:t>
            </a:r>
            <a:endParaRPr lang="en-US" sz="1710" dirty="0"/>
          </a:p>
        </p:txBody>
      </p:sp>
      <p:sp>
        <p:nvSpPr>
          <p:cNvPr id="3" name="Shape 1"/>
          <p:cNvSpPr/>
          <p:nvPr/>
        </p:nvSpPr>
        <p:spPr>
          <a:xfrm>
            <a:off x="609600" y="1304925"/>
            <a:ext cx="2438400" cy="3228975"/>
          </a:xfrm>
          <a:prstGeom prst="roundRect">
            <a:avLst>
              <a:gd name="adj" fmla="val 6000"/>
            </a:avLst>
          </a:prstGeom>
          <a:solidFill>
            <a:srgbClr val="AEE4FF"/>
          </a:solidFill>
          <a:ln/>
        </p:spPr>
      </p:sp>
      <p:sp>
        <p:nvSpPr>
          <p:cNvPr id="4" name="Text 2"/>
          <p:cNvSpPr/>
          <p:nvPr/>
        </p:nvSpPr>
        <p:spPr>
          <a:xfrm>
            <a:off x="838200" y="1495425"/>
            <a:ext cx="2008187" cy="4572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Natural Language Processing (NLP)</a:t>
            </a:r>
            <a:endParaRPr lang="en-US" sz="1283" dirty="0"/>
          </a:p>
        </p:txBody>
      </p:sp>
      <p:sp>
        <p:nvSpPr>
          <p:cNvPr id="5" name="Text 3"/>
          <p:cNvSpPr/>
          <p:nvPr/>
        </p:nvSpPr>
        <p:spPr>
          <a:xfrm>
            <a:off x="838200" y="2124075"/>
            <a:ext cx="2008187" cy="2166938"/>
          </a:xfrm>
          <a:prstGeom prst="rect">
            <a:avLst/>
          </a:prstGeom>
          <a:noFill/>
          <a:ln/>
        </p:spPr>
        <p:txBody>
          <a:bodyPr wrap="square" lIns="0" tIns="0" rIns="0" bIns="0" rtlCol="0" anchor="ctr"/>
          <a:lstStyle/>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Raw transcripts contain filler words, repetitions, and disfluencies.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Semantic understanding is required to preserve meaning.</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Balancing between extractive vs. abstractive summarization.</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Avoiding loss of critical information while condensing text.</a:t>
            </a:r>
            <a:endParaRPr lang="en-US" sz="926" dirty="0"/>
          </a:p>
        </p:txBody>
      </p:sp>
      <p:sp>
        <p:nvSpPr>
          <p:cNvPr id="6" name="Shape 4"/>
          <p:cNvSpPr/>
          <p:nvPr/>
        </p:nvSpPr>
        <p:spPr>
          <a:xfrm>
            <a:off x="3352800" y="1304925"/>
            <a:ext cx="2438400" cy="3228975"/>
          </a:xfrm>
          <a:prstGeom prst="roundRect">
            <a:avLst>
              <a:gd name="adj" fmla="val 6000"/>
            </a:avLst>
          </a:prstGeom>
          <a:solidFill>
            <a:srgbClr val="AEE4FF"/>
          </a:solidFill>
          <a:ln/>
        </p:spPr>
      </p:sp>
      <p:sp>
        <p:nvSpPr>
          <p:cNvPr id="7" name="Text 5"/>
          <p:cNvSpPr/>
          <p:nvPr/>
        </p:nvSpPr>
        <p:spPr>
          <a:xfrm>
            <a:off x="3581400" y="1495425"/>
            <a:ext cx="1833563" cy="4572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Multi-Modal Information Fusion</a:t>
            </a:r>
            <a:endParaRPr lang="en-US" sz="1283" dirty="0"/>
          </a:p>
        </p:txBody>
      </p:sp>
      <p:sp>
        <p:nvSpPr>
          <p:cNvPr id="8" name="Text 6"/>
          <p:cNvSpPr/>
          <p:nvPr/>
        </p:nvSpPr>
        <p:spPr>
          <a:xfrm>
            <a:off x="3581400" y="2124075"/>
            <a:ext cx="2008187" cy="2166938"/>
          </a:xfrm>
          <a:prstGeom prst="rect">
            <a:avLst/>
          </a:prstGeom>
          <a:noFill/>
          <a:ln/>
        </p:spPr>
        <p:txBody>
          <a:bodyPr wrap="square" lIns="0" tIns="0" rIns="0" bIns="0" rtlCol="0" anchor="ctr"/>
          <a:lstStyle/>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Synchronizing OCR text with ASR transcripts reliably.</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Resolving redundancy when the same content appears in both modalities.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Ensuring semantic consistency when merging explanations and visuals.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Computational overhead in processing large.</a:t>
            </a:r>
            <a:endParaRPr lang="en-US" sz="926" dirty="0"/>
          </a:p>
        </p:txBody>
      </p:sp>
      <p:sp>
        <p:nvSpPr>
          <p:cNvPr id="9" name="Shape 7"/>
          <p:cNvSpPr/>
          <p:nvPr/>
        </p:nvSpPr>
        <p:spPr>
          <a:xfrm>
            <a:off x="6096000" y="1304925"/>
            <a:ext cx="2438400" cy="3228975"/>
          </a:xfrm>
          <a:prstGeom prst="roundRect">
            <a:avLst>
              <a:gd name="adj" fmla="val 6000"/>
            </a:avLst>
          </a:prstGeom>
          <a:solidFill>
            <a:srgbClr val="AEE4FF"/>
          </a:solidFill>
          <a:ln/>
        </p:spPr>
      </p:sp>
      <p:sp>
        <p:nvSpPr>
          <p:cNvPr id="10" name="Text 8"/>
          <p:cNvSpPr/>
          <p:nvPr/>
        </p:nvSpPr>
        <p:spPr>
          <a:xfrm>
            <a:off x="6324600" y="1495425"/>
            <a:ext cx="2008187"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Temporal Alignment</a:t>
            </a:r>
            <a:endParaRPr lang="en-US" sz="1283" dirty="0"/>
          </a:p>
        </p:txBody>
      </p:sp>
      <p:sp>
        <p:nvSpPr>
          <p:cNvPr id="11" name="Text 9"/>
          <p:cNvSpPr/>
          <p:nvPr/>
        </p:nvSpPr>
        <p:spPr>
          <a:xfrm>
            <a:off x="6310313" y="2124075"/>
            <a:ext cx="2008187" cy="2166938"/>
          </a:xfrm>
          <a:prstGeom prst="rect">
            <a:avLst/>
          </a:prstGeom>
          <a:noFill/>
          <a:ln/>
        </p:spPr>
        <p:txBody>
          <a:bodyPr wrap="square" lIns="0" tIns="0" rIns="0" bIns="0" rtlCol="0" anchor="ctr"/>
          <a:lstStyle/>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Matching spoken content with corresponding slide/board segments.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Handling delays when a lecturer explains a slide long after it’s shown.</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Managing skipped references or out-of-order explanations.</a:t>
            </a:r>
            <a:endParaRPr lang="en-US" sz="926" dirty="0"/>
          </a:p>
          <a:p>
            <a:pPr marL="342900" indent="-342900" algn="l">
              <a:lnSpc>
                <a:spcPts val="1241"/>
              </a:lnSpc>
              <a:buSzPct val="100000"/>
              <a:buChar char="•"/>
            </a:pPr>
            <a:r>
              <a:rPr lang="en-US" sz="926" kern="0" spc="-5" dirty="0">
                <a:solidFill>
                  <a:srgbClr val="000000">
                    <a:alpha val="99000"/>
                  </a:srgbClr>
                </a:solidFill>
                <a:latin typeface="Inter" pitchFamily="34" charset="0"/>
                <a:ea typeface="Inter" pitchFamily="34" charset="-122"/>
                <a:cs typeface="Inter" pitchFamily="34" charset="-120"/>
              </a:rPr>
              <a:t>Keeping consistent context in long-duration lectures.</a:t>
            </a:r>
            <a:endParaRPr lang="en-US" sz="926"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9575" y="2290763"/>
            <a:ext cx="1381125" cy="561975"/>
          </a:xfrm>
          <a:prstGeom prst="roundRect">
            <a:avLst>
              <a:gd name="adj" fmla="val 26034"/>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433638"/>
            <a:ext cx="2286000" cy="276225"/>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Modules</a:t>
            </a:r>
            <a:endParaRPr lang="en-US" sz="1710" dirty="0"/>
          </a:p>
        </p:txBody>
      </p:sp>
      <p:sp>
        <p:nvSpPr>
          <p:cNvPr id="4" name="Shape 2"/>
          <p:cNvSpPr/>
          <p:nvPr/>
        </p:nvSpPr>
        <p:spPr>
          <a:xfrm>
            <a:off x="2405063" y="1495425"/>
            <a:ext cx="3371850" cy="1085850"/>
          </a:xfrm>
          <a:prstGeom prst="rect">
            <a:avLst/>
          </a:prstGeom>
          <a:noFill/>
          <a:ln/>
        </p:spPr>
      </p:sp>
      <p:sp>
        <p:nvSpPr>
          <p:cNvPr id="5" name="Text 3"/>
          <p:cNvSpPr/>
          <p:nvPr/>
        </p:nvSpPr>
        <p:spPr>
          <a:xfrm>
            <a:off x="2405063" y="1495425"/>
            <a:ext cx="337185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Input Processing Module</a:t>
            </a:r>
            <a:endParaRPr lang="en-US" sz="1283" dirty="0"/>
          </a:p>
        </p:txBody>
      </p:sp>
      <p:sp>
        <p:nvSpPr>
          <p:cNvPr id="6" name="Text 4"/>
          <p:cNvSpPr/>
          <p:nvPr/>
        </p:nvSpPr>
        <p:spPr>
          <a:xfrm>
            <a:off x="2405063" y="1800225"/>
            <a:ext cx="3048000" cy="781050"/>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Captures audio (lectures) and images.</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Converts speech to text using ASR.</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Extracts text from handwritten/printed notes using OCR.</a:t>
            </a:r>
            <a:endParaRPr lang="en-US" sz="1069" dirty="0"/>
          </a:p>
        </p:txBody>
      </p:sp>
      <p:sp>
        <p:nvSpPr>
          <p:cNvPr id="7" name="Shape 5"/>
          <p:cNvSpPr/>
          <p:nvPr/>
        </p:nvSpPr>
        <p:spPr>
          <a:xfrm>
            <a:off x="2405063" y="2805113"/>
            <a:ext cx="3033713" cy="1085850"/>
          </a:xfrm>
          <a:prstGeom prst="rect">
            <a:avLst/>
          </a:prstGeom>
          <a:noFill/>
          <a:ln/>
        </p:spPr>
      </p:sp>
      <p:sp>
        <p:nvSpPr>
          <p:cNvPr id="8" name="Text 6"/>
          <p:cNvSpPr/>
          <p:nvPr/>
        </p:nvSpPr>
        <p:spPr>
          <a:xfrm>
            <a:off x="2405063" y="2805113"/>
            <a:ext cx="3033713"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 Fusion &amp; Alignment Module</a:t>
            </a:r>
            <a:endParaRPr lang="en-US" sz="1283" dirty="0"/>
          </a:p>
        </p:txBody>
      </p:sp>
      <p:sp>
        <p:nvSpPr>
          <p:cNvPr id="9" name="Text 7"/>
          <p:cNvSpPr/>
          <p:nvPr/>
        </p:nvSpPr>
        <p:spPr>
          <a:xfrm>
            <a:off x="2405063" y="3109913"/>
            <a:ext cx="3033713" cy="781050"/>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Integrates ASR, OCR, and CV outputs into a unified timeline.</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Performs temporal alignment of lecture audio with visual notes.</a:t>
            </a:r>
            <a:endParaRPr lang="en-US" sz="1069" dirty="0"/>
          </a:p>
        </p:txBody>
      </p:sp>
      <p:sp>
        <p:nvSpPr>
          <p:cNvPr id="10" name="Shape 8"/>
          <p:cNvSpPr/>
          <p:nvPr/>
        </p:nvSpPr>
        <p:spPr>
          <a:xfrm>
            <a:off x="5943600" y="1447800"/>
            <a:ext cx="2676525" cy="1085850"/>
          </a:xfrm>
          <a:prstGeom prst="rect">
            <a:avLst/>
          </a:prstGeom>
          <a:noFill/>
          <a:ln/>
        </p:spPr>
      </p:sp>
      <p:sp>
        <p:nvSpPr>
          <p:cNvPr id="11" name="Text 9"/>
          <p:cNvSpPr/>
          <p:nvPr/>
        </p:nvSpPr>
        <p:spPr>
          <a:xfrm>
            <a:off x="5943600" y="1447800"/>
            <a:ext cx="2676525"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Content Understanding Module</a:t>
            </a:r>
            <a:endParaRPr lang="en-US" sz="1283" dirty="0"/>
          </a:p>
        </p:txBody>
      </p:sp>
      <p:sp>
        <p:nvSpPr>
          <p:cNvPr id="12" name="Text 10"/>
          <p:cNvSpPr/>
          <p:nvPr/>
        </p:nvSpPr>
        <p:spPr>
          <a:xfrm>
            <a:off x="5943600" y="1752600"/>
            <a:ext cx="2676525" cy="781050"/>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Applies NLP to clean, summarize, and structure raw text.</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Identifies key concepts, topics, and context.</a:t>
            </a:r>
            <a:endParaRPr lang="en-US" sz="1069" dirty="0"/>
          </a:p>
        </p:txBody>
      </p:sp>
      <p:sp>
        <p:nvSpPr>
          <p:cNvPr id="13" name="Shape 11"/>
          <p:cNvSpPr/>
          <p:nvPr/>
        </p:nvSpPr>
        <p:spPr>
          <a:xfrm>
            <a:off x="5943600" y="2805113"/>
            <a:ext cx="2819400" cy="1281113"/>
          </a:xfrm>
          <a:prstGeom prst="rect">
            <a:avLst/>
          </a:prstGeom>
          <a:noFill/>
          <a:ln/>
        </p:spPr>
      </p:sp>
      <p:sp>
        <p:nvSpPr>
          <p:cNvPr id="14" name="Text 12"/>
          <p:cNvSpPr/>
          <p:nvPr/>
        </p:nvSpPr>
        <p:spPr>
          <a:xfrm>
            <a:off x="5943600" y="2805113"/>
            <a:ext cx="281940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Notes Generation Module</a:t>
            </a:r>
            <a:endParaRPr lang="en-US" sz="1283" dirty="0"/>
          </a:p>
        </p:txBody>
      </p:sp>
      <p:sp>
        <p:nvSpPr>
          <p:cNvPr id="15" name="Text 13"/>
          <p:cNvSpPr/>
          <p:nvPr/>
        </p:nvSpPr>
        <p:spPr>
          <a:xfrm>
            <a:off x="5943600" y="3109913"/>
            <a:ext cx="2819400" cy="976312"/>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Produces coherent, structured notes.</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Highlights key takeaways and important concepts.</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Exports notes in multiple formats (PDF, DOCX, etc.).</a:t>
            </a:r>
            <a:endParaRPr lang="en-US" sz="1069" dirty="0"/>
          </a:p>
        </p:txBody>
      </p:sp>
      <p:sp>
        <p:nvSpPr>
          <p:cNvPr id="16" name="Text 14"/>
          <p:cNvSpPr/>
          <p:nvPr/>
        </p:nvSpPr>
        <p:spPr>
          <a:xfrm>
            <a:off x="4763" y="0"/>
            <a:ext cx="2128838"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1012" y="2043113"/>
            <a:ext cx="2562225" cy="1062038"/>
          </a:xfrm>
          <a:prstGeom prst="roundRect">
            <a:avLst>
              <a:gd name="adj" fmla="val 13776"/>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300288"/>
            <a:ext cx="5715000" cy="547688"/>
          </a:xfrm>
          <a:prstGeom prst="rect">
            <a:avLst/>
          </a:prstGeom>
          <a:noFill/>
          <a:ln/>
        </p:spPr>
        <p:txBody>
          <a:bodyPr wrap="square" lIns="0" tIns="0" rIns="0" bIns="0" rtlCol="0" anchor="ctr"/>
          <a:lstStyle/>
          <a:p>
            <a:pPr marL="0" indent="0" algn="l">
              <a:lnSpc>
                <a:spcPts val="4104"/>
              </a:lnSpc>
              <a:buNone/>
            </a:pPr>
            <a:r>
              <a:rPr lang="en-US" sz="3420" b="1" kern="0" spc="-68" dirty="0">
                <a:solidFill>
                  <a:srgbClr val="00457E">
                    <a:alpha val="99000"/>
                  </a:srgbClr>
                </a:solidFill>
                <a:latin typeface="Inter" pitchFamily="34" charset="0"/>
                <a:ea typeface="Inter" pitchFamily="34" charset="-122"/>
                <a:cs typeface="Inter" pitchFamily="34" charset="-120"/>
              </a:rPr>
              <a:t>Thank You</a:t>
            </a:r>
            <a:endParaRPr lang="en-US" sz="3420" dirty="0"/>
          </a:p>
        </p:txBody>
      </p:sp>
      <p:sp>
        <p:nvSpPr>
          <p:cNvPr id="4" name="Text 2"/>
          <p:cNvSpPr/>
          <p:nvPr/>
        </p:nvSpPr>
        <p:spPr>
          <a:xfrm>
            <a:off x="-109537" y="4763"/>
            <a:ext cx="3576638"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852</Words>
  <Application>Microsoft Office PowerPoint</Application>
  <PresentationFormat>On-screen Show (16:9)</PresentationFormat>
  <Paragraphs>120</Paragraphs>
  <Slides>9</Slides>
  <Notes>9</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Mohan Sarady</cp:lastModifiedBy>
  <cp:revision>16</cp:revision>
  <dcterms:created xsi:type="dcterms:W3CDTF">2026-03-30T17:33:26Z</dcterms:created>
  <dcterms:modified xsi:type="dcterms:W3CDTF">2026-09-23T08:00:25Z</dcterms:modified>
</cp:coreProperties>
</file>