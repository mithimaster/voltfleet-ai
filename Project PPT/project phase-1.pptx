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60" r:id="rId4"/>
    <p:sldId id="258" r:id="rId5"/>
    <p:sldId id="274" r:id="rId6"/>
    <p:sldId id="267" r:id="rId7"/>
    <p:sldId id="268" r:id="rId8"/>
    <p:sldId id="263" r:id="rId9"/>
    <p:sldId id="279" r:id="rId10"/>
    <p:sldId id="264" r:id="rId11"/>
    <p:sldId id="265" r:id="rId12"/>
    <p:sldId id="269" r:id="rId13"/>
    <p:sldId id="276"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504D"/>
    <a:srgbClr val="7A90A9"/>
    <a:srgbClr val="CA6F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70" autoAdjust="0"/>
    <p:restoredTop sz="94708"/>
  </p:normalViewPr>
  <p:slideViewPr>
    <p:cSldViewPr snapToGrid="0">
      <p:cViewPr varScale="1">
        <p:scale>
          <a:sx n="84" d="100"/>
          <a:sy n="84" d="100"/>
        </p:scale>
        <p:origin x="437"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431B67-EE15-4044-8F7C-2AE111FA2C68}" type="datetimeFigureOut">
              <a:rPr lang="en-IN" smtClean="0"/>
              <a:t>22-09-2026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4C9C7E-4208-4C7A-9B79-ED45239F6B24}" type="slidenum">
              <a:rPr lang="en-IN" smtClean="0"/>
              <a:t>‹#›</a:t>
            </a:fld>
            <a:endParaRPr lang="en-IN"/>
          </a:p>
        </p:txBody>
      </p:sp>
    </p:spTree>
    <p:extLst>
      <p:ext uri="{BB962C8B-B14F-4D97-AF65-F5344CB8AC3E}">
        <p14:creationId xmlns:p14="http://schemas.microsoft.com/office/powerpoint/2010/main" val="99308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4C9C7E-4208-4C7A-9B79-ED45239F6B24}" type="slidenum">
              <a:rPr lang="en-IN" smtClean="0"/>
              <a:t>5</a:t>
            </a:fld>
            <a:endParaRPr lang="en-IN"/>
          </a:p>
        </p:txBody>
      </p:sp>
    </p:spTree>
    <p:extLst>
      <p:ext uri="{BB962C8B-B14F-4D97-AF65-F5344CB8AC3E}">
        <p14:creationId xmlns:p14="http://schemas.microsoft.com/office/powerpoint/2010/main" val="2971448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fld id="{32637B58-87C1-446D-BDA9-B06F4BCF7782}" type="datetimeFigureOut">
              <a:rPr lang="en-US" smtClean="0"/>
              <a:t>9/22/2026</a:t>
            </a:fld>
            <a:endParaRPr lang="en-US"/>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26370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32637B58-87C1-446D-BDA9-B06F4BCF7782}" type="datetimeFigureOut">
              <a:rPr lang="en-US" smtClean="0"/>
              <a:t>9/22/2026</a:t>
            </a:fld>
            <a:endParaRPr lang="en-US"/>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a:p>
        </p:txBody>
      </p:sp>
    </p:spTree>
    <p:extLst>
      <p:ext uri="{BB962C8B-B14F-4D97-AF65-F5344CB8AC3E}">
        <p14:creationId xmlns:p14="http://schemas.microsoft.com/office/powerpoint/2010/main" val="34695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110016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21212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695568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52157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733828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977714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64736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20054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fld id="{32637B58-87C1-446D-BDA9-B06F4BCF7782}" type="datetimeFigureOut">
              <a:rPr lang="en-US" smtClean="0"/>
              <a:t>9/22/2026</a:t>
            </a:fld>
            <a:endParaRPr lang="en-US"/>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82586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32637B58-87C1-446D-BDA9-B06F4BCF7782}" type="datetimeFigureOut">
              <a:rPr lang="en-US" smtClean="0"/>
              <a:pPr/>
              <a:t>9/22/2026</a:t>
            </a:fld>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3377632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1ADFF-0EAB-3A53-A00B-D67F39773766}"/>
              </a:ext>
            </a:extLst>
          </p:cNvPr>
          <p:cNvSpPr>
            <a:spLocks noGrp="1"/>
          </p:cNvSpPr>
          <p:nvPr>
            <p:ph type="ctrTitle"/>
          </p:nvPr>
        </p:nvSpPr>
        <p:spPr>
          <a:xfrm>
            <a:off x="162134" y="2023220"/>
            <a:ext cx="11739716" cy="3017885"/>
          </a:xfrm>
        </p:spPr>
        <p:txBody>
          <a:bodyPr>
            <a:normAutofit/>
          </a:bodyPr>
          <a:lstStyle/>
          <a:p>
            <a:pPr algn="ctr"/>
            <a:br>
              <a:rPr lang="en-US" sz="3200" b="1" dirty="0">
                <a:latin typeface="Times New Roman" panose="02020603050405020304" pitchFamily="18" charset="0"/>
                <a:cs typeface="Times New Roman" panose="02020603050405020304" pitchFamily="18" charset="0"/>
              </a:rPr>
            </a:br>
            <a:br>
              <a:rPr lang="en-US" sz="3200" b="1" dirty="0">
                <a:latin typeface="Times New Roman" panose="02020603050405020304" pitchFamily="18" charset="0"/>
                <a:cs typeface="Times New Roman" panose="02020603050405020304" pitchFamily="18" charset="0"/>
              </a:rPr>
            </a:br>
            <a:r>
              <a:rPr lang="en-IN" sz="3200" dirty="0"/>
              <a:t>Adaptive Multi-Dimensional Trust-Based Federated Learning Framework for Explainable IoT Intrusion Detection</a:t>
            </a: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58766BA-B000-C9BA-B47A-7AC0640BEE96}"/>
              </a:ext>
            </a:extLst>
          </p:cNvPr>
          <p:cNvSpPr>
            <a:spLocks noGrp="1"/>
          </p:cNvSpPr>
          <p:nvPr>
            <p:ph type="subTitle" idx="1"/>
          </p:nvPr>
        </p:nvSpPr>
        <p:spPr>
          <a:xfrm>
            <a:off x="725783" y="4645356"/>
            <a:ext cx="3663337" cy="1998839"/>
          </a:xfrm>
        </p:spPr>
        <p:txBody>
          <a:bodyPr>
            <a:normAutofit/>
          </a:bodyPr>
          <a:lstStyle/>
          <a:p>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project guide</a:t>
            </a:r>
          </a:p>
          <a:p>
            <a:r>
              <a:rPr lang="en-IN" dirty="0">
                <a:solidFill>
                  <a:srgbClr val="002060"/>
                </a:solidFill>
                <a:cs typeface="Times New Roman" panose="02020603050405020304" pitchFamily="18" charset="0"/>
              </a:rPr>
              <a:t>Dr.n.pazhaniraja</a:t>
            </a:r>
          </a:p>
          <a:p>
            <a:r>
              <a:rPr lang="en-IN" dirty="0">
                <a:solidFill>
                  <a:srgbClr val="002060"/>
                </a:solidFill>
                <a:cs typeface="Times New Roman" panose="02020603050405020304" pitchFamily="18" charset="0"/>
              </a:rPr>
              <a:t>Associate professor</a:t>
            </a:r>
          </a:p>
          <a:p>
            <a:r>
              <a:rPr lang="en-IN" dirty="0">
                <a:solidFill>
                  <a:srgbClr val="002060"/>
                </a:solidFill>
                <a:cs typeface="Times New Roman" panose="02020603050405020304" pitchFamily="18" charset="0"/>
              </a:rPr>
              <a:t>Department of cse</a:t>
            </a:r>
          </a:p>
        </p:txBody>
      </p:sp>
      <p:pic>
        <p:nvPicPr>
          <p:cNvPr id="5" name="Picture 4">
            <a:extLst>
              <a:ext uri="{FF2B5EF4-FFF2-40B4-BE49-F238E27FC236}">
                <a16:creationId xmlns:a16="http://schemas.microsoft.com/office/drawing/2014/main" id="{18539349-6203-C452-195C-8EF454B0E7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759" y="306985"/>
            <a:ext cx="8830849" cy="1420125"/>
          </a:xfrm>
          <a:prstGeom prst="rect">
            <a:avLst/>
          </a:prstGeom>
        </p:spPr>
      </p:pic>
      <p:sp>
        <p:nvSpPr>
          <p:cNvPr id="6" name="TextBox 5">
            <a:extLst>
              <a:ext uri="{FF2B5EF4-FFF2-40B4-BE49-F238E27FC236}">
                <a16:creationId xmlns:a16="http://schemas.microsoft.com/office/drawing/2014/main" id="{B481FD26-DCB6-3167-A2E0-E9B86BA11760}"/>
              </a:ext>
            </a:extLst>
          </p:cNvPr>
          <p:cNvSpPr txBox="1"/>
          <p:nvPr/>
        </p:nvSpPr>
        <p:spPr>
          <a:xfrm>
            <a:off x="1680576" y="1921466"/>
            <a:ext cx="8830848" cy="1077218"/>
          </a:xfrm>
          <a:prstGeom prst="rect">
            <a:avLst/>
          </a:prstGeom>
          <a:noFill/>
        </p:spPr>
        <p:txBody>
          <a:bodyPr wrap="square">
            <a:spAutoFit/>
          </a:bodyPr>
          <a:lstStyle/>
          <a:p>
            <a:pPr algn="ctr"/>
            <a:r>
              <a:rPr lang="en-IN" sz="3200" dirty="0">
                <a:latin typeface="Times New Roman" panose="02020603050405020304" pitchFamily="18" charset="0"/>
                <a:cs typeface="Times New Roman" panose="02020603050405020304" pitchFamily="18" charset="0"/>
              </a:rPr>
              <a:t>Department of Computer Science and Engineering</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Project Phase – I Review </a:t>
            </a:r>
            <a:endParaRPr lang="en-IN" sz="3200" dirty="0"/>
          </a:p>
        </p:txBody>
      </p:sp>
      <p:sp>
        <p:nvSpPr>
          <p:cNvPr id="4" name="TextBox 3">
            <a:extLst>
              <a:ext uri="{FF2B5EF4-FFF2-40B4-BE49-F238E27FC236}">
                <a16:creationId xmlns:a16="http://schemas.microsoft.com/office/drawing/2014/main" id="{9691DB38-F041-321A-F54D-95949C27C605}"/>
              </a:ext>
            </a:extLst>
          </p:cNvPr>
          <p:cNvSpPr txBox="1"/>
          <p:nvPr/>
        </p:nvSpPr>
        <p:spPr>
          <a:xfrm>
            <a:off x="6837204" y="4645356"/>
            <a:ext cx="4345908" cy="1969770"/>
          </a:xfrm>
          <a:prstGeom prst="rect">
            <a:avLst/>
          </a:prstGeom>
          <a:noFill/>
        </p:spPr>
        <p:txBody>
          <a:bodyPr wrap="square" rtlCol="0">
            <a:spAutoFit/>
          </a:bodyPr>
          <a:lstStyle/>
          <a:p>
            <a:pPr algn="ct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TEAM MEMBERS(CSE III-A)</a:t>
            </a:r>
          </a:p>
          <a:p>
            <a:pPr algn="ctr"/>
            <a:r>
              <a:rPr lang="en-US" sz="2100" b="1" dirty="0">
                <a:solidFill>
                  <a:srgbClr val="002060"/>
                </a:solidFill>
                <a:latin typeface="Times New Roman" panose="02020603050405020304" pitchFamily="18" charset="0"/>
                <a:cs typeface="Times New Roman" panose="02020603050405020304" pitchFamily="18" charset="0"/>
              </a:rPr>
              <a:t>Thirumurugan T(23UCS160)</a:t>
            </a:r>
          </a:p>
          <a:p>
            <a:pPr algn="ctr"/>
            <a:r>
              <a:rPr lang="en-US" sz="2100" b="1" dirty="0">
                <a:solidFill>
                  <a:srgbClr val="002060"/>
                </a:solidFill>
                <a:latin typeface="Times New Roman" panose="02020603050405020304" pitchFamily="18" charset="0"/>
                <a:cs typeface="Times New Roman" panose="02020603050405020304" pitchFamily="18" charset="0"/>
              </a:rPr>
              <a:t>Jerald Sanjay A(23UCS073)</a:t>
            </a:r>
          </a:p>
          <a:p>
            <a:pPr algn="ctr"/>
            <a:r>
              <a:rPr lang="en-US" sz="2100" b="1" dirty="0">
                <a:solidFill>
                  <a:srgbClr val="002060"/>
                </a:solidFill>
                <a:latin typeface="Times New Roman" panose="02020603050405020304" pitchFamily="18" charset="0"/>
                <a:cs typeface="Times New Roman" panose="02020603050405020304" pitchFamily="18" charset="0"/>
              </a:rPr>
              <a:t>Pradipkumar S(23UCS118)</a:t>
            </a:r>
          </a:p>
          <a:p>
            <a:pPr algn="ctr"/>
            <a:r>
              <a:rPr lang="en-US" sz="2100" b="1" dirty="0">
                <a:solidFill>
                  <a:srgbClr val="002060"/>
                </a:solidFill>
                <a:latin typeface="Times New Roman" panose="02020603050405020304" pitchFamily="18" charset="0"/>
                <a:cs typeface="Times New Roman" panose="02020603050405020304" pitchFamily="18" charset="0"/>
              </a:rPr>
              <a:t>T Prince Kevin(23UCS161)</a:t>
            </a:r>
          </a:p>
          <a:p>
            <a:endParaRPr lang="en-IN" dirty="0"/>
          </a:p>
        </p:txBody>
      </p:sp>
    </p:spTree>
    <p:extLst>
      <p:ext uri="{BB962C8B-B14F-4D97-AF65-F5344CB8AC3E}">
        <p14:creationId xmlns:p14="http://schemas.microsoft.com/office/powerpoint/2010/main" val="3669673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B7E33-E4FA-D9BA-A54A-FE31DD467031}"/>
              </a:ext>
            </a:extLst>
          </p:cNvPr>
          <p:cNvSpPr>
            <a:spLocks noGrp="1"/>
          </p:cNvSpPr>
          <p:nvPr>
            <p:ph type="title"/>
          </p:nvPr>
        </p:nvSpPr>
        <p:spPr>
          <a:xfrm>
            <a:off x="822960" y="243196"/>
            <a:ext cx="9914859" cy="1329004"/>
          </a:xfrm>
        </p:spPr>
        <p:txBody>
          <a:bodyPr/>
          <a:lstStyle/>
          <a:p>
            <a:pPr algn="ctr"/>
            <a:r>
              <a:rPr lang="en-IN" b="1" dirty="0">
                <a:solidFill>
                  <a:srgbClr val="C0504D"/>
                </a:solidFill>
              </a:rPr>
              <a:t>AGENDA</a:t>
            </a:r>
            <a:endParaRPr lang="en-IN" dirty="0">
              <a:solidFill>
                <a:srgbClr val="C0504D"/>
              </a:solidFill>
            </a:endParaRPr>
          </a:p>
        </p:txBody>
      </p:sp>
      <p:sp>
        <p:nvSpPr>
          <p:cNvPr id="3" name="Content Placeholder 2">
            <a:extLst>
              <a:ext uri="{FF2B5EF4-FFF2-40B4-BE49-F238E27FC236}">
                <a16:creationId xmlns:a16="http://schemas.microsoft.com/office/drawing/2014/main" id="{4F6D452B-ECCE-79C2-0727-08BE44FAA871}"/>
              </a:ext>
            </a:extLst>
          </p:cNvPr>
          <p:cNvSpPr>
            <a:spLocks noGrp="1"/>
          </p:cNvSpPr>
          <p:nvPr>
            <p:ph idx="1"/>
          </p:nvPr>
        </p:nvSpPr>
        <p:spPr/>
        <p:txBody>
          <a:bodyPr>
            <a:normAutofit lnSpcReduction="10000"/>
          </a:bodyPr>
          <a:lstStyle/>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ABSTRACT</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OBJECTIVES</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INTRODUCTION</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LITERATURE SURVEY</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EXISTING SYSTEM</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PROPOSED SYSTEM</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SYSTEM ARCHITECTURE</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MODULES</a:t>
            </a:r>
          </a:p>
          <a:p>
            <a:pPr>
              <a:buClr>
                <a:srgbClr val="C0504D"/>
              </a:buCl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 REFERENCES</a:t>
            </a:r>
          </a:p>
        </p:txBody>
      </p:sp>
    </p:spTree>
    <p:extLst>
      <p:ext uri="{BB962C8B-B14F-4D97-AF65-F5344CB8AC3E}">
        <p14:creationId xmlns:p14="http://schemas.microsoft.com/office/powerpoint/2010/main" val="3952154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1532D-AEBC-3B1A-CB22-B76E9CB6CBFE}"/>
              </a:ext>
            </a:extLst>
          </p:cNvPr>
          <p:cNvSpPr>
            <a:spLocks noGrp="1"/>
          </p:cNvSpPr>
          <p:nvPr>
            <p:ph type="title"/>
          </p:nvPr>
        </p:nvSpPr>
        <p:spPr>
          <a:xfrm>
            <a:off x="977024" y="235231"/>
            <a:ext cx="9914859" cy="835009"/>
          </a:xfrm>
        </p:spPr>
        <p:txBody>
          <a:bodyPr/>
          <a:lstStyle/>
          <a:p>
            <a:pPr algn="ctr"/>
            <a:r>
              <a:rPr lang="en-IN" dirty="0"/>
              <a:t>ABSTRACT</a:t>
            </a:r>
          </a:p>
        </p:txBody>
      </p:sp>
      <p:sp>
        <p:nvSpPr>
          <p:cNvPr id="4" name="Rectangle 1">
            <a:extLst>
              <a:ext uri="{FF2B5EF4-FFF2-40B4-BE49-F238E27FC236}">
                <a16:creationId xmlns:a16="http://schemas.microsoft.com/office/drawing/2014/main" id="{A5B8DFD5-9B6D-DF96-B92D-5FEC66D0D60A}"/>
              </a:ext>
            </a:extLst>
          </p:cNvPr>
          <p:cNvSpPr>
            <a:spLocks noGrp="1" noChangeArrowheads="1"/>
          </p:cNvSpPr>
          <p:nvPr>
            <p:ph idx="1"/>
          </p:nvPr>
        </p:nvSpPr>
        <p:spPr bwMode="auto">
          <a:xfrm>
            <a:off x="750259" y="1402110"/>
            <a:ext cx="10368391" cy="4932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ts val="70"/>
              </a:spcBef>
              <a:spcAft>
                <a:spcPct val="0"/>
              </a:spcAft>
              <a:buClr>
                <a:schemeClr val="tx1">
                  <a:lumMod val="95000"/>
                  <a:lumOff val="5000"/>
                </a:schemeClr>
              </a:buClr>
              <a:buNone/>
            </a:pPr>
            <a:r>
              <a:rPr lang="en-IN" sz="2200" dirty="0">
                <a:solidFill>
                  <a:schemeClr val="tx1"/>
                </a:solidFill>
                <a:latin typeface="Times New Roman" panose="02020603050405020304" pitchFamily="18" charset="0"/>
                <a:cs typeface="Times New Roman" panose="02020603050405020304" pitchFamily="18" charset="0"/>
              </a:rPr>
              <a:t>The increasing number of IoT devices has created significant security and privacy challenges for intrusion detection systems. Traditional centralized IDS approaches require network data to be transferred to a central server, which may expose sensitive information. Federated Learning enables collaborative intrusion detection by allowing clients to train models locally without sharing raw data. However, unreliable or compromised clients may submit abnormal or malicious model updates, and unreliable causal information may affect the trustworthiness of explanations. This project proposes an </a:t>
            </a:r>
            <a:r>
              <a:rPr lang="en-IN" sz="2200" b="1" dirty="0">
                <a:solidFill>
                  <a:schemeClr val="tx1"/>
                </a:solidFill>
                <a:latin typeface="Times New Roman" panose="02020603050405020304" pitchFamily="18" charset="0"/>
                <a:cs typeface="Times New Roman" panose="02020603050405020304" pitchFamily="18" charset="0"/>
              </a:rPr>
              <a:t>Adaptive Multi-Dimensional Trust-Based Federated Learning Framework</a:t>
            </a:r>
            <a:r>
              <a:rPr lang="en-IN" sz="2200" dirty="0">
                <a:solidFill>
                  <a:schemeClr val="tx1"/>
                </a:solidFill>
                <a:latin typeface="Times New Roman" panose="02020603050405020304" pitchFamily="18" charset="0"/>
                <a:cs typeface="Times New Roman" panose="02020603050405020304" pitchFamily="18" charset="0"/>
              </a:rPr>
              <a:t> that evaluates client contributions using multiple trust parameters including gradient consistency, majority similarity, historical reliability, anomaly score, causal reliability, and </a:t>
            </a:r>
            <a:r>
              <a:rPr lang="en-IN" sz="2200" dirty="0" err="1">
                <a:solidFill>
                  <a:schemeClr val="tx1"/>
                </a:solidFill>
                <a:latin typeface="Times New Roman" panose="02020603050405020304" pitchFamily="18" charset="0"/>
                <a:cs typeface="Times New Roman" panose="02020603050405020304" pitchFamily="18" charset="0"/>
              </a:rPr>
              <a:t>behavioral</a:t>
            </a:r>
            <a:r>
              <a:rPr lang="en-IN" sz="2200" dirty="0">
                <a:solidFill>
                  <a:schemeClr val="tx1"/>
                </a:solidFill>
                <a:latin typeface="Times New Roman" panose="02020603050405020304" pitchFamily="18" charset="0"/>
                <a:cs typeface="Times New Roman" panose="02020603050405020304" pitchFamily="18" charset="0"/>
              </a:rPr>
              <a:t> stability. Trust information is used for both model aggregation and causal-summary aggregation, producing a more robust global IDS model and reliable global causal explanations.</a:t>
            </a:r>
            <a:endParaRPr lang="en-US" altLang="en-US"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917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25368-5C42-55FC-E4EE-7A3ADC707BF3}"/>
              </a:ext>
            </a:extLst>
          </p:cNvPr>
          <p:cNvSpPr>
            <a:spLocks noGrp="1"/>
          </p:cNvSpPr>
          <p:nvPr>
            <p:ph type="title"/>
          </p:nvPr>
        </p:nvSpPr>
        <p:spPr>
          <a:xfrm>
            <a:off x="2524886" y="159467"/>
            <a:ext cx="7142228" cy="1760773"/>
          </a:xfrm>
        </p:spPr>
        <p:txBody>
          <a:bodyPr>
            <a:normAutofit/>
          </a:bodyPr>
          <a:lstStyle/>
          <a:p>
            <a:pPr algn="ctr"/>
            <a:r>
              <a:rPr lang="en-IN" dirty="0"/>
              <a:t>INTRODUCTION</a:t>
            </a:r>
            <a:br>
              <a:rPr lang="en-IN" dirty="0"/>
            </a:br>
            <a:endParaRPr lang="en-IN" dirty="0"/>
          </a:p>
        </p:txBody>
      </p:sp>
      <p:sp>
        <p:nvSpPr>
          <p:cNvPr id="3" name="Content Placeholder 2">
            <a:extLst>
              <a:ext uri="{FF2B5EF4-FFF2-40B4-BE49-F238E27FC236}">
                <a16:creationId xmlns:a16="http://schemas.microsoft.com/office/drawing/2014/main" id="{CD116125-D8A9-9AD1-07B8-0381404A5A37}"/>
              </a:ext>
            </a:extLst>
          </p:cNvPr>
          <p:cNvSpPr>
            <a:spLocks noGrp="1"/>
          </p:cNvSpPr>
          <p:nvPr>
            <p:ph idx="1"/>
          </p:nvPr>
        </p:nvSpPr>
        <p:spPr>
          <a:xfrm>
            <a:off x="820464" y="1174451"/>
            <a:ext cx="10551071" cy="5244637"/>
          </a:xfrm>
        </p:spPr>
        <p:txBody>
          <a:bodyPr>
            <a:noAutofit/>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Cyber Security</a:t>
            </a:r>
          </a:p>
          <a:p>
            <a:pPr lvl="0"/>
            <a:r>
              <a:rPr lang="en-IN" dirty="0">
                <a:solidFill>
                  <a:schemeClr val="tx1"/>
                </a:solidFill>
                <a:latin typeface="Times New Roman" panose="02020603050405020304" pitchFamily="18" charset="0"/>
                <a:cs typeface="Times New Roman" panose="02020603050405020304" pitchFamily="18" charset="0"/>
              </a:rPr>
              <a:t>Cyber Security protects computer networks, devices, applications, and data from unauthorized access and cyber attacks. </a:t>
            </a:r>
          </a:p>
          <a:p>
            <a:pPr lvl="0"/>
            <a:r>
              <a:rPr lang="en-IN" dirty="0">
                <a:solidFill>
                  <a:schemeClr val="tx1"/>
                </a:solidFill>
                <a:latin typeface="Times New Roman" panose="02020603050405020304" pitchFamily="18" charset="0"/>
                <a:cs typeface="Times New Roman" panose="02020603050405020304" pitchFamily="18" charset="0"/>
              </a:rPr>
              <a:t>IoT environments increase security challenges because of their large number of connected and distributed devices. </a:t>
            </a:r>
          </a:p>
          <a:p>
            <a:pPr lvl="0"/>
            <a:r>
              <a:rPr lang="en-IN" dirty="0">
                <a:solidFill>
                  <a:schemeClr val="tx1"/>
                </a:solidFill>
                <a:latin typeface="Times New Roman" panose="02020603050405020304" pitchFamily="18" charset="0"/>
                <a:cs typeface="Times New Roman" panose="02020603050405020304" pitchFamily="18" charset="0"/>
              </a:rPr>
              <a:t>Intrusion Detection Systems monitor network traffic to identify suspicious or malicious activities. </a:t>
            </a:r>
          </a:p>
          <a:p>
            <a:pPr marL="0" indent="0">
              <a:buNone/>
            </a:pPr>
            <a:r>
              <a:rPr lang="en-IN" b="1" dirty="0">
                <a:solidFill>
                  <a:schemeClr val="tx1"/>
                </a:solidFill>
                <a:latin typeface="Times New Roman" panose="02020603050405020304" pitchFamily="18" charset="0"/>
                <a:cs typeface="Times New Roman" panose="02020603050405020304" pitchFamily="18" charset="0"/>
              </a:rPr>
              <a:t>IoT Intrusion Detection</a:t>
            </a:r>
          </a:p>
          <a:p>
            <a:pPr lvl="0"/>
            <a:r>
              <a:rPr lang="en-IN" dirty="0">
                <a:solidFill>
                  <a:schemeClr val="tx1"/>
                </a:solidFill>
                <a:latin typeface="Times New Roman" panose="02020603050405020304" pitchFamily="18" charset="0"/>
                <a:cs typeface="Times New Roman" panose="02020603050405020304" pitchFamily="18" charset="0"/>
              </a:rPr>
              <a:t>IoT networks generate large volumes of heterogeneous network traffic. </a:t>
            </a:r>
          </a:p>
          <a:p>
            <a:pPr lvl="0"/>
            <a:r>
              <a:rPr lang="en-IN" dirty="0">
                <a:solidFill>
                  <a:schemeClr val="tx1"/>
                </a:solidFill>
                <a:latin typeface="Times New Roman" panose="02020603050405020304" pitchFamily="18" charset="0"/>
                <a:cs typeface="Times New Roman" panose="02020603050405020304" pitchFamily="18" charset="0"/>
              </a:rPr>
              <a:t>Attacks such as </a:t>
            </a:r>
            <a:r>
              <a:rPr lang="en-IN" b="1" dirty="0">
                <a:solidFill>
                  <a:schemeClr val="tx1"/>
                </a:solidFill>
                <a:latin typeface="Times New Roman" panose="02020603050405020304" pitchFamily="18" charset="0"/>
                <a:cs typeface="Times New Roman" panose="02020603050405020304" pitchFamily="18" charset="0"/>
              </a:rPr>
              <a:t>DoS, probing, botnets, and unauthorized access</a:t>
            </a:r>
            <a:r>
              <a:rPr lang="en-IN" dirty="0">
                <a:solidFill>
                  <a:schemeClr val="tx1"/>
                </a:solidFill>
                <a:latin typeface="Times New Roman" panose="02020603050405020304" pitchFamily="18" charset="0"/>
                <a:cs typeface="Times New Roman" panose="02020603050405020304" pitchFamily="18" charset="0"/>
              </a:rPr>
              <a:t> can compromise IoT environments. </a:t>
            </a:r>
          </a:p>
          <a:p>
            <a:pPr lvl="0"/>
            <a:r>
              <a:rPr lang="en-IN" dirty="0">
                <a:solidFill>
                  <a:schemeClr val="tx1"/>
                </a:solidFill>
                <a:latin typeface="Times New Roman" panose="02020603050405020304" pitchFamily="18" charset="0"/>
                <a:cs typeface="Times New Roman" panose="02020603050405020304" pitchFamily="18" charset="0"/>
              </a:rPr>
              <a:t>Machine learning can be used to identify abnormal network </a:t>
            </a:r>
            <a:r>
              <a:rPr lang="en-IN" dirty="0" err="1">
                <a:solidFill>
                  <a:schemeClr val="tx1"/>
                </a:solidFill>
                <a:latin typeface="Times New Roman" panose="02020603050405020304" pitchFamily="18" charset="0"/>
                <a:cs typeface="Times New Roman" panose="02020603050405020304" pitchFamily="18" charset="0"/>
              </a:rPr>
              <a:t>behavior</a:t>
            </a:r>
            <a:r>
              <a:rPr lang="en-IN"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88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B01B9-7611-3583-A0DD-F611E0C7E84D}"/>
              </a:ext>
            </a:extLst>
          </p:cNvPr>
          <p:cNvSpPr>
            <a:spLocks noGrp="1"/>
          </p:cNvSpPr>
          <p:nvPr>
            <p:ph type="title"/>
          </p:nvPr>
        </p:nvSpPr>
        <p:spPr>
          <a:xfrm>
            <a:off x="1138570" y="279772"/>
            <a:ext cx="9914859" cy="1329004"/>
          </a:xfrm>
        </p:spPr>
        <p:txBody>
          <a:bodyPr/>
          <a:lstStyle/>
          <a:p>
            <a:pPr algn="ctr"/>
            <a:r>
              <a:rPr lang="en-IN" dirty="0"/>
              <a:t>INTRODUCTION</a:t>
            </a:r>
            <a:br>
              <a:rPr lang="en-IN" dirty="0"/>
            </a:br>
            <a:endParaRPr lang="en-IN" dirty="0"/>
          </a:p>
        </p:txBody>
      </p:sp>
      <p:sp>
        <p:nvSpPr>
          <p:cNvPr id="3" name="Content Placeholder 2">
            <a:extLst>
              <a:ext uri="{FF2B5EF4-FFF2-40B4-BE49-F238E27FC236}">
                <a16:creationId xmlns:a16="http://schemas.microsoft.com/office/drawing/2014/main" id="{4D5CA208-9A1A-FA19-D63A-776697D2842D}"/>
              </a:ext>
            </a:extLst>
          </p:cNvPr>
          <p:cNvSpPr>
            <a:spLocks noGrp="1"/>
          </p:cNvSpPr>
          <p:nvPr>
            <p:ph idx="1"/>
          </p:nvPr>
        </p:nvSpPr>
        <p:spPr>
          <a:xfrm>
            <a:off x="769620" y="1398464"/>
            <a:ext cx="10652760" cy="5011479"/>
          </a:xfrm>
        </p:spPr>
        <p:txBody>
          <a:bodyPr>
            <a:noAutofit/>
          </a:bodyPr>
          <a:lstStyle/>
          <a:p>
            <a:pPr marL="0" indent="0">
              <a:buNone/>
            </a:pPr>
            <a:r>
              <a:rPr lang="en-IN" sz="1900" b="1" dirty="0">
                <a:solidFill>
                  <a:schemeClr val="tx1"/>
                </a:solidFill>
                <a:latin typeface="Times New Roman" panose="02020603050405020304" pitchFamily="18" charset="0"/>
                <a:cs typeface="Times New Roman" panose="02020603050405020304" pitchFamily="18" charset="0"/>
              </a:rPr>
              <a:t>Federated Learning</a:t>
            </a:r>
          </a:p>
          <a:p>
            <a:pPr lvl="0"/>
            <a:r>
              <a:rPr lang="en-IN" sz="1900" dirty="0">
                <a:solidFill>
                  <a:schemeClr val="tx1"/>
                </a:solidFill>
                <a:latin typeface="Times New Roman" panose="02020603050405020304" pitchFamily="18" charset="0"/>
                <a:cs typeface="Times New Roman" panose="02020603050405020304" pitchFamily="18" charset="0"/>
              </a:rPr>
              <a:t>Federated Learning enables multiple clients to collaboratively train a machine learning model. </a:t>
            </a:r>
          </a:p>
          <a:p>
            <a:pPr lvl="0"/>
            <a:r>
              <a:rPr lang="en-IN" sz="1900" dirty="0">
                <a:solidFill>
                  <a:schemeClr val="tx1"/>
                </a:solidFill>
                <a:latin typeface="Times New Roman" panose="02020603050405020304" pitchFamily="18" charset="0"/>
                <a:cs typeface="Times New Roman" panose="02020603050405020304" pitchFamily="18" charset="0"/>
              </a:rPr>
              <a:t>Clients keep their </a:t>
            </a:r>
            <a:r>
              <a:rPr lang="en-IN" sz="1900" b="1" dirty="0">
                <a:solidFill>
                  <a:schemeClr val="tx1"/>
                </a:solidFill>
                <a:latin typeface="Times New Roman" panose="02020603050405020304" pitchFamily="18" charset="0"/>
                <a:cs typeface="Times New Roman" panose="02020603050405020304" pitchFamily="18" charset="0"/>
              </a:rPr>
              <a:t>raw network data locally</a:t>
            </a:r>
            <a:r>
              <a:rPr lang="en-IN" sz="1900" dirty="0">
                <a:solidFill>
                  <a:schemeClr val="tx1"/>
                </a:solidFill>
                <a:latin typeface="Times New Roman" panose="02020603050405020304" pitchFamily="18" charset="0"/>
                <a:cs typeface="Times New Roman" panose="02020603050405020304" pitchFamily="18" charset="0"/>
              </a:rPr>
              <a:t> and share model updates instead. </a:t>
            </a:r>
          </a:p>
          <a:p>
            <a:pPr lvl="0"/>
            <a:r>
              <a:rPr lang="en-IN" sz="1900" dirty="0">
                <a:solidFill>
                  <a:schemeClr val="tx1"/>
                </a:solidFill>
                <a:latin typeface="Times New Roman" panose="02020603050405020304" pitchFamily="18" charset="0"/>
                <a:cs typeface="Times New Roman" panose="02020603050405020304" pitchFamily="18" charset="0"/>
              </a:rPr>
              <a:t>A central server aggregates client contributions to build a global model. </a:t>
            </a:r>
          </a:p>
          <a:p>
            <a:pPr marL="0" indent="0">
              <a:buNone/>
            </a:pPr>
            <a:r>
              <a:rPr lang="en-IN" sz="1900" b="1" dirty="0">
                <a:solidFill>
                  <a:schemeClr val="tx1"/>
                </a:solidFill>
                <a:latin typeface="Times New Roman" panose="02020603050405020304" pitchFamily="18" charset="0"/>
                <a:cs typeface="Times New Roman" panose="02020603050405020304" pitchFamily="18" charset="0"/>
              </a:rPr>
              <a:t>Explainable AI</a:t>
            </a:r>
          </a:p>
          <a:p>
            <a:pPr lvl="0"/>
            <a:r>
              <a:rPr lang="en-IN" sz="1900" dirty="0">
                <a:solidFill>
                  <a:schemeClr val="tx1"/>
                </a:solidFill>
                <a:latin typeface="Times New Roman" panose="02020603050405020304" pitchFamily="18" charset="0"/>
                <a:cs typeface="Times New Roman" panose="02020603050405020304" pitchFamily="18" charset="0"/>
              </a:rPr>
              <a:t>Traditional machine learning IDS models may provide predictions without clearly explaining them. </a:t>
            </a:r>
          </a:p>
          <a:p>
            <a:pPr lvl="0"/>
            <a:r>
              <a:rPr lang="en-IN" sz="1900" dirty="0">
                <a:solidFill>
                  <a:schemeClr val="tx1"/>
                </a:solidFill>
                <a:latin typeface="Times New Roman" panose="02020603050405020304" pitchFamily="18" charset="0"/>
                <a:cs typeface="Times New Roman" panose="02020603050405020304" pitchFamily="18" charset="0"/>
              </a:rPr>
              <a:t>Causal reasoning can identify important relationships between network features and intrusion outcomes. </a:t>
            </a:r>
          </a:p>
          <a:p>
            <a:pPr lvl="0"/>
            <a:r>
              <a:rPr lang="en-IN" sz="1900" dirty="0">
                <a:solidFill>
                  <a:schemeClr val="tx1"/>
                </a:solidFill>
                <a:latin typeface="Times New Roman" panose="02020603050405020304" pitchFamily="18" charset="0"/>
                <a:cs typeface="Times New Roman" panose="02020603050405020304" pitchFamily="18" charset="0"/>
              </a:rPr>
              <a:t>A </a:t>
            </a:r>
            <a:r>
              <a:rPr lang="en-IN" sz="1900" b="1" dirty="0">
                <a:solidFill>
                  <a:schemeClr val="tx1"/>
                </a:solidFill>
                <a:latin typeface="Times New Roman" panose="02020603050405020304" pitchFamily="18" charset="0"/>
                <a:cs typeface="Times New Roman" panose="02020603050405020304" pitchFamily="18" charset="0"/>
              </a:rPr>
              <a:t>global causal graph</a:t>
            </a:r>
            <a:r>
              <a:rPr lang="en-IN" sz="1900" dirty="0">
                <a:solidFill>
                  <a:schemeClr val="tx1"/>
                </a:solidFill>
                <a:latin typeface="Times New Roman" panose="02020603050405020304" pitchFamily="18" charset="0"/>
                <a:cs typeface="Times New Roman" panose="02020603050405020304" pitchFamily="18" charset="0"/>
              </a:rPr>
              <a:t> can provide interpretable information about intrusion predictions. </a:t>
            </a:r>
          </a:p>
          <a:p>
            <a:pPr marL="0" indent="0">
              <a:buNone/>
            </a:pPr>
            <a:r>
              <a:rPr lang="en-IN" sz="1900" b="1" dirty="0">
                <a:solidFill>
                  <a:schemeClr val="tx1"/>
                </a:solidFill>
                <a:latin typeface="Times New Roman" panose="02020603050405020304" pitchFamily="18" charset="0"/>
                <a:cs typeface="Times New Roman" panose="02020603050405020304" pitchFamily="18" charset="0"/>
              </a:rPr>
              <a:t>Our Project Aim</a:t>
            </a:r>
          </a:p>
          <a:p>
            <a:r>
              <a:rPr lang="en-IN" sz="1900" dirty="0">
                <a:solidFill>
                  <a:schemeClr val="tx1"/>
                </a:solidFill>
                <a:latin typeface="Times New Roman" panose="02020603050405020304" pitchFamily="18" charset="0"/>
                <a:cs typeface="Times New Roman" panose="02020603050405020304" pitchFamily="18" charset="0"/>
              </a:rPr>
              <a:t>To create a secure Global Explainable IDS for the IoT systems .</a:t>
            </a:r>
          </a:p>
        </p:txBody>
      </p:sp>
    </p:spTree>
    <p:extLst>
      <p:ext uri="{BB962C8B-B14F-4D97-AF65-F5344CB8AC3E}">
        <p14:creationId xmlns:p14="http://schemas.microsoft.com/office/powerpoint/2010/main" val="1102529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9354E-F99E-DBDC-ED73-7B5170A7D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2F8F0-5839-4E56-4CDF-37427267BF33}"/>
              </a:ext>
            </a:extLst>
          </p:cNvPr>
          <p:cNvSpPr>
            <a:spLocks noGrp="1"/>
          </p:cNvSpPr>
          <p:nvPr>
            <p:ph type="title"/>
          </p:nvPr>
        </p:nvSpPr>
        <p:spPr>
          <a:xfrm>
            <a:off x="1138569" y="405465"/>
            <a:ext cx="9914859" cy="835009"/>
          </a:xfrm>
        </p:spPr>
        <p:txBody>
          <a:bodyPr/>
          <a:lstStyle/>
          <a:p>
            <a:pPr algn="ctr"/>
            <a:r>
              <a:rPr lang="en-IN" dirty="0"/>
              <a:t>OBJECTIVES</a:t>
            </a:r>
          </a:p>
        </p:txBody>
      </p:sp>
      <p:sp>
        <p:nvSpPr>
          <p:cNvPr id="5" name="Rectangle 2">
            <a:extLst>
              <a:ext uri="{FF2B5EF4-FFF2-40B4-BE49-F238E27FC236}">
                <a16:creationId xmlns:a16="http://schemas.microsoft.com/office/drawing/2014/main" id="{D0A6F1FB-EF3F-1958-6C05-171FAC061AEE}"/>
              </a:ext>
            </a:extLst>
          </p:cNvPr>
          <p:cNvSpPr>
            <a:spLocks noGrp="1" noChangeArrowheads="1"/>
          </p:cNvSpPr>
          <p:nvPr>
            <p:ph idx="1"/>
          </p:nvPr>
        </p:nvSpPr>
        <p:spPr bwMode="auto">
          <a:xfrm>
            <a:off x="992265" y="1087764"/>
            <a:ext cx="9914858" cy="535172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a:spcBef>
                <a:spcPts val="120"/>
              </a:spcBef>
              <a:buClr>
                <a:schemeClr val="tx1">
                  <a:lumMod val="95000"/>
                  <a:lumOff val="5000"/>
                </a:schemeClr>
              </a:buClr>
              <a:buFont typeface="Wingdings" panose="05000000000000000000" pitchFamily="2" charset="2"/>
              <a:buChar char="§"/>
            </a:pPr>
            <a:endParaRPr lang="en-IN" sz="2200" dirty="0">
              <a:solidFill>
                <a:schemeClr val="tx1"/>
              </a:solidFill>
              <a:latin typeface="Times New Roman" panose="02020603050405020304" pitchFamily="18" charset="0"/>
              <a:cs typeface="Times New Roman" panose="02020603050405020304" pitchFamily="18" charset="0"/>
            </a:endParaRPr>
          </a:p>
          <a:p>
            <a:pPr lvl="0"/>
            <a:r>
              <a:rPr lang="en-IN" sz="2400" dirty="0">
                <a:solidFill>
                  <a:schemeClr val="tx1"/>
                </a:solidFill>
                <a:latin typeface="Times New Roman" panose="02020603050405020304" pitchFamily="18" charset="0"/>
                <a:cs typeface="Times New Roman" panose="02020603050405020304" pitchFamily="18" charset="0"/>
              </a:rPr>
              <a:t>To develop a privacy-preserving federated learning framework for IoT intrusion detection. </a:t>
            </a:r>
          </a:p>
          <a:p>
            <a:pPr lvl="0"/>
            <a:r>
              <a:rPr lang="en-IN" sz="2400" dirty="0">
                <a:solidFill>
                  <a:schemeClr val="tx1"/>
                </a:solidFill>
                <a:latin typeface="Times New Roman" panose="02020603050405020304" pitchFamily="18" charset="0"/>
                <a:cs typeface="Times New Roman" panose="02020603050405020304" pitchFamily="18" charset="0"/>
              </a:rPr>
              <a:t>To evaluate the reliability of participating clients using an Adaptive Multi-Dimensional Trust Engine. </a:t>
            </a:r>
          </a:p>
          <a:p>
            <a:pPr lvl="0"/>
            <a:r>
              <a:rPr lang="en-IN" sz="2400" dirty="0">
                <a:solidFill>
                  <a:schemeClr val="tx1"/>
                </a:solidFill>
                <a:latin typeface="Times New Roman" panose="02020603050405020304" pitchFamily="18" charset="0"/>
                <a:cs typeface="Times New Roman" panose="02020603050405020304" pitchFamily="18" charset="0"/>
              </a:rPr>
              <a:t>To analyze client contributions using Gradient Consistency, Majority Similarity, Historical Reliability, Anomaly Score, Causal Reliability, and Behavioral Stability. </a:t>
            </a:r>
          </a:p>
          <a:p>
            <a:pPr lvl="0"/>
            <a:r>
              <a:rPr lang="en-IN" sz="2400" dirty="0">
                <a:solidFill>
                  <a:schemeClr val="tx1"/>
                </a:solidFill>
                <a:latin typeface="Times New Roman" panose="02020603050405020304" pitchFamily="18" charset="0"/>
                <a:cs typeface="Times New Roman" panose="02020603050405020304" pitchFamily="18" charset="0"/>
              </a:rPr>
              <a:t>To integrate causal reasoning for generating interpretable explanations of intrusion predictions. </a:t>
            </a:r>
          </a:p>
          <a:p>
            <a:pPr marL="0" marR="0" lvl="0" indent="0" defTabSz="914400" rtl="0" eaLnBrk="0" fontAlgn="base" latinLnBrk="0" hangingPunct="0">
              <a:lnSpc>
                <a:spcPct val="100000"/>
              </a:lnSpc>
              <a:spcBef>
                <a:spcPts val="120"/>
              </a:spcBef>
              <a:spcAft>
                <a:spcPct val="0"/>
              </a:spcAft>
              <a:buClr>
                <a:schemeClr val="tx1">
                  <a:lumMod val="95000"/>
                  <a:lumOff val="5000"/>
                </a:schemeClr>
              </a:buClr>
              <a:buSz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05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B4403-7131-7932-6AA4-DA305BA8A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0AFA6-FA2C-911B-1E35-31CCF57818E6}"/>
              </a:ext>
            </a:extLst>
          </p:cNvPr>
          <p:cNvSpPr>
            <a:spLocks noGrp="1"/>
          </p:cNvSpPr>
          <p:nvPr>
            <p:ph type="title"/>
          </p:nvPr>
        </p:nvSpPr>
        <p:spPr>
          <a:xfrm>
            <a:off x="1138570" y="220907"/>
            <a:ext cx="9914859" cy="431887"/>
          </a:xfrm>
        </p:spPr>
        <p:txBody>
          <a:bodyPr>
            <a:normAutofit fontScale="90000"/>
          </a:bodyPr>
          <a:lstStyle/>
          <a:p>
            <a:pPr algn="ctr"/>
            <a:r>
              <a:rPr lang="en-IN" dirty="0">
                <a:cs typeface="Times New Roman" panose="02020603050405020304" pitchFamily="18" charset="0"/>
              </a:rPr>
              <a:t>LITERATURE</a:t>
            </a:r>
            <a:r>
              <a:rPr lang="en-IN" dirty="0">
                <a:latin typeface="Times New Roman" panose="02020603050405020304" pitchFamily="18" charset="0"/>
                <a:cs typeface="Times New Roman" panose="02020603050405020304" pitchFamily="18" charset="0"/>
              </a:rPr>
              <a:t> </a:t>
            </a:r>
            <a:r>
              <a:rPr lang="en-IN" dirty="0">
                <a:cs typeface="Times New Roman" panose="02020603050405020304" pitchFamily="18" charset="0"/>
              </a:rPr>
              <a:t>REVIEW</a:t>
            </a:r>
          </a:p>
        </p:txBody>
      </p:sp>
      <p:sp>
        <p:nvSpPr>
          <p:cNvPr id="5" name="Rectangle 1">
            <a:extLst>
              <a:ext uri="{FF2B5EF4-FFF2-40B4-BE49-F238E27FC236}">
                <a16:creationId xmlns:a16="http://schemas.microsoft.com/office/drawing/2014/main" id="{40993ED7-B12B-50FB-777C-91BDD728D435}"/>
              </a:ext>
            </a:extLst>
          </p:cNvPr>
          <p:cNvSpPr>
            <a:spLocks noChangeArrowheads="1"/>
          </p:cNvSpPr>
          <p:nvPr/>
        </p:nvSpPr>
        <p:spPr bwMode="auto">
          <a:xfrm>
            <a:off x="-670335" y="-47717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A47FEE-293D-2A34-C364-A225C9B6D172}"/>
              </a:ext>
            </a:extLst>
          </p:cNvPr>
          <p:cNvSpPr txBox="1"/>
          <p:nvPr/>
        </p:nvSpPr>
        <p:spPr>
          <a:xfrm>
            <a:off x="2123768" y="1637071"/>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B3BA7F40-CE3F-276E-A910-A3F0643E22CF}"/>
              </a:ext>
            </a:extLst>
          </p:cNvPr>
          <p:cNvSpPr txBox="1"/>
          <p:nvPr/>
        </p:nvSpPr>
        <p:spPr>
          <a:xfrm>
            <a:off x="2064773" y="1150374"/>
            <a:ext cx="6061587" cy="2521974"/>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FE4AB4D4-816D-FD9C-6604-75F6F244D87D}"/>
              </a:ext>
            </a:extLst>
          </p:cNvPr>
          <p:cNvGraphicFramePr>
            <a:graphicFrameLocks noGrp="1"/>
          </p:cNvGraphicFramePr>
          <p:nvPr>
            <p:extLst>
              <p:ext uri="{D42A27DB-BD31-4B8C-83A1-F6EECF244321}">
                <p14:modId xmlns:p14="http://schemas.microsoft.com/office/powerpoint/2010/main" val="3567344846"/>
              </p:ext>
            </p:extLst>
          </p:nvPr>
        </p:nvGraphicFramePr>
        <p:xfrm>
          <a:off x="763119" y="1274154"/>
          <a:ext cx="10665759" cy="4808730"/>
        </p:xfrm>
        <a:graphic>
          <a:graphicData uri="http://schemas.openxmlformats.org/drawingml/2006/table">
            <a:tbl>
              <a:tblPr>
                <a:tableStyleId>{08FB837D-C827-4EFA-A057-4D05807E0F7C}</a:tableStyleId>
              </a:tblPr>
              <a:tblGrid>
                <a:gridCol w="491744">
                  <a:extLst>
                    <a:ext uri="{9D8B030D-6E8A-4147-A177-3AD203B41FA5}">
                      <a16:colId xmlns:a16="http://schemas.microsoft.com/office/drawing/2014/main" val="655153194"/>
                    </a:ext>
                  </a:extLst>
                </a:gridCol>
                <a:gridCol w="2786785">
                  <a:extLst>
                    <a:ext uri="{9D8B030D-6E8A-4147-A177-3AD203B41FA5}">
                      <a16:colId xmlns:a16="http://schemas.microsoft.com/office/drawing/2014/main" val="3589120109"/>
                    </a:ext>
                  </a:extLst>
                </a:gridCol>
                <a:gridCol w="1965960">
                  <a:extLst>
                    <a:ext uri="{9D8B030D-6E8A-4147-A177-3AD203B41FA5}">
                      <a16:colId xmlns:a16="http://schemas.microsoft.com/office/drawing/2014/main" val="3622799245"/>
                    </a:ext>
                  </a:extLst>
                </a:gridCol>
                <a:gridCol w="1836960">
                  <a:extLst>
                    <a:ext uri="{9D8B030D-6E8A-4147-A177-3AD203B41FA5}">
                      <a16:colId xmlns:a16="http://schemas.microsoft.com/office/drawing/2014/main" val="1006758752"/>
                    </a:ext>
                  </a:extLst>
                </a:gridCol>
                <a:gridCol w="1792155">
                  <a:extLst>
                    <a:ext uri="{9D8B030D-6E8A-4147-A177-3AD203B41FA5}">
                      <a16:colId xmlns:a16="http://schemas.microsoft.com/office/drawing/2014/main" val="1870277335"/>
                    </a:ext>
                  </a:extLst>
                </a:gridCol>
                <a:gridCol w="1792155">
                  <a:extLst>
                    <a:ext uri="{9D8B030D-6E8A-4147-A177-3AD203B41FA5}">
                      <a16:colId xmlns:a16="http://schemas.microsoft.com/office/drawing/2014/main" val="2698840309"/>
                    </a:ext>
                  </a:extLst>
                </a:gridCol>
              </a:tblGrid>
              <a:tr h="509233">
                <a:tc>
                  <a:txBody>
                    <a:bodyPr/>
                    <a:lstStyle/>
                    <a:p>
                      <a:pPr>
                        <a:buNone/>
                      </a:pPr>
                      <a:r>
                        <a:rPr lang="en-IN" dirty="0" err="1"/>
                        <a:t>S.No</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buNone/>
                      </a:pPr>
                      <a:r>
                        <a:rPr lang="en-IN"/>
                        <a:t>Paper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buNone/>
                      </a:pPr>
                      <a:r>
                        <a:rPr lang="en-IN"/>
                        <a:t>Author(s) &amp; Publication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buNone/>
                      </a:pPr>
                      <a:r>
                        <a:rPr lang="en-IN"/>
                        <a:t>Theme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buNone/>
                      </a:pPr>
                      <a:r>
                        <a:rPr lang="en-IN"/>
                        <a:t>Advantage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buNone/>
                      </a:pPr>
                      <a:r>
                        <a:rPr lang="en-IN"/>
                        <a:t>Disadvantage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345185515"/>
                  </a:ext>
                </a:extLst>
              </a:tr>
              <a:tr h="1030134">
                <a:tc>
                  <a:txBody>
                    <a:bodyPr/>
                    <a:lstStyle/>
                    <a:p>
                      <a:pPr>
                        <a:buNone/>
                      </a:pPr>
                      <a:r>
                        <a:rPr lang="en-IN" sz="1200"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Explainable Federated Learning through Causal Reasoning for Intrusion Detection in IoT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F. Asiri, Discover Internet of Things,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latin typeface="Times New Roman" panose="02020603050405020304" pitchFamily="18" charset="0"/>
                          <a:cs typeface="Times New Roman" panose="02020603050405020304" pitchFamily="18" charset="0"/>
                        </a:rPr>
                        <a:t>Causal Federated IDS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latin typeface="Times New Roman" panose="02020603050405020304" pitchFamily="18" charset="0"/>
                          <a:cs typeface="Times New Roman" panose="02020603050405020304" pitchFamily="18" charset="0"/>
                        </a:rPr>
                        <a:t>Provides privacy-preserving and explainable IoT intrusion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Robustness against advanced poisoning attacks requires further investigation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7787188"/>
                  </a:ext>
                </a:extLst>
              </a:tr>
              <a:tr h="1042416">
                <a:tc>
                  <a:txBody>
                    <a:bodyPr/>
                    <a:lstStyle/>
                    <a:p>
                      <a:pPr>
                        <a:buNone/>
                      </a:pPr>
                      <a:r>
                        <a:rPr lang="en-IN" sz="120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err="1">
                          <a:latin typeface="Times New Roman" panose="02020603050405020304" pitchFamily="18" charset="0"/>
                          <a:cs typeface="Times New Roman" panose="02020603050405020304" pitchFamily="18" charset="0"/>
                        </a:rPr>
                        <a:t>FLTrust</a:t>
                      </a:r>
                      <a:r>
                        <a:rPr lang="en-IN" sz="1200" dirty="0">
                          <a:latin typeface="Times New Roman" panose="02020603050405020304" pitchFamily="18" charset="0"/>
                          <a:cs typeface="Times New Roman" panose="02020603050405020304" pitchFamily="18" charset="0"/>
                        </a:rPr>
                        <a:t>: Byzantine-Robust Federated Learning via Trust Bootstrapping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Cao et al., NDSS,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Trust-based FL aggregation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latin typeface="Times New Roman" panose="02020603050405020304" pitchFamily="18" charset="0"/>
                          <a:cs typeface="Times New Roman" panose="02020603050405020304" pitchFamily="18" charset="0"/>
                        </a:rPr>
                        <a:t>Reduces influence of malicious client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latin typeface="Times New Roman" panose="02020603050405020304" pitchFamily="18" charset="0"/>
                          <a:cs typeface="Times New Roman" panose="02020603050405020304" pitchFamily="18" charset="0"/>
                        </a:rPr>
                        <a:t>Mainly focuses on model-update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299470"/>
                  </a:ext>
                </a:extLst>
              </a:tr>
              <a:tr h="1280160">
                <a:tc>
                  <a:txBody>
                    <a:bodyPr/>
                    <a:lstStyle/>
                    <a:p>
                      <a:pPr>
                        <a:buNone/>
                      </a:pPr>
                      <a:r>
                        <a:rPr lang="en-IN" sz="120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The Limitations of Federated Learning in Sybil Settings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Fung et al., RAID, 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Sybil-resistant FL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Uses client similarity to reduce coordinated malicious influence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Does not address causal explanations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250299"/>
                  </a:ext>
                </a:extLst>
              </a:tr>
              <a:tr h="815940">
                <a:tc>
                  <a:txBody>
                    <a:bodyPr/>
                    <a:lstStyle/>
                    <a:p>
                      <a:pPr>
                        <a:buNone/>
                      </a:pPr>
                      <a:r>
                        <a:rPr lang="en-IN" sz="1200">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Machine Learning with Adversaries: Byzantine Tolerant Gradient Descent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Blanchard et al., </a:t>
                      </a:r>
                      <a:r>
                        <a:rPr lang="en-IN" sz="1200" dirty="0" err="1">
                          <a:latin typeface="Times New Roman" panose="02020603050405020304" pitchFamily="18" charset="0"/>
                          <a:cs typeface="Times New Roman" panose="02020603050405020304" pitchFamily="18" charset="0"/>
                        </a:rPr>
                        <a:t>NeurIPS</a:t>
                      </a:r>
                      <a:r>
                        <a:rPr lang="en-IN" sz="1200" dirty="0">
                          <a:latin typeface="Times New Roman" panose="02020603050405020304" pitchFamily="18" charset="0"/>
                          <a:cs typeface="Times New Roman" panose="02020603050405020304" pitchFamily="18" charset="0"/>
                        </a:rPr>
                        <a:t>, 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Byzantine-robust aggregation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Provides robustness against Byzantine workers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latin typeface="Times New Roman" panose="02020603050405020304" pitchFamily="18" charset="0"/>
                          <a:cs typeface="Times New Roman" panose="02020603050405020304" pitchFamily="18" charset="0"/>
                        </a:rPr>
                        <a:t>Does not incorporate causal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5002027"/>
                  </a:ext>
                </a:extLst>
              </a:tr>
            </a:tbl>
          </a:graphicData>
        </a:graphic>
      </p:graphicFrame>
    </p:spTree>
    <p:extLst>
      <p:ext uri="{BB962C8B-B14F-4D97-AF65-F5344CB8AC3E}">
        <p14:creationId xmlns:p14="http://schemas.microsoft.com/office/powerpoint/2010/main" val="2730864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6CD2-4B3F-8CA4-D401-D1A206F54BE3}"/>
              </a:ext>
            </a:extLst>
          </p:cNvPr>
          <p:cNvSpPr>
            <a:spLocks noGrp="1"/>
          </p:cNvSpPr>
          <p:nvPr>
            <p:ph type="title"/>
          </p:nvPr>
        </p:nvSpPr>
        <p:spPr>
          <a:xfrm>
            <a:off x="519827" y="288916"/>
            <a:ext cx="9914859" cy="913012"/>
          </a:xfrm>
        </p:spPr>
        <p:txBody>
          <a:bodyPr/>
          <a:lstStyle/>
          <a:p>
            <a:r>
              <a:rPr lang="en-IN" dirty="0"/>
              <a:t>EXISTING SYSTEM</a:t>
            </a:r>
          </a:p>
        </p:txBody>
      </p:sp>
      <p:sp>
        <p:nvSpPr>
          <p:cNvPr id="8" name="TextBox 7">
            <a:extLst>
              <a:ext uri="{FF2B5EF4-FFF2-40B4-BE49-F238E27FC236}">
                <a16:creationId xmlns:a16="http://schemas.microsoft.com/office/drawing/2014/main" id="{CC803AD8-2528-53E4-9245-F700D0E6C731}"/>
              </a:ext>
            </a:extLst>
          </p:cNvPr>
          <p:cNvSpPr txBox="1"/>
          <p:nvPr/>
        </p:nvSpPr>
        <p:spPr>
          <a:xfrm>
            <a:off x="672084" y="3538904"/>
            <a:ext cx="9313163" cy="369332"/>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pic>
        <p:nvPicPr>
          <p:cNvPr id="14" name="Content Placeholder 13">
            <a:extLst>
              <a:ext uri="{FF2B5EF4-FFF2-40B4-BE49-F238E27FC236}">
                <a16:creationId xmlns:a16="http://schemas.microsoft.com/office/drawing/2014/main" id="{218B853C-B1FE-906D-F996-2BD806E6B6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36392" y="1168186"/>
            <a:ext cx="5138928" cy="5480099"/>
          </a:xfrm>
          <a:prstGeom prst="rect">
            <a:avLst/>
          </a:prstGeom>
        </p:spPr>
      </p:pic>
    </p:spTree>
    <p:extLst>
      <p:ext uri="{BB962C8B-B14F-4D97-AF65-F5344CB8AC3E}">
        <p14:creationId xmlns:p14="http://schemas.microsoft.com/office/powerpoint/2010/main" val="3622291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A919F-83B2-6A03-59E2-A77B97B83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DA7F9-6789-CB4A-C8BE-FE385AEC356C}"/>
              </a:ext>
            </a:extLst>
          </p:cNvPr>
          <p:cNvSpPr>
            <a:spLocks noGrp="1"/>
          </p:cNvSpPr>
          <p:nvPr>
            <p:ph type="title"/>
          </p:nvPr>
        </p:nvSpPr>
        <p:spPr>
          <a:xfrm>
            <a:off x="519827" y="288916"/>
            <a:ext cx="9914859" cy="913012"/>
          </a:xfrm>
        </p:spPr>
        <p:txBody>
          <a:bodyPr/>
          <a:lstStyle/>
          <a:p>
            <a:r>
              <a:rPr lang="en-IN" dirty="0"/>
              <a:t>EXISTING SYSTEM</a:t>
            </a:r>
          </a:p>
        </p:txBody>
      </p:sp>
      <p:sp>
        <p:nvSpPr>
          <p:cNvPr id="8" name="TextBox 7">
            <a:extLst>
              <a:ext uri="{FF2B5EF4-FFF2-40B4-BE49-F238E27FC236}">
                <a16:creationId xmlns:a16="http://schemas.microsoft.com/office/drawing/2014/main" id="{7C3D5788-4E6C-4EAC-3B06-F8D12EDF65C9}"/>
              </a:ext>
            </a:extLst>
          </p:cNvPr>
          <p:cNvSpPr txBox="1"/>
          <p:nvPr/>
        </p:nvSpPr>
        <p:spPr>
          <a:xfrm>
            <a:off x="672084" y="3538904"/>
            <a:ext cx="9313163" cy="369332"/>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B82B408-54C9-A79C-6F96-D64B1A4803F7}"/>
              </a:ext>
            </a:extLst>
          </p:cNvPr>
          <p:cNvSpPr>
            <a:spLocks noGrp="1"/>
          </p:cNvSpPr>
          <p:nvPr>
            <p:ph idx="1"/>
          </p:nvPr>
        </p:nvSpPr>
        <p:spPr>
          <a:xfrm>
            <a:off x="672084" y="1201928"/>
            <a:ext cx="9914860" cy="4123318"/>
          </a:xfrm>
        </p:spPr>
        <p:txBody>
          <a:bodyPr>
            <a:noAutofit/>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Federated Intrusion Detection</a:t>
            </a:r>
          </a:p>
          <a:p>
            <a:pPr lvl="0">
              <a:lnSpc>
                <a:spcPct val="100000"/>
              </a:lnSpc>
            </a:pPr>
            <a:r>
              <a:rPr lang="en-IN" dirty="0">
                <a:solidFill>
                  <a:schemeClr val="tx1"/>
                </a:solidFill>
                <a:latin typeface="Times New Roman" panose="02020603050405020304" pitchFamily="18" charset="0"/>
                <a:cs typeface="Times New Roman" panose="02020603050405020304" pitchFamily="18" charset="0"/>
              </a:rPr>
              <a:t>Multiple IoT clients train intrusion detection models locally. Clients send model updates to a central federated server. </a:t>
            </a:r>
          </a:p>
          <a:p>
            <a:pPr lvl="0">
              <a:lnSpc>
                <a:spcPct val="100000"/>
              </a:lnSpc>
            </a:pPr>
            <a:r>
              <a:rPr lang="en-IN" dirty="0">
                <a:solidFill>
                  <a:schemeClr val="tx1"/>
                </a:solidFill>
                <a:latin typeface="Times New Roman" panose="02020603050405020304" pitchFamily="18" charset="0"/>
                <a:cs typeface="Times New Roman" panose="02020603050405020304" pitchFamily="18" charset="0"/>
              </a:rPr>
              <a:t>The server aggregates client updates to create a global IDS model. Raw network data remains at the individual clients. </a:t>
            </a:r>
          </a:p>
          <a:p>
            <a:pPr marL="0" indent="0">
              <a:buNone/>
            </a:pPr>
            <a:r>
              <a:rPr lang="en-IN" b="1" dirty="0">
                <a:solidFill>
                  <a:schemeClr val="tx1"/>
                </a:solidFill>
                <a:latin typeface="Times New Roman" panose="02020603050405020304" pitchFamily="18" charset="0"/>
                <a:cs typeface="Times New Roman" panose="02020603050405020304" pitchFamily="18" charset="0"/>
              </a:rPr>
              <a:t>Causal Explainable Federated IDS</a:t>
            </a:r>
          </a:p>
          <a:p>
            <a:pPr lvl="0">
              <a:lnSpc>
                <a:spcPct val="100000"/>
              </a:lnSpc>
            </a:pPr>
            <a:r>
              <a:rPr lang="en-IN" dirty="0">
                <a:solidFill>
                  <a:schemeClr val="tx1"/>
                </a:solidFill>
                <a:latin typeface="Times New Roman" panose="02020603050405020304" pitchFamily="18" charset="0"/>
                <a:cs typeface="Times New Roman" panose="02020603050405020304" pitchFamily="18" charset="0"/>
              </a:rPr>
              <a:t>Clients perform local causal discovery. Causal information is represented using causal summaries. </a:t>
            </a:r>
          </a:p>
          <a:p>
            <a:pPr lvl="0">
              <a:lnSpc>
                <a:spcPct val="100000"/>
              </a:lnSpc>
            </a:pPr>
            <a:r>
              <a:rPr lang="en-IN" dirty="0">
                <a:solidFill>
                  <a:schemeClr val="tx1"/>
                </a:solidFill>
                <a:latin typeface="Times New Roman" panose="02020603050405020304" pitchFamily="18" charset="0"/>
                <a:cs typeface="Times New Roman" panose="02020603050405020304" pitchFamily="18" charset="0"/>
              </a:rPr>
              <a:t>The server aggregates causal information from multiple clients. A global causal graph is constructed for explainable intrusion detection. </a:t>
            </a:r>
          </a:p>
          <a:p>
            <a:pPr marL="0" indent="0">
              <a:buNone/>
            </a:pPr>
            <a:r>
              <a:rPr lang="en-IN" b="1" dirty="0">
                <a:solidFill>
                  <a:schemeClr val="tx1"/>
                </a:solidFill>
                <a:latin typeface="Times New Roman" panose="02020603050405020304" pitchFamily="18" charset="0"/>
                <a:cs typeface="Times New Roman" panose="02020603050405020304" pitchFamily="18" charset="0"/>
              </a:rPr>
              <a:t>Existing Limitation</a:t>
            </a:r>
          </a:p>
          <a:p>
            <a:pPr>
              <a:lnSpc>
                <a:spcPct val="100000"/>
              </a:lnSpc>
            </a:pPr>
            <a:r>
              <a:rPr lang="en-IN" dirty="0">
                <a:solidFill>
                  <a:schemeClr val="tx1"/>
                </a:solidFill>
                <a:latin typeface="Times New Roman" panose="02020603050405020304" pitchFamily="18" charset="0"/>
                <a:cs typeface="Times New Roman" panose="02020603050405020304" pitchFamily="18" charset="0"/>
              </a:rPr>
              <a:t>Client contributions require stronger investigation of reliability and robustness, particularly under unreliable or adversarial participation</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3396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D2E3-355A-42D7-8C67-D0AE7E6EFA49}"/>
              </a:ext>
            </a:extLst>
          </p:cNvPr>
          <p:cNvSpPr>
            <a:spLocks noGrp="1"/>
          </p:cNvSpPr>
          <p:nvPr>
            <p:ph type="title"/>
          </p:nvPr>
        </p:nvSpPr>
        <p:spPr>
          <a:xfrm>
            <a:off x="772160" y="374904"/>
            <a:ext cx="9448801" cy="599440"/>
          </a:xfrm>
        </p:spPr>
        <p:txBody>
          <a:bodyPr>
            <a:normAutofit fontScale="90000"/>
          </a:bodyPr>
          <a:lstStyle/>
          <a:p>
            <a:pPr algn="ctr"/>
            <a:r>
              <a:rPr lang="en-IN" dirty="0"/>
              <a:t>PROPOSED SYSTEM</a:t>
            </a:r>
          </a:p>
        </p:txBody>
      </p:sp>
      <p:sp>
        <p:nvSpPr>
          <p:cNvPr id="6" name="Rectangle 3">
            <a:extLst>
              <a:ext uri="{FF2B5EF4-FFF2-40B4-BE49-F238E27FC236}">
                <a16:creationId xmlns:a16="http://schemas.microsoft.com/office/drawing/2014/main" id="{8333C3B0-54D1-1B0D-3FCF-EC9891B63EE3}"/>
              </a:ext>
            </a:extLst>
          </p:cNvPr>
          <p:cNvSpPr>
            <a:spLocks noGrp="1" noChangeArrowheads="1"/>
          </p:cNvSpPr>
          <p:nvPr>
            <p:ph idx="1"/>
          </p:nvPr>
        </p:nvSpPr>
        <p:spPr bwMode="auto">
          <a:xfrm>
            <a:off x="599440" y="974344"/>
            <a:ext cx="10401808" cy="5582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solidFill>
                  <a:schemeClr val="tx1"/>
                </a:solidFill>
                <a:latin typeface="Times New Roman" panose="02020603050405020304" pitchFamily="18" charset="0"/>
                <a:cs typeface="Times New Roman" panose="02020603050405020304" pitchFamily="18" charset="0"/>
              </a:rPr>
              <a:t>The proposed system extends the existing explainable federated IDS by introducing an </a:t>
            </a:r>
            <a:r>
              <a:rPr lang="en-IN" b="1" dirty="0">
                <a:solidFill>
                  <a:schemeClr val="tx1"/>
                </a:solidFill>
                <a:latin typeface="Times New Roman" panose="02020603050405020304" pitchFamily="18" charset="0"/>
                <a:cs typeface="Times New Roman" panose="02020603050405020304" pitchFamily="18" charset="0"/>
              </a:rPr>
              <a:t>Adaptive Multi-Dimensional Trust Engine</a:t>
            </a:r>
            <a:r>
              <a:rPr lang="en-IN" dirty="0">
                <a:solidFill>
                  <a:schemeClr val="tx1"/>
                </a:solidFill>
                <a:latin typeface="Times New Roman" panose="02020603050405020304" pitchFamily="18" charset="0"/>
                <a:cs typeface="Times New Roman" panose="02020603050405020304" pitchFamily="18" charset="0"/>
              </a:rPr>
              <a:t>.</a:t>
            </a:r>
          </a:p>
          <a:p>
            <a:pPr marL="0" indent="0">
              <a:buNone/>
            </a:pPr>
            <a:r>
              <a:rPr lang="en-IN" b="1" dirty="0">
                <a:solidFill>
                  <a:schemeClr val="tx1"/>
                </a:solidFill>
                <a:latin typeface="Times New Roman" panose="02020603050405020304" pitchFamily="18" charset="0"/>
                <a:cs typeface="Times New Roman" panose="02020603050405020304" pitchFamily="18" charset="0"/>
              </a:rPr>
              <a:t>Key Features</a:t>
            </a:r>
          </a:p>
          <a:p>
            <a:pPr lvl="0"/>
            <a:r>
              <a:rPr lang="en-IN" b="1" dirty="0">
                <a:solidFill>
                  <a:schemeClr val="tx1"/>
                </a:solidFill>
                <a:latin typeface="Times New Roman" panose="02020603050405020304" pitchFamily="18" charset="0"/>
                <a:cs typeface="Times New Roman" panose="02020603050405020304" pitchFamily="18" charset="0"/>
              </a:rPr>
              <a:t>Federated IDS:</a:t>
            </a:r>
            <a:r>
              <a:rPr lang="en-IN" dirty="0">
                <a:solidFill>
                  <a:schemeClr val="tx1"/>
                </a:solidFill>
                <a:latin typeface="Times New Roman" panose="02020603050405020304" pitchFamily="18" charset="0"/>
                <a:cs typeface="Times New Roman" panose="02020603050405020304" pitchFamily="18" charset="0"/>
              </a:rPr>
              <a:t> Local training without sharing raw network data. </a:t>
            </a:r>
          </a:p>
          <a:p>
            <a:pPr lvl="0"/>
            <a:r>
              <a:rPr lang="en-IN" b="1" dirty="0">
                <a:solidFill>
                  <a:schemeClr val="tx1"/>
                </a:solidFill>
                <a:latin typeface="Times New Roman" panose="02020603050405020304" pitchFamily="18" charset="0"/>
                <a:cs typeface="Times New Roman" panose="02020603050405020304" pitchFamily="18" charset="0"/>
              </a:rPr>
              <a:t>Causal Discovery:</a:t>
            </a:r>
            <a:r>
              <a:rPr lang="en-IN" dirty="0">
                <a:solidFill>
                  <a:schemeClr val="tx1"/>
                </a:solidFill>
                <a:latin typeface="Times New Roman" panose="02020603050405020304" pitchFamily="18" charset="0"/>
                <a:cs typeface="Times New Roman" panose="02020603050405020304" pitchFamily="18" charset="0"/>
              </a:rPr>
              <a:t> Generates causal summaries from local client data. </a:t>
            </a:r>
          </a:p>
          <a:p>
            <a:pPr lvl="0"/>
            <a:r>
              <a:rPr lang="en-IN" b="1" dirty="0">
                <a:solidFill>
                  <a:schemeClr val="tx1"/>
                </a:solidFill>
                <a:latin typeface="Times New Roman" panose="02020603050405020304" pitchFamily="18" charset="0"/>
                <a:cs typeface="Times New Roman" panose="02020603050405020304" pitchFamily="18" charset="0"/>
              </a:rPr>
              <a:t>Adaptive Trust Engine:</a:t>
            </a:r>
            <a:r>
              <a:rPr lang="en-IN" dirty="0">
                <a:solidFill>
                  <a:schemeClr val="tx1"/>
                </a:solidFill>
                <a:latin typeface="Times New Roman" panose="02020603050405020304" pitchFamily="18" charset="0"/>
                <a:cs typeface="Times New Roman" panose="02020603050405020304" pitchFamily="18" charset="0"/>
              </a:rPr>
              <a:t> Evaluates the reliability of each client before aggregation. </a:t>
            </a:r>
          </a:p>
          <a:p>
            <a:pPr lvl="0"/>
            <a:r>
              <a:rPr lang="en-IN" b="1" dirty="0">
                <a:solidFill>
                  <a:schemeClr val="tx1"/>
                </a:solidFill>
                <a:latin typeface="Times New Roman" panose="02020603050405020304" pitchFamily="18" charset="0"/>
                <a:cs typeface="Times New Roman" panose="02020603050405020304" pitchFamily="18" charset="0"/>
              </a:rPr>
              <a:t>Multi-Dimensional Trust:</a:t>
            </a:r>
            <a:r>
              <a:rPr lang="en-IN" dirty="0">
                <a:solidFill>
                  <a:schemeClr val="tx1"/>
                </a:solidFill>
                <a:latin typeface="Times New Roman" panose="02020603050405020304" pitchFamily="18" charset="0"/>
                <a:cs typeface="Times New Roman" panose="02020603050405020304" pitchFamily="18" charset="0"/>
              </a:rPr>
              <a:t> Uses six trust parameters: </a:t>
            </a:r>
          </a:p>
          <a:p>
            <a:pPr marL="457200" lvl="1" indent="0">
              <a:buNone/>
            </a:pPr>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i</a:t>
            </a:r>
            <a:r>
              <a:rPr lang="en-IN" sz="2000" dirty="0">
                <a:solidFill>
                  <a:schemeClr val="tx1"/>
                </a:solidFill>
                <a:latin typeface="Times New Roman" panose="02020603050405020304" pitchFamily="18" charset="0"/>
                <a:cs typeface="Times New Roman" panose="02020603050405020304" pitchFamily="18" charset="0"/>
              </a:rPr>
              <a:t>)  Gradient Consistency                       iv) Anomaly Score </a:t>
            </a:r>
          </a:p>
          <a:p>
            <a:pPr marL="457200" lvl="1" indent="0">
              <a:buNone/>
            </a:pPr>
            <a:r>
              <a:rPr lang="en-IN" sz="2000" dirty="0">
                <a:solidFill>
                  <a:schemeClr val="tx1"/>
                </a:solidFill>
                <a:latin typeface="Times New Roman" panose="02020603050405020304" pitchFamily="18" charset="0"/>
                <a:cs typeface="Times New Roman" panose="02020603050405020304" pitchFamily="18" charset="0"/>
              </a:rPr>
              <a:t>	ii)  Causal Reliability                             v) Behavioral Stability </a:t>
            </a:r>
          </a:p>
          <a:p>
            <a:pPr marL="457200" lvl="1" indent="0">
              <a:buNone/>
            </a:pPr>
            <a:r>
              <a:rPr lang="en-IN" sz="2000" dirty="0">
                <a:solidFill>
                  <a:schemeClr val="tx1"/>
                </a:solidFill>
                <a:latin typeface="Times New Roman" panose="02020603050405020304" pitchFamily="18" charset="0"/>
                <a:cs typeface="Times New Roman" panose="02020603050405020304" pitchFamily="18" charset="0"/>
              </a:rPr>
              <a:t>	iii)  Majority Similarity                         vi) Historical Reliability </a:t>
            </a:r>
          </a:p>
          <a:p>
            <a:pPr marL="0" lvl="0" indent="0">
              <a:buNone/>
            </a:pPr>
            <a:r>
              <a:rPr lang="en-IN" b="1" dirty="0">
                <a:solidFill>
                  <a:schemeClr val="tx1"/>
                </a:solidFill>
                <a:latin typeface="Times New Roman" panose="02020603050405020304" pitchFamily="18" charset="0"/>
                <a:cs typeface="Times New Roman" panose="02020603050405020304" pitchFamily="18" charset="0"/>
              </a:rPr>
              <a:t>Trust-Based Model Aggregation:</a:t>
            </a:r>
            <a:r>
              <a:rPr lang="en-IN" dirty="0">
                <a:solidFill>
                  <a:schemeClr val="tx1"/>
                </a:solidFill>
                <a:latin typeface="Times New Roman" panose="02020603050405020304" pitchFamily="18" charset="0"/>
                <a:cs typeface="Times New Roman" panose="02020603050405020304" pitchFamily="18" charset="0"/>
              </a:rPr>
              <a:t> Controls the influence of client model updates. </a:t>
            </a:r>
          </a:p>
          <a:p>
            <a:pPr marL="0" lvl="0" indent="0">
              <a:buNone/>
            </a:pPr>
            <a:r>
              <a:rPr lang="en-IN" b="1" dirty="0">
                <a:solidFill>
                  <a:schemeClr val="tx1"/>
                </a:solidFill>
                <a:latin typeface="Times New Roman" panose="02020603050405020304" pitchFamily="18" charset="0"/>
                <a:cs typeface="Times New Roman" panose="02020603050405020304" pitchFamily="18" charset="0"/>
              </a:rPr>
              <a:t>Trust-Based Causal Aggregation:</a:t>
            </a:r>
            <a:r>
              <a:rPr lang="en-IN" dirty="0">
                <a:solidFill>
                  <a:schemeClr val="tx1"/>
                </a:solidFill>
                <a:latin typeface="Times New Roman" panose="02020603050405020304" pitchFamily="18" charset="0"/>
                <a:cs typeface="Times New Roman" panose="02020603050405020304" pitchFamily="18" charset="0"/>
              </a:rPr>
              <a:t> Controls the influence of client causal summaries.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4888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A9F9-C839-C617-68EA-24B36DF0F990}"/>
              </a:ext>
            </a:extLst>
          </p:cNvPr>
          <p:cNvSpPr>
            <a:spLocks noGrp="1"/>
          </p:cNvSpPr>
          <p:nvPr>
            <p:ph type="title"/>
          </p:nvPr>
        </p:nvSpPr>
        <p:spPr>
          <a:xfrm>
            <a:off x="165608" y="66412"/>
            <a:ext cx="11860784" cy="1085732"/>
          </a:xfrm>
        </p:spPr>
        <p:txBody>
          <a:bodyPr>
            <a:noAutofit/>
          </a:bodyPr>
          <a:lstStyle/>
          <a:p>
            <a:pPr algn="ctr"/>
            <a:r>
              <a:rPr lang="en-IN" sz="3400" dirty="0"/>
              <a:t>SYSTEM ARCHITECTURE</a:t>
            </a:r>
          </a:p>
        </p:txBody>
      </p:sp>
      <p:pic>
        <p:nvPicPr>
          <p:cNvPr id="4" name="Picture 3">
            <a:extLst>
              <a:ext uri="{FF2B5EF4-FFF2-40B4-BE49-F238E27FC236}">
                <a16:creationId xmlns:a16="http://schemas.microsoft.com/office/drawing/2014/main" id="{539C533A-4748-815F-B976-5043DFE824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3078" y="938784"/>
            <a:ext cx="6305844" cy="5762734"/>
          </a:xfrm>
          <a:prstGeom prst="rect">
            <a:avLst/>
          </a:prstGeom>
        </p:spPr>
      </p:pic>
    </p:spTree>
    <p:extLst>
      <p:ext uri="{BB962C8B-B14F-4D97-AF65-F5344CB8AC3E}">
        <p14:creationId xmlns:p14="http://schemas.microsoft.com/office/powerpoint/2010/main" val="3317961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49A22-5EC1-BBCC-2591-C4240153D630}"/>
              </a:ext>
            </a:extLst>
          </p:cNvPr>
          <p:cNvSpPr>
            <a:spLocks noGrp="1"/>
          </p:cNvSpPr>
          <p:nvPr>
            <p:ph type="title"/>
          </p:nvPr>
        </p:nvSpPr>
        <p:spPr>
          <a:xfrm>
            <a:off x="726256" y="216332"/>
            <a:ext cx="9914859" cy="990676"/>
          </a:xfrm>
        </p:spPr>
        <p:txBody>
          <a:bodyPr/>
          <a:lstStyle/>
          <a:p>
            <a:pPr algn="ctr"/>
            <a:r>
              <a:rPr lang="en-IN" dirty="0"/>
              <a:t>MODULES</a:t>
            </a:r>
          </a:p>
        </p:txBody>
      </p:sp>
      <p:sp>
        <p:nvSpPr>
          <p:cNvPr id="4" name="Content Placeholder 3">
            <a:extLst>
              <a:ext uri="{FF2B5EF4-FFF2-40B4-BE49-F238E27FC236}">
                <a16:creationId xmlns:a16="http://schemas.microsoft.com/office/drawing/2014/main" id="{E5540ACD-A117-BDF8-D9C8-7D7BCD5A74E4}"/>
              </a:ext>
            </a:extLst>
          </p:cNvPr>
          <p:cNvSpPr>
            <a:spLocks noGrp="1"/>
          </p:cNvSpPr>
          <p:nvPr>
            <p:ph idx="1"/>
          </p:nvPr>
        </p:nvSpPr>
        <p:spPr>
          <a:xfrm>
            <a:off x="528968" y="557898"/>
            <a:ext cx="10309433" cy="6083770"/>
          </a:xfrm>
        </p:spPr>
        <p:txBody>
          <a:bodyPr>
            <a:noAutofit/>
          </a:bodyPr>
          <a:lstStyle/>
          <a:p>
            <a:pPr marL="0" indent="0">
              <a:buNone/>
            </a:pPr>
            <a:endParaRPr lang="en-US" sz="1900" b="1" dirty="0">
              <a:solidFill>
                <a:schemeClr val="tx1"/>
              </a:solidFill>
              <a:latin typeface="Times New Roman" panose="02020603050405020304" pitchFamily="18" charset="0"/>
              <a:cs typeface="Times New Roman" panose="02020603050405020304" pitchFamily="18" charset="0"/>
            </a:endParaRPr>
          </a:p>
          <a:p>
            <a:pPr marL="0" indent="0">
              <a:buNone/>
            </a:pPr>
            <a:r>
              <a:rPr lang="en-IN" sz="1900" b="1" dirty="0">
                <a:solidFill>
                  <a:schemeClr val="tx1"/>
                </a:solidFill>
                <a:latin typeface="Times New Roman" panose="02020603050405020304" pitchFamily="18" charset="0"/>
                <a:cs typeface="Times New Roman" panose="02020603050405020304" pitchFamily="18" charset="0"/>
              </a:rPr>
              <a:t>1. Federated Client Module</a:t>
            </a:r>
          </a:p>
          <a:p>
            <a:pPr lvl="0"/>
            <a:r>
              <a:rPr lang="en-IN" sz="1900" dirty="0">
                <a:solidFill>
                  <a:schemeClr val="tx1"/>
                </a:solidFill>
                <a:latin typeface="Times New Roman" panose="02020603050405020304" pitchFamily="18" charset="0"/>
                <a:cs typeface="Times New Roman" panose="02020603050405020304" pitchFamily="18" charset="0"/>
              </a:rPr>
              <a:t>Divides the IoT intrusion dataset into multiple simulated clients. </a:t>
            </a:r>
          </a:p>
          <a:p>
            <a:pPr lvl="0"/>
            <a:r>
              <a:rPr lang="en-IN" sz="1900" dirty="0">
                <a:solidFill>
                  <a:schemeClr val="tx1"/>
                </a:solidFill>
                <a:latin typeface="Times New Roman" panose="02020603050405020304" pitchFamily="18" charset="0"/>
                <a:cs typeface="Times New Roman" panose="02020603050405020304" pitchFamily="18" charset="0"/>
              </a:rPr>
              <a:t>Performs local preprocessing and IDS model training. </a:t>
            </a:r>
          </a:p>
          <a:p>
            <a:pPr lvl="0"/>
            <a:r>
              <a:rPr lang="en-IN" sz="1900" dirty="0">
                <a:solidFill>
                  <a:schemeClr val="tx1"/>
                </a:solidFill>
                <a:latin typeface="Times New Roman" panose="02020603050405020304" pitchFamily="18" charset="0"/>
                <a:cs typeface="Times New Roman" panose="02020603050405020304" pitchFamily="18" charset="0"/>
              </a:rPr>
              <a:t>Keeps client data locally and Generates model updates for the federated server. </a:t>
            </a:r>
          </a:p>
          <a:p>
            <a:pPr marL="0" indent="0">
              <a:buNone/>
            </a:pPr>
            <a:r>
              <a:rPr lang="en-IN" sz="1900" b="1" dirty="0">
                <a:solidFill>
                  <a:schemeClr val="tx1"/>
                </a:solidFill>
                <a:latin typeface="Times New Roman" panose="02020603050405020304" pitchFamily="18" charset="0"/>
                <a:cs typeface="Times New Roman" panose="02020603050405020304" pitchFamily="18" charset="0"/>
              </a:rPr>
              <a:t>2. Local Causal Discovery Module</a:t>
            </a:r>
          </a:p>
          <a:p>
            <a:pPr lvl="0"/>
            <a:r>
              <a:rPr lang="en-IN" sz="1900" dirty="0">
                <a:solidFill>
                  <a:schemeClr val="tx1"/>
                </a:solidFill>
                <a:latin typeface="Times New Roman" panose="02020603050405020304" pitchFamily="18" charset="0"/>
                <a:cs typeface="Times New Roman" panose="02020603050405020304" pitchFamily="18" charset="0"/>
              </a:rPr>
              <a:t>Analyses relationships between network features and intrusion outcomes. Generates local causal information. </a:t>
            </a:r>
          </a:p>
          <a:p>
            <a:pPr lvl="0"/>
            <a:r>
              <a:rPr lang="en-IN" sz="1900" dirty="0">
                <a:solidFill>
                  <a:schemeClr val="tx1"/>
                </a:solidFill>
                <a:latin typeface="Times New Roman" panose="02020603050405020304" pitchFamily="18" charset="0"/>
                <a:cs typeface="Times New Roman" panose="02020603050405020304" pitchFamily="18" charset="0"/>
              </a:rPr>
              <a:t>Produces a compact causal summary. Sends the causal summary instead of raw local data. </a:t>
            </a:r>
          </a:p>
          <a:p>
            <a:pPr marL="0" indent="0">
              <a:buNone/>
            </a:pPr>
            <a:r>
              <a:rPr lang="en-IN" sz="1900" b="1" dirty="0">
                <a:solidFill>
                  <a:schemeClr val="tx1"/>
                </a:solidFill>
                <a:latin typeface="Times New Roman" panose="02020603050405020304" pitchFamily="18" charset="0"/>
                <a:cs typeface="Times New Roman" panose="02020603050405020304" pitchFamily="18" charset="0"/>
              </a:rPr>
              <a:t>3. Adaptive Trust Engine</a:t>
            </a:r>
          </a:p>
          <a:p>
            <a:pPr lvl="0"/>
            <a:r>
              <a:rPr lang="en-IN" sz="1900" dirty="0">
                <a:solidFill>
                  <a:schemeClr val="tx1"/>
                </a:solidFill>
                <a:latin typeface="Times New Roman" panose="02020603050405020304" pitchFamily="18" charset="0"/>
                <a:cs typeface="Times New Roman" panose="02020603050405020304" pitchFamily="18" charset="0"/>
              </a:rPr>
              <a:t>Evaluates client reliability during each federated round. </a:t>
            </a:r>
          </a:p>
          <a:p>
            <a:pPr lvl="0"/>
            <a:r>
              <a:rPr lang="en-IN" sz="1900" dirty="0">
                <a:solidFill>
                  <a:schemeClr val="tx1"/>
                </a:solidFill>
                <a:latin typeface="Times New Roman" panose="02020603050405020304" pitchFamily="18" charset="0"/>
                <a:cs typeface="Times New Roman" panose="02020603050405020304" pitchFamily="18" charset="0"/>
              </a:rPr>
              <a:t>Calculates six trust dimensions. Maintains client trust history across rounds. </a:t>
            </a:r>
          </a:p>
          <a:p>
            <a:pPr lvl="0"/>
            <a:r>
              <a:rPr lang="en-IN" sz="1900" dirty="0">
                <a:solidFill>
                  <a:schemeClr val="tx1"/>
                </a:solidFill>
                <a:latin typeface="Times New Roman" panose="02020603050405020304" pitchFamily="18" charset="0"/>
                <a:cs typeface="Times New Roman" panose="02020603050405020304" pitchFamily="18" charset="0"/>
              </a:rPr>
              <a:t>Generates an overall trust value for aggregation.</a:t>
            </a:r>
          </a:p>
        </p:txBody>
      </p:sp>
    </p:spTree>
    <p:extLst>
      <p:ext uri="{BB962C8B-B14F-4D97-AF65-F5344CB8AC3E}">
        <p14:creationId xmlns:p14="http://schemas.microsoft.com/office/powerpoint/2010/main" val="1284117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1991-1806-0C24-489A-55B9D8384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2B8A7-C655-1699-FB71-87EEC96F6CA4}"/>
              </a:ext>
            </a:extLst>
          </p:cNvPr>
          <p:cNvSpPr>
            <a:spLocks noGrp="1"/>
          </p:cNvSpPr>
          <p:nvPr>
            <p:ph type="title"/>
          </p:nvPr>
        </p:nvSpPr>
        <p:spPr>
          <a:xfrm>
            <a:off x="726256" y="0"/>
            <a:ext cx="9914859" cy="990676"/>
          </a:xfrm>
        </p:spPr>
        <p:txBody>
          <a:bodyPr/>
          <a:lstStyle/>
          <a:p>
            <a:pPr algn="ctr"/>
            <a:r>
              <a:rPr lang="en-IN" dirty="0"/>
              <a:t>MODULES</a:t>
            </a:r>
          </a:p>
        </p:txBody>
      </p:sp>
      <p:sp>
        <p:nvSpPr>
          <p:cNvPr id="4" name="Content Placeholder 3">
            <a:extLst>
              <a:ext uri="{FF2B5EF4-FFF2-40B4-BE49-F238E27FC236}">
                <a16:creationId xmlns:a16="http://schemas.microsoft.com/office/drawing/2014/main" id="{DE6FA74C-5ED7-6ED3-C974-F30F6B436D18}"/>
              </a:ext>
            </a:extLst>
          </p:cNvPr>
          <p:cNvSpPr>
            <a:spLocks noGrp="1"/>
          </p:cNvSpPr>
          <p:nvPr>
            <p:ph idx="1"/>
          </p:nvPr>
        </p:nvSpPr>
        <p:spPr>
          <a:xfrm>
            <a:off x="538115" y="838238"/>
            <a:ext cx="10288382" cy="5800306"/>
          </a:xfrm>
        </p:spPr>
        <p:txBody>
          <a:bodyPr>
            <a:noAutofit/>
          </a:bodyPr>
          <a:lstStyle/>
          <a:p>
            <a:pPr marL="0" indent="0">
              <a:buNone/>
            </a:pPr>
            <a:r>
              <a:rPr lang="en-IN" sz="1900" b="1" dirty="0">
                <a:solidFill>
                  <a:schemeClr val="tx1"/>
                </a:solidFill>
                <a:latin typeface="Times New Roman" panose="02020603050405020304" pitchFamily="18" charset="0"/>
                <a:cs typeface="Times New Roman" panose="02020603050405020304" pitchFamily="18" charset="0"/>
              </a:rPr>
              <a:t>4. Trust-Based Model Aggregation</a:t>
            </a:r>
          </a:p>
          <a:p>
            <a:pPr lvl="0"/>
            <a:r>
              <a:rPr lang="en-IN" sz="1900" dirty="0">
                <a:solidFill>
                  <a:schemeClr val="tx1"/>
                </a:solidFill>
                <a:latin typeface="Times New Roman" panose="02020603050405020304" pitchFamily="18" charset="0"/>
                <a:cs typeface="Times New Roman" panose="02020603050405020304" pitchFamily="18" charset="0"/>
              </a:rPr>
              <a:t>Receives model updates from participating clients. Uses client trust values to determine contribution weights. </a:t>
            </a:r>
          </a:p>
          <a:p>
            <a:pPr lvl="0"/>
            <a:r>
              <a:rPr lang="en-IN" sz="1900" dirty="0">
                <a:solidFill>
                  <a:schemeClr val="tx1"/>
                </a:solidFill>
                <a:latin typeface="Times New Roman" panose="02020603050405020304" pitchFamily="18" charset="0"/>
                <a:cs typeface="Times New Roman" panose="02020603050405020304" pitchFamily="18" charset="0"/>
              </a:rPr>
              <a:t>Reduces the influence of suspicious or unreliable updates. Generates the global IDS model. </a:t>
            </a:r>
          </a:p>
          <a:p>
            <a:pPr marL="0" indent="0">
              <a:buNone/>
            </a:pPr>
            <a:r>
              <a:rPr lang="en-IN" sz="1900" b="1" dirty="0">
                <a:solidFill>
                  <a:schemeClr val="tx1"/>
                </a:solidFill>
                <a:latin typeface="Times New Roman" panose="02020603050405020304" pitchFamily="18" charset="0"/>
                <a:cs typeface="Times New Roman" panose="02020603050405020304" pitchFamily="18" charset="0"/>
              </a:rPr>
              <a:t>5. Trust-Based Causal Aggregation</a:t>
            </a:r>
          </a:p>
          <a:p>
            <a:pPr lvl="0"/>
            <a:r>
              <a:rPr lang="en-IN" sz="1900" dirty="0">
                <a:solidFill>
                  <a:schemeClr val="tx1"/>
                </a:solidFill>
                <a:latin typeface="Times New Roman" panose="02020603050405020304" pitchFamily="18" charset="0"/>
                <a:cs typeface="Times New Roman" panose="02020603050405020304" pitchFamily="18" charset="0"/>
              </a:rPr>
              <a:t>Receives causal summaries from clients. Evaluates causal reliability along with overall client trust. </a:t>
            </a:r>
          </a:p>
          <a:p>
            <a:pPr lvl="0"/>
            <a:r>
              <a:rPr lang="en-IN" sz="1900" dirty="0">
                <a:solidFill>
                  <a:schemeClr val="tx1"/>
                </a:solidFill>
                <a:latin typeface="Times New Roman" panose="02020603050405020304" pitchFamily="18" charset="0"/>
                <a:cs typeface="Times New Roman" panose="02020603050405020304" pitchFamily="18" charset="0"/>
              </a:rPr>
              <a:t>Aggregates reliable causal information. </a:t>
            </a:r>
          </a:p>
          <a:p>
            <a:pPr lvl="0"/>
            <a:r>
              <a:rPr lang="en-IN" sz="1900" dirty="0">
                <a:solidFill>
                  <a:schemeClr val="tx1"/>
                </a:solidFill>
                <a:latin typeface="Times New Roman" panose="02020603050405020304" pitchFamily="18" charset="0"/>
                <a:cs typeface="Times New Roman" panose="02020603050405020304" pitchFamily="18" charset="0"/>
              </a:rPr>
              <a:t>Generates the global causal graph. </a:t>
            </a:r>
          </a:p>
          <a:p>
            <a:pPr marL="0" indent="0">
              <a:buNone/>
            </a:pPr>
            <a:r>
              <a:rPr lang="en-IN" sz="1900" b="1" dirty="0">
                <a:solidFill>
                  <a:schemeClr val="tx1"/>
                </a:solidFill>
                <a:latin typeface="Times New Roman" panose="02020603050405020304" pitchFamily="18" charset="0"/>
                <a:cs typeface="Times New Roman" panose="02020603050405020304" pitchFamily="18" charset="0"/>
              </a:rPr>
              <a:t>6. Explainable Intrusion Detection</a:t>
            </a:r>
          </a:p>
          <a:p>
            <a:pPr lvl="0"/>
            <a:r>
              <a:rPr lang="en-IN" sz="1900" dirty="0">
                <a:solidFill>
                  <a:schemeClr val="tx1"/>
                </a:solidFill>
                <a:latin typeface="Times New Roman" panose="02020603050405020304" pitchFamily="18" charset="0"/>
                <a:cs typeface="Times New Roman" panose="02020603050405020304" pitchFamily="18" charset="0"/>
              </a:rPr>
              <a:t>Uses the global IDS model to classify network activity. </a:t>
            </a:r>
          </a:p>
          <a:p>
            <a:pPr lvl="0"/>
            <a:r>
              <a:rPr lang="en-IN" sz="1900" dirty="0">
                <a:solidFill>
                  <a:schemeClr val="tx1"/>
                </a:solidFill>
                <a:latin typeface="Times New Roman" panose="02020603050405020304" pitchFamily="18" charset="0"/>
                <a:cs typeface="Times New Roman" panose="02020603050405020304" pitchFamily="18" charset="0"/>
              </a:rPr>
              <a:t>Uses the global causal graph to support interpretation and Provides an explanation for detected intrusion patterns. </a:t>
            </a:r>
          </a:p>
          <a:p>
            <a:pPr lvl="0"/>
            <a:r>
              <a:rPr lang="en-IN" sz="1900" dirty="0">
                <a:solidFill>
                  <a:schemeClr val="tx1"/>
                </a:solidFill>
                <a:latin typeface="Times New Roman" panose="02020603050405020304" pitchFamily="18" charset="0"/>
                <a:cs typeface="Times New Roman" panose="02020603050405020304" pitchFamily="18" charset="0"/>
              </a:rPr>
              <a:t>Enables analysis of the factors contributing to the prediction.</a:t>
            </a:r>
          </a:p>
        </p:txBody>
      </p:sp>
    </p:spTree>
    <p:extLst>
      <p:ext uri="{BB962C8B-B14F-4D97-AF65-F5344CB8AC3E}">
        <p14:creationId xmlns:p14="http://schemas.microsoft.com/office/powerpoint/2010/main" val="225845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60BB1-2A06-F994-C893-3B8BB5328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9705D-689B-A00E-4D09-08471A83A9CE}"/>
              </a:ext>
            </a:extLst>
          </p:cNvPr>
          <p:cNvSpPr>
            <a:spLocks noGrp="1"/>
          </p:cNvSpPr>
          <p:nvPr>
            <p:ph type="title"/>
          </p:nvPr>
        </p:nvSpPr>
        <p:spPr>
          <a:xfrm>
            <a:off x="1138570" y="176745"/>
            <a:ext cx="9914859" cy="1329004"/>
          </a:xfrm>
        </p:spPr>
        <p:txBody>
          <a:bodyPr/>
          <a:lstStyle/>
          <a:p>
            <a:pPr algn="ctr"/>
            <a:r>
              <a:rPr lang="en-IN" dirty="0"/>
              <a:t>REFERENCES</a:t>
            </a:r>
          </a:p>
        </p:txBody>
      </p:sp>
      <p:sp>
        <p:nvSpPr>
          <p:cNvPr id="3" name="Content Placeholder 2">
            <a:extLst>
              <a:ext uri="{FF2B5EF4-FFF2-40B4-BE49-F238E27FC236}">
                <a16:creationId xmlns:a16="http://schemas.microsoft.com/office/drawing/2014/main" id="{7932B296-4FF2-47E1-FD74-D215475C6F95}"/>
              </a:ext>
            </a:extLst>
          </p:cNvPr>
          <p:cNvSpPr>
            <a:spLocks noGrp="1"/>
          </p:cNvSpPr>
          <p:nvPr>
            <p:ph idx="1"/>
          </p:nvPr>
        </p:nvSpPr>
        <p:spPr>
          <a:xfrm>
            <a:off x="822960" y="1505749"/>
            <a:ext cx="10917936" cy="4919756"/>
          </a:xfrm>
        </p:spPr>
        <p:txBody>
          <a:bodyPr>
            <a:noAutofit/>
          </a:bodyPr>
          <a:lstStyle/>
          <a:p>
            <a:pPr marL="0" indent="0">
              <a:lnSpc>
                <a:spcPct val="150000"/>
              </a:lnSpc>
              <a:buNone/>
            </a:pPr>
            <a:r>
              <a:rPr lang="en-IN" sz="1800" b="1" dirty="0">
                <a:solidFill>
                  <a:schemeClr val="tx1"/>
                </a:solidFill>
                <a:latin typeface="Times New Roman" panose="02020603050405020304" pitchFamily="18" charset="0"/>
                <a:cs typeface="Times New Roman" panose="02020603050405020304" pitchFamily="18" charset="0"/>
              </a:rPr>
              <a:t>[1]</a:t>
            </a:r>
            <a:r>
              <a:rPr lang="en-IN" sz="1800" dirty="0">
                <a:solidFill>
                  <a:schemeClr val="tx1"/>
                </a:solidFill>
                <a:latin typeface="Times New Roman" panose="02020603050405020304" pitchFamily="18" charset="0"/>
                <a:cs typeface="Times New Roman" panose="02020603050405020304" pitchFamily="18" charset="0"/>
              </a:rPr>
              <a:t> F. Asiri, “Explainable federated learning through causal reasoning for intrusion detection in IoT,” </a:t>
            </a:r>
            <a:r>
              <a:rPr lang="en-IN" sz="1800" i="1" dirty="0">
                <a:solidFill>
                  <a:schemeClr val="tx1"/>
                </a:solidFill>
                <a:latin typeface="Times New Roman" panose="02020603050405020304" pitchFamily="18" charset="0"/>
                <a:cs typeface="Times New Roman" panose="02020603050405020304" pitchFamily="18" charset="0"/>
              </a:rPr>
              <a:t>Discover Internet of Things</a:t>
            </a:r>
            <a:r>
              <a:rPr lang="en-IN" sz="1800" dirty="0">
                <a:solidFill>
                  <a:schemeClr val="tx1"/>
                </a:solidFill>
                <a:latin typeface="Times New Roman" panose="02020603050405020304" pitchFamily="18" charset="0"/>
                <a:cs typeface="Times New Roman" panose="02020603050405020304" pitchFamily="18" charset="0"/>
              </a:rPr>
              <a:t>, vol. 6, Art. no. 23, 2026.</a:t>
            </a:r>
          </a:p>
          <a:p>
            <a:pPr marL="0" indent="0">
              <a:lnSpc>
                <a:spcPct val="150000"/>
              </a:lnSpc>
              <a:buNone/>
            </a:pPr>
            <a:r>
              <a:rPr lang="en-IN" sz="1800" b="1" dirty="0">
                <a:solidFill>
                  <a:schemeClr val="tx1"/>
                </a:solidFill>
                <a:latin typeface="Times New Roman" panose="02020603050405020304" pitchFamily="18" charset="0"/>
                <a:cs typeface="Times New Roman" panose="02020603050405020304" pitchFamily="18" charset="0"/>
              </a:rPr>
              <a:t>[2]</a:t>
            </a:r>
            <a:r>
              <a:rPr lang="en-IN" sz="1800" dirty="0">
                <a:solidFill>
                  <a:schemeClr val="tx1"/>
                </a:solidFill>
                <a:latin typeface="Times New Roman" panose="02020603050405020304" pitchFamily="18" charset="0"/>
                <a:cs typeface="Times New Roman" panose="02020603050405020304" pitchFamily="18" charset="0"/>
              </a:rPr>
              <a:t> Y. Xiao, “Adaptive trust evaluation and representation-based robust aggregation against poisoning attacks in federated learning,” </a:t>
            </a:r>
            <a:r>
              <a:rPr lang="en-IN" sz="1800" i="1" dirty="0">
                <a:solidFill>
                  <a:schemeClr val="tx1"/>
                </a:solidFill>
                <a:latin typeface="Times New Roman" panose="02020603050405020304" pitchFamily="18" charset="0"/>
                <a:cs typeface="Times New Roman" panose="02020603050405020304" pitchFamily="18" charset="0"/>
              </a:rPr>
              <a:t>Scientific Reports</a:t>
            </a:r>
            <a:r>
              <a:rPr lang="en-IN" sz="1800" dirty="0">
                <a:solidFill>
                  <a:schemeClr val="tx1"/>
                </a:solidFill>
                <a:latin typeface="Times New Roman" panose="02020603050405020304" pitchFamily="18" charset="0"/>
                <a:cs typeface="Times New Roman" panose="02020603050405020304" pitchFamily="18" charset="0"/>
              </a:rPr>
              <a:t>, vol. 16, Art. no. 19800, 2026.</a:t>
            </a:r>
          </a:p>
          <a:p>
            <a:pPr marL="0" indent="0">
              <a:lnSpc>
                <a:spcPct val="150000"/>
              </a:lnSpc>
              <a:buNone/>
            </a:pPr>
            <a:r>
              <a:rPr lang="en-IN" sz="1800" b="1" dirty="0">
                <a:solidFill>
                  <a:schemeClr val="tx1"/>
                </a:solidFill>
                <a:latin typeface="Times New Roman" panose="02020603050405020304" pitchFamily="18" charset="0"/>
                <a:cs typeface="Times New Roman" panose="02020603050405020304" pitchFamily="18" charset="0"/>
              </a:rPr>
              <a:t>[3]</a:t>
            </a:r>
            <a:r>
              <a:rPr lang="en-IN" sz="1800" dirty="0">
                <a:solidFill>
                  <a:schemeClr val="tx1"/>
                </a:solidFill>
                <a:latin typeface="Times New Roman" panose="02020603050405020304" pitchFamily="18" charset="0"/>
                <a:cs typeface="Times New Roman" panose="02020603050405020304" pitchFamily="18" charset="0"/>
              </a:rPr>
              <a:t> D. Javeed, M. S. Saeed, M. Adil, P. Kumar, and A. </a:t>
            </a:r>
            <a:r>
              <a:rPr lang="en-IN" sz="1800" dirty="0" err="1">
                <a:solidFill>
                  <a:schemeClr val="tx1"/>
                </a:solidFill>
                <a:latin typeface="Times New Roman" panose="02020603050405020304" pitchFamily="18" charset="0"/>
                <a:cs typeface="Times New Roman" panose="02020603050405020304" pitchFamily="18" charset="0"/>
              </a:rPr>
              <a:t>Jolfaei</a:t>
            </a:r>
            <a:r>
              <a:rPr lang="en-IN" sz="1800" dirty="0">
                <a:solidFill>
                  <a:schemeClr val="tx1"/>
                </a:solidFill>
                <a:latin typeface="Times New Roman" panose="02020603050405020304" pitchFamily="18" charset="0"/>
                <a:cs typeface="Times New Roman" panose="02020603050405020304" pitchFamily="18" charset="0"/>
              </a:rPr>
              <a:t>, “A federated learning-based zero trust intrusion detection system for Internet of Things,” </a:t>
            </a:r>
            <a:r>
              <a:rPr lang="en-IN" sz="1800" i="1" dirty="0">
                <a:solidFill>
                  <a:schemeClr val="tx1"/>
                </a:solidFill>
                <a:latin typeface="Times New Roman" panose="02020603050405020304" pitchFamily="18" charset="0"/>
                <a:cs typeface="Times New Roman" panose="02020603050405020304" pitchFamily="18" charset="0"/>
              </a:rPr>
              <a:t>Ad Hoc Networks</a:t>
            </a:r>
            <a:r>
              <a:rPr lang="en-IN" sz="1800" dirty="0">
                <a:solidFill>
                  <a:schemeClr val="tx1"/>
                </a:solidFill>
                <a:latin typeface="Times New Roman" panose="02020603050405020304" pitchFamily="18" charset="0"/>
                <a:cs typeface="Times New Roman" panose="02020603050405020304" pitchFamily="18" charset="0"/>
              </a:rPr>
              <a:t>, vol. 162, Art. no. 103540, 2024.</a:t>
            </a:r>
          </a:p>
          <a:p>
            <a:pPr marL="0" indent="0">
              <a:lnSpc>
                <a:spcPct val="150000"/>
              </a:lnSpc>
              <a:buNone/>
            </a:pPr>
            <a:r>
              <a:rPr lang="en-IN" sz="1800" b="1" dirty="0">
                <a:solidFill>
                  <a:schemeClr val="tx1"/>
                </a:solidFill>
                <a:latin typeface="Times New Roman" panose="02020603050405020304" pitchFamily="18" charset="0"/>
                <a:cs typeface="Times New Roman" panose="02020603050405020304" pitchFamily="18" charset="0"/>
              </a:rPr>
              <a:t>[4]</a:t>
            </a:r>
            <a:r>
              <a:rPr lang="en-IN" sz="1800" dirty="0">
                <a:solidFill>
                  <a:schemeClr val="tx1"/>
                </a:solidFill>
                <a:latin typeface="Times New Roman" panose="02020603050405020304" pitchFamily="18" charset="0"/>
                <a:cs typeface="Times New Roman" panose="02020603050405020304" pitchFamily="18" charset="0"/>
              </a:rPr>
              <a:t> T. T. Thein, Y. Shiraishi, and M. Morii, “Personalized federated learning-based intrusion detection system: Poisoning attack and </a:t>
            </a:r>
            <a:r>
              <a:rPr lang="en-IN" sz="1800" dirty="0" err="1">
                <a:solidFill>
                  <a:schemeClr val="tx1"/>
                </a:solidFill>
                <a:latin typeface="Times New Roman" panose="02020603050405020304" pitchFamily="18" charset="0"/>
                <a:cs typeface="Times New Roman" panose="02020603050405020304" pitchFamily="18" charset="0"/>
              </a:rPr>
              <a:t>defense</a:t>
            </a:r>
            <a:r>
              <a:rPr lang="en-IN" sz="1800" dirty="0">
                <a:solidFill>
                  <a:schemeClr val="tx1"/>
                </a:solidFill>
                <a:latin typeface="Times New Roman" panose="02020603050405020304" pitchFamily="18" charset="0"/>
                <a:cs typeface="Times New Roman" panose="02020603050405020304" pitchFamily="18" charset="0"/>
              </a:rPr>
              <a:t>,” </a:t>
            </a:r>
            <a:r>
              <a:rPr lang="en-IN" sz="1800" i="1" dirty="0">
                <a:solidFill>
                  <a:schemeClr val="tx1"/>
                </a:solidFill>
                <a:latin typeface="Times New Roman" panose="02020603050405020304" pitchFamily="18" charset="0"/>
                <a:cs typeface="Times New Roman" panose="02020603050405020304" pitchFamily="18" charset="0"/>
              </a:rPr>
              <a:t>Future Generation Computer Systems</a:t>
            </a:r>
            <a:r>
              <a:rPr lang="en-IN" sz="1800" dirty="0">
                <a:solidFill>
                  <a:schemeClr val="tx1"/>
                </a:solidFill>
                <a:latin typeface="Times New Roman" panose="02020603050405020304" pitchFamily="18" charset="0"/>
                <a:cs typeface="Times New Roman" panose="02020603050405020304" pitchFamily="18" charset="0"/>
              </a:rPr>
              <a:t>, vol. 153, pp. 182–192, 2024.</a:t>
            </a:r>
          </a:p>
          <a:p>
            <a:pPr marL="0" indent="0">
              <a:lnSpc>
                <a:spcPct val="150000"/>
              </a:lnSpc>
              <a:buNone/>
            </a:pPr>
            <a:r>
              <a:rPr lang="en-IN" sz="1800" b="1" dirty="0">
                <a:solidFill>
                  <a:schemeClr val="tx1"/>
                </a:solidFill>
                <a:latin typeface="Times New Roman" panose="02020603050405020304" pitchFamily="18" charset="0"/>
                <a:cs typeface="Times New Roman" panose="02020603050405020304" pitchFamily="18" charset="0"/>
              </a:rPr>
              <a:t>[5]</a:t>
            </a:r>
            <a:r>
              <a:rPr lang="en-IN" sz="1800" dirty="0">
                <a:solidFill>
                  <a:schemeClr val="tx1"/>
                </a:solidFill>
                <a:latin typeface="Times New Roman" panose="02020603050405020304" pitchFamily="18" charset="0"/>
                <a:cs typeface="Times New Roman" panose="02020603050405020304" pitchFamily="18" charset="0"/>
              </a:rPr>
              <a:t> P. Ruzafa-Alcazar </a:t>
            </a:r>
            <a:r>
              <a:rPr lang="en-IN" sz="1800" i="1" dirty="0">
                <a:solidFill>
                  <a:schemeClr val="tx1"/>
                </a:solidFill>
                <a:latin typeface="Times New Roman" panose="02020603050405020304" pitchFamily="18" charset="0"/>
                <a:cs typeface="Times New Roman" panose="02020603050405020304" pitchFamily="18" charset="0"/>
              </a:rPr>
              <a:t>et al.</a:t>
            </a:r>
            <a:r>
              <a:rPr lang="en-IN" sz="1800" dirty="0">
                <a:solidFill>
                  <a:schemeClr val="tx1"/>
                </a:solidFill>
                <a:latin typeface="Times New Roman" panose="02020603050405020304" pitchFamily="18" charset="0"/>
                <a:cs typeface="Times New Roman" panose="02020603050405020304" pitchFamily="18" charset="0"/>
              </a:rPr>
              <a:t>, “Intrusion detection based on privacy-preserving federated learning for the industrial IoT,” </a:t>
            </a:r>
            <a:r>
              <a:rPr lang="en-IN" sz="1800" i="1" dirty="0">
                <a:solidFill>
                  <a:schemeClr val="tx1"/>
                </a:solidFill>
                <a:latin typeface="Times New Roman" panose="02020603050405020304" pitchFamily="18" charset="0"/>
                <a:cs typeface="Times New Roman" panose="02020603050405020304" pitchFamily="18" charset="0"/>
              </a:rPr>
              <a:t>IEEE Transactions on Industrial Informatics</a:t>
            </a:r>
            <a:r>
              <a:rPr lang="en-IN" sz="1800" dirty="0">
                <a:solidFill>
                  <a:schemeClr val="tx1"/>
                </a:solidFill>
                <a:latin typeface="Times New Roman" panose="02020603050405020304" pitchFamily="18" charset="0"/>
                <a:cs typeface="Times New Roman" panose="02020603050405020304" pitchFamily="18" charset="0"/>
              </a:rPr>
              <a:t>, 2023.</a:t>
            </a:r>
          </a:p>
        </p:txBody>
      </p:sp>
    </p:spTree>
    <p:extLst>
      <p:ext uri="{BB962C8B-B14F-4D97-AF65-F5344CB8AC3E}">
        <p14:creationId xmlns:p14="http://schemas.microsoft.com/office/powerpoint/2010/main" val="2674143807"/>
      </p:ext>
    </p:extLst>
  </p:cSld>
  <p:clrMapOvr>
    <a:masterClrMapping/>
  </p:clrMapOvr>
</p:sld>
</file>

<file path=ppt/theme/theme1.xml><?xml version="1.0" encoding="utf-8"?>
<a:theme xmlns:a="http://schemas.openxmlformats.org/drawingml/2006/main" name="ModOverlayVTI">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1345</TotalTime>
  <Words>1279</Words>
  <Application>Microsoft Office PowerPoint</Application>
  <PresentationFormat>Widescreen</PresentationFormat>
  <Paragraphs>135</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Nova Light</vt:lpstr>
      <vt:lpstr>Calibri</vt:lpstr>
      <vt:lpstr>Elephant</vt:lpstr>
      <vt:lpstr>Times New Roman</vt:lpstr>
      <vt:lpstr>Wingdings</vt:lpstr>
      <vt:lpstr>ModOverlayVTI</vt:lpstr>
      <vt:lpstr>  Adaptive Multi-Dimensional Trust-Based Federated Learning Framework for Explainable IoT Intrusion Detection </vt:lpstr>
      <vt:lpstr>AGENDA</vt:lpstr>
      <vt:lpstr>ABSTRACT</vt:lpstr>
      <vt:lpstr>INTRODUCTION </vt:lpstr>
      <vt:lpstr>INTRODUCTION </vt:lpstr>
      <vt:lpstr>OBJECTIVES</vt:lpstr>
      <vt:lpstr>LITERATURE REVIEW</vt:lpstr>
      <vt:lpstr>EXISTING SYSTEM</vt:lpstr>
      <vt:lpstr>EXISTING SYSTEM</vt:lpstr>
      <vt:lpstr>PROPOSED SYSTEM</vt:lpstr>
      <vt:lpstr>SYSTEM ARCHITECTURE</vt:lpstr>
      <vt:lpstr>MODULES</vt:lpstr>
      <vt:lpstr>MODULES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Karthik</dc:title>
  <dc:creator>Karthik mohan</dc:creator>
  <cp:lastModifiedBy>Thirumurugan T</cp:lastModifiedBy>
  <cp:revision>23</cp:revision>
  <dcterms:created xsi:type="dcterms:W3CDTF">2025-07-01T09:44:00Z</dcterms:created>
  <dcterms:modified xsi:type="dcterms:W3CDTF">2026-09-22T11:31:14Z</dcterms:modified>
</cp:coreProperties>
</file>